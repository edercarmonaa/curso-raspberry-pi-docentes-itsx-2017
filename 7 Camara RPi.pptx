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1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D595D-6ADA-47EC-8AFF-E42DEE086B53}" type="datetimeFigureOut">
              <a:rPr lang="es-MX" smtClean="0"/>
              <a:pPr/>
              <a:t>04/10/2017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BB111-9DC4-4281-85E0-A3EAC63B8C2D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786046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6A91E-C94D-49A9-9B2B-E0C2416869C8}" type="datetimeFigureOut">
              <a:rPr lang="es-MX" smtClean="0"/>
              <a:pPr/>
              <a:t>04/10/2017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57BBA-5D9E-49F1-9D08-ED51D95EEB3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554694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1819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057BBA-5D9E-49F1-9D08-ED51D95EEB31}" type="slidenum">
              <a:rPr lang="es-MX" smtClean="0"/>
              <a:pPr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731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9E36A-411C-47D8-ACCE-3C164CD9D6AA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4242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0AD3-9CA8-416C-A5B1-ED9046883CFE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1561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96DF2-A570-4A38-BB2D-BC3C65B33F9B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628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55884-5635-4B1E-A887-34B4E794DA22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650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F442-030F-459C-9563-0116AD35CEFF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175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11F3-FCC4-4DE7-B673-A5E2117FFF23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446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FDF76-F74B-498A-8DC5-EE25277D9DA4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714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60DA-2C31-4493-A7ED-6E75817DA356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275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57F4F-5B61-4FA5-A365-99ABB13024F5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5328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864D-821F-42FA-835B-45DC17C68805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2613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9A792-0025-4CF2-8934-47BE6364F86A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79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31552-5C4C-415B-872B-81200BCFD054}" type="datetime1">
              <a:rPr lang="es-MX" smtClean="0"/>
              <a:pPr/>
              <a:t>04/10/2017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436AF-5312-4EEF-92FF-CDEF81EDE116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46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A7FA9133-ACFE-4DD5-9EEB-90E0F3C4BA5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13" y="1265168"/>
            <a:ext cx="1436458" cy="1656000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724413" y="2921168"/>
            <a:ext cx="75985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000" b="1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sz="6000" b="1" dirty="0" smtClean="0">
                <a:latin typeface="Roboto" panose="02000000000000000000" pitchFamily="2" charset="0"/>
                <a:ea typeface="Roboto" panose="02000000000000000000" pitchFamily="2" charset="0"/>
              </a:rPr>
              <a:t> Pi</a:t>
            </a:r>
            <a:endParaRPr lang="es-MX" sz="60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724413" y="3786505"/>
            <a:ext cx="11265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4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Módulo de Cámara</a:t>
            </a:r>
            <a:endParaRPr lang="es-MX" sz="44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4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Habilitar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2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38648"/>
            <a:ext cx="117811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Para habilitar el Uso de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la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cámara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en nuestra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Raspebrry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es necesario realizar los siguientes pasos: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Ingresar a </a:t>
            </a:r>
            <a:r>
              <a:rPr lang="es-MX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raspi-config</a:t>
            </a:r>
            <a:endParaRPr lang="es-MX" dirty="0" smtClean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Seleccionamos la opción “5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Interfacing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options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”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Seleccionamos la opción “P1 Camera”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Nos preguntara si queremos habilitar la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cámara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y responderemos que si.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Nos confirma que ha sido habilitado  el uso de la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cámara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y salimos de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raspi-config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Reiniciamos nuestra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Raspberry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Pi.</a:t>
            </a:r>
          </a:p>
        </p:txBody>
      </p:sp>
    </p:spTree>
    <p:extLst>
      <p:ext uri="{BB962C8B-B14F-4D97-AF65-F5344CB8AC3E}">
        <p14:creationId xmlns:p14="http://schemas.microsoft.com/office/powerpoint/2010/main" val="353771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98519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Librerías y/o Paquetes Necesarios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8D35414-4F73-4E89-BC96-E839B0674585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3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273465" y="1738648"/>
            <a:ext cx="117811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Para codificar video capturado desde la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cámara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es necesario instalar el paquete 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gpac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sudo </a:t>
            </a:r>
            <a:r>
              <a:rPr lang="es-MX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apt-get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install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gpac</a:t>
            </a:r>
            <a:endParaRPr lang="es-MX" dirty="0" smtClean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Para poder hacer uso de la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camara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desde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python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necesitamos  instalara las siguientes </a:t>
            </a:r>
            <a:r>
              <a:rPr lang="es-MX" dirty="0" err="1" smtClean="0">
                <a:latin typeface="Roboto" panose="02000000000000000000" pitchFamily="2" charset="0"/>
                <a:ea typeface="Roboto" panose="02000000000000000000" pitchFamily="2" charset="0"/>
              </a:rPr>
              <a:t>librerias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just"/>
            <a:r>
              <a:rPr lang="es-MX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sudo </a:t>
            </a:r>
            <a:r>
              <a:rPr lang="es-MX" dirty="0" err="1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apt-get</a:t>
            </a:r>
            <a:r>
              <a:rPr lang="es-MX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 </a:t>
            </a:r>
            <a:r>
              <a:rPr lang="es-MX" dirty="0" err="1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install</a:t>
            </a:r>
            <a:r>
              <a:rPr lang="es-MX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 </a:t>
            </a:r>
            <a:r>
              <a:rPr lang="es-MX" dirty="0" err="1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python-picamera</a:t>
            </a:r>
            <a:r>
              <a:rPr lang="es-MX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 python3-picamera</a:t>
            </a:r>
          </a:p>
          <a:p>
            <a:pPr algn="just"/>
            <a:endParaRPr lang="es-MX" dirty="0" smtClean="0">
              <a:latin typeface="Courier New" pitchFamily="49" charset="0"/>
              <a:ea typeface="Roboto" panose="02000000000000000000" pitchFamily="2" charset="0"/>
              <a:cs typeface="Courier New" pitchFamily="49" charset="0"/>
            </a:endParaRPr>
          </a:p>
          <a:p>
            <a:pPr algn="just"/>
            <a:endParaRPr lang="es-MX" dirty="0" smtClean="0">
              <a:latin typeface="Courier New" pitchFamily="49" charset="0"/>
              <a:ea typeface="Roboto" panose="02000000000000000000" pitchFamily="2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56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Uso de la cámara desde línea de comandos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4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38648"/>
            <a:ext cx="117811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Para hacer uso de la cámara desde la línea de comando contamos con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</a:rPr>
              <a:t>2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utileras que son las siguientes: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 err="1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raspistill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, para  tomar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fotografías.</a:t>
            </a:r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MX" dirty="0" err="1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raspivid</a:t>
            </a:r>
            <a:r>
              <a:rPr lang="es-MX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,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 para la captura de video.</a:t>
            </a:r>
          </a:p>
          <a:p>
            <a:pPr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Vemos como tomar una foto desde la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línea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</a:rPr>
              <a:t>de comandos:</a:t>
            </a:r>
          </a:p>
          <a:p>
            <a:pPr marL="342900" indent="-342900" algn="just"/>
            <a:endParaRPr lang="es-MX" dirty="0" smtClean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/>
            <a:r>
              <a:rPr lang="es-MX" dirty="0" err="1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raspistill</a:t>
            </a:r>
            <a:r>
              <a:rPr lang="es-MX" dirty="0" smtClean="0">
                <a:latin typeface="Courier New" pitchFamily="49" charset="0"/>
                <a:ea typeface="Roboto" panose="02000000000000000000" pitchFamily="2" charset="0"/>
                <a:cs typeface="Courier New" pitchFamily="49" charset="0"/>
              </a:rPr>
              <a:t> -o foto.jpg</a:t>
            </a:r>
          </a:p>
          <a:p>
            <a:pPr marL="342900" indent="-342900" algn="just"/>
            <a:endParaRPr lang="es-MX" dirty="0" smtClean="0">
              <a:latin typeface="Courier New" pitchFamily="49" charset="0"/>
              <a:ea typeface="Roboto" panose="02000000000000000000" pitchFamily="2" charset="0"/>
              <a:cs typeface="Courier New" pitchFamily="49" charset="0"/>
            </a:endParaRPr>
          </a:p>
          <a:p>
            <a:pPr indent="-342900"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Con esta instrucción, hacemos tomamos una foto se guardara como foto.jpg, en el directorio /home/pi, por default la foto se toma después de 5 segundos.</a:t>
            </a:r>
          </a:p>
        </p:txBody>
      </p:sp>
    </p:spTree>
    <p:extLst>
      <p:ext uri="{BB962C8B-B14F-4D97-AF65-F5344CB8AC3E}">
        <p14:creationId xmlns:p14="http://schemas.microsoft.com/office/powerpoint/2010/main" val="353771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Uso de la cámara desde línea de comandos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5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38648"/>
            <a:ext cx="11781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Ahora veremos otro ejemplo donde cambiaremos el tiempo de retraso, 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así 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como la ruta donde se colocara la foto 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raspistill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-o /home/pi/Pictures/foto.jpg  -t  1000</a:t>
            </a:r>
          </a:p>
          <a:p>
            <a:pPr algn="just"/>
            <a:endParaRPr lang="en-US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Podemos hacer que los nombres de las fotos contengan una secuencia numérica agregando el modificador %d.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raspistill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-o </a:t>
            </a:r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foto%d.jpg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-t  1000</a:t>
            </a:r>
          </a:p>
          <a:p>
            <a:pPr algn="just"/>
            <a:endParaRPr lang="es-MX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Si cambiamos %d por %04d la secuencia numérica tendrá 4 dígitos: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raspistill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-o foto%04d.jpg  -t  500</a:t>
            </a:r>
          </a:p>
          <a:p>
            <a:pPr algn="just"/>
            <a:endParaRPr lang="es-MX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Captura una serie de imágenes en un período de tiempo especificado.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 </a:t>
            </a:r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raspistill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-o foto%04d.jpg  -</a:t>
            </a:r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tl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800 -t 4200</a:t>
            </a:r>
          </a:p>
          <a:p>
            <a:pPr algn="just"/>
            <a:endParaRPr lang="es-MX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1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Uso de la cámara desde línea de comandos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6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38648"/>
            <a:ext cx="11781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Ahora veremos como grabar video con </a:t>
            </a:r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raspivid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. Por default </a:t>
            </a:r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raspivid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, graba video por 5 segundos.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raspivid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-o video.h264</a:t>
            </a:r>
          </a:p>
          <a:p>
            <a:pPr algn="just"/>
            <a:endParaRPr lang="es-MX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Si queremos establecer la </a:t>
            </a:r>
            <a:r>
              <a:rPr lang="es-MX" dirty="0" err="1" smtClean="0">
                <a:latin typeface="Roboto" pitchFamily="2" charset="0"/>
                <a:ea typeface="Roboto" pitchFamily="2" charset="0"/>
                <a:cs typeface="Courier New" pitchFamily="49" charset="0"/>
              </a:rPr>
              <a:t>duracion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 del video lo hacemos con el modificador –t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.</a:t>
            </a:r>
          </a:p>
          <a:p>
            <a:pPr algn="just"/>
            <a:endParaRPr lang="es-MX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raspivid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-o </a:t>
            </a:r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video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.h264 -t 10000</a:t>
            </a:r>
          </a:p>
          <a:p>
            <a:pPr algn="just"/>
            <a:endParaRPr lang="pt-BR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Vamos a grabar un video con las siguientes </a:t>
            </a:r>
            <a:r>
              <a:rPr lang="es-MX" dirty="0" err="1" smtClean="0">
                <a:latin typeface="Roboto" pitchFamily="2" charset="0"/>
                <a:ea typeface="Roboto" pitchFamily="2" charset="0"/>
                <a:cs typeface="Courier New" pitchFamily="49" charset="0"/>
              </a:rPr>
              <a:t>caracteristicas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, que dure 30 segundos, 640X480, 150kb/s, 25 cuadros por segundo.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raspivid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-t 30000 -w 640 -h 480 -</a:t>
            </a:r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fps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25 -b 150000 -o </a:t>
            </a:r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video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.h264</a:t>
            </a:r>
          </a:p>
          <a:p>
            <a:pPr algn="just"/>
            <a:endParaRPr lang="pt-BR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pt-BR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Y </a:t>
            </a:r>
            <a:r>
              <a:rPr lang="pt-BR" dirty="0" err="1" smtClean="0">
                <a:latin typeface="Roboto" pitchFamily="2" charset="0"/>
                <a:ea typeface="Roboto" pitchFamily="2" charset="0"/>
                <a:cs typeface="Courier New" pitchFamily="49" charset="0"/>
              </a:rPr>
              <a:t>lo</a:t>
            </a:r>
            <a:r>
              <a:rPr lang="pt-BR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Roboto" pitchFamily="2" charset="0"/>
                <a:ea typeface="Roboto" pitchFamily="2" charset="0"/>
                <a:cs typeface="Courier New" pitchFamily="49" charset="0"/>
              </a:rPr>
              <a:t>convertimos</a:t>
            </a:r>
            <a:r>
              <a:rPr lang="pt-BR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 a mp4 de </a:t>
            </a:r>
            <a:r>
              <a:rPr lang="pt-BR" dirty="0" err="1" smtClean="0">
                <a:latin typeface="Roboto" pitchFamily="2" charset="0"/>
                <a:ea typeface="Roboto" pitchFamily="2" charset="0"/>
                <a:cs typeface="Courier New" pitchFamily="49" charset="0"/>
              </a:rPr>
              <a:t>la</a:t>
            </a:r>
            <a:r>
              <a:rPr lang="pt-BR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Roboto" pitchFamily="2" charset="0"/>
                <a:ea typeface="Roboto" pitchFamily="2" charset="0"/>
                <a:cs typeface="Courier New" pitchFamily="49" charset="0"/>
              </a:rPr>
              <a:t>seguiente</a:t>
            </a:r>
            <a:r>
              <a:rPr lang="pt-BR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Roboto" pitchFamily="2" charset="0"/>
                <a:ea typeface="Roboto" pitchFamily="2" charset="0"/>
                <a:cs typeface="Courier New" pitchFamily="49" charset="0"/>
              </a:rPr>
              <a:t>manera</a:t>
            </a:r>
            <a:r>
              <a:rPr lang="pt-BR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.</a:t>
            </a:r>
          </a:p>
          <a:p>
            <a:pPr algn="just"/>
            <a:endParaRPr lang="pt-BR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MP4Box -</a:t>
            </a:r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add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video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.h264 </a:t>
            </a:r>
            <a:r>
              <a:rPr lang="pt-BR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video</a:t>
            </a:r>
            <a:r>
              <a:rPr lang="pt-BR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.mp4</a:t>
            </a:r>
          </a:p>
        </p:txBody>
      </p:sp>
    </p:spTree>
    <p:extLst>
      <p:ext uri="{BB962C8B-B14F-4D97-AF65-F5344CB8AC3E}">
        <p14:creationId xmlns:p14="http://schemas.microsoft.com/office/powerpoint/2010/main" val="353771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Uso de la cámara desde </a:t>
            </a:r>
            <a:r>
              <a:rPr lang="es-MX" sz="3200" dirty="0" err="1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Python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7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38648"/>
            <a:ext cx="117811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Veremos un ejemplo del uso básico de la cámara en la </a:t>
            </a:r>
            <a:r>
              <a:rPr lang="es-MX" dirty="0" err="1" smtClean="0">
                <a:latin typeface="Roboto" pitchFamily="2" charset="0"/>
                <a:ea typeface="Roboto" pitchFamily="2" charset="0"/>
                <a:cs typeface="Courier New" pitchFamily="49" charset="0"/>
              </a:rPr>
              <a:t>Raspberry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 Pi desde </a:t>
            </a:r>
            <a:r>
              <a:rPr lang="es-MX" dirty="0" err="1" smtClean="0">
                <a:latin typeface="Roboto" pitchFamily="2" charset="0"/>
                <a:ea typeface="Roboto" pitchFamily="2" charset="0"/>
                <a:cs typeface="Courier New" pitchFamily="49" charset="0"/>
              </a:rPr>
              <a:t>Python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.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import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</a:t>
            </a:r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picamera</a:t>
            </a:r>
            <a:endParaRPr lang="es-MX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import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time</a:t>
            </a:r>
          </a:p>
          <a:p>
            <a:pPr algn="just"/>
            <a:endParaRPr lang="es-MX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camara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= </a:t>
            </a:r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picamera.PiCamera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()</a:t>
            </a:r>
          </a:p>
          <a:p>
            <a:pPr algn="just"/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camara.resolution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=(1027,768)</a:t>
            </a:r>
          </a:p>
          <a:p>
            <a:pPr algn="just"/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camara.start_preview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()</a:t>
            </a:r>
          </a:p>
          <a:p>
            <a:pPr algn="just"/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time.sleep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(2)</a:t>
            </a:r>
          </a:p>
          <a:p>
            <a:pPr algn="just"/>
            <a:r>
              <a:rPr lang="es-MX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camara.capture</a:t>
            </a:r>
            <a:r>
              <a:rPr lang="es-MX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('foto.jpg')</a:t>
            </a:r>
          </a:p>
          <a:p>
            <a:pPr algn="just"/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1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Uso de la cámara desde </a:t>
            </a:r>
            <a:r>
              <a:rPr lang="es-MX" sz="3200" dirty="0" err="1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Python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8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38648"/>
            <a:ext cx="11781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Tomando una secuencia de fotos desde </a:t>
            </a:r>
            <a:r>
              <a:rPr lang="es-MX" dirty="0" err="1" smtClean="0">
                <a:latin typeface="Roboto" pitchFamily="2" charset="0"/>
                <a:ea typeface="Roboto" pitchFamily="2" charset="0"/>
                <a:cs typeface="Courier New" pitchFamily="49" charset="0"/>
              </a:rPr>
              <a:t>Python</a:t>
            </a:r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endParaRPr lang="es-MX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import time</a:t>
            </a:r>
          </a:p>
          <a:p>
            <a:pPr algn="just"/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import </a:t>
            </a:r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picamera</a:t>
            </a:r>
            <a:endParaRPr lang="en-US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endParaRPr lang="en-US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camara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= </a:t>
            </a:r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picamera.PiCamera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()</a:t>
            </a:r>
          </a:p>
          <a:p>
            <a:pPr algn="just"/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camara.start_preview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()</a:t>
            </a:r>
          </a:p>
          <a:p>
            <a:pPr algn="just"/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time.sleep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(2)</a:t>
            </a:r>
          </a:p>
          <a:p>
            <a:pPr algn="just"/>
            <a:endParaRPr lang="en-US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for </a:t>
            </a:r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archivo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in </a:t>
            </a:r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camara.capture_continuous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('</a:t>
            </a:r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img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{counter:03d}.jpg'):</a:t>
            </a:r>
          </a:p>
          <a:p>
            <a:pPr algn="just"/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print("</a:t>
            </a:r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Captura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%s" % </a:t>
            </a:r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archivo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)</a:t>
            </a:r>
          </a:p>
          <a:p>
            <a:pPr algn="just"/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   </a:t>
            </a:r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time.sleep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(10)</a:t>
            </a:r>
            <a:endParaRPr lang="es-MX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1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Uso de la cámara desde </a:t>
            </a:r>
            <a:r>
              <a:rPr lang="es-MX" sz="3200" dirty="0" err="1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Python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9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47884"/>
            <a:ext cx="117811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Grabando un video de 60 segundos.</a:t>
            </a:r>
          </a:p>
          <a:p>
            <a:pPr algn="just"/>
            <a:endParaRPr lang="en-US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import </a:t>
            </a:r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picamera</a:t>
            </a:r>
            <a:endParaRPr lang="en-US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endParaRPr lang="en-US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camara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= </a:t>
            </a:r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picamera.PiCamera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()</a:t>
            </a:r>
          </a:p>
          <a:p>
            <a:pPr algn="just"/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camara.resolution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 = (640, 480)</a:t>
            </a:r>
          </a:p>
          <a:p>
            <a:pPr algn="just"/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camara.start_recording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('video.h264')</a:t>
            </a:r>
          </a:p>
          <a:p>
            <a:pPr algn="just"/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camara.wait_recording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(60)</a:t>
            </a:r>
          </a:p>
          <a:p>
            <a:pPr algn="just"/>
            <a:r>
              <a:rPr lang="en-US" dirty="0" err="1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camara.stop_recording</a:t>
            </a:r>
            <a:r>
              <a:rPr lang="en-US" dirty="0" smtClean="0">
                <a:latin typeface="Courier New" pitchFamily="49" charset="0"/>
                <a:ea typeface="Roboto" pitchFamily="2" charset="0"/>
                <a:cs typeface="Courier New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3771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Uso de la cámara desde </a:t>
            </a:r>
            <a:r>
              <a:rPr lang="es-MX" sz="3200" dirty="0" err="1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Python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10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47884"/>
            <a:ext cx="117811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Grabando video cuando se detecte movimiento.</a:t>
            </a:r>
          </a:p>
          <a:p>
            <a:pPr algn="just"/>
            <a:endParaRPr lang="en-US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  <a:p>
            <a:pPr algn="just"/>
            <a:endParaRPr lang="en-US" dirty="0" smtClean="0">
              <a:latin typeface="Courier New" pitchFamily="49" charset="0"/>
              <a:ea typeface="Roboto" pitchFamily="2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71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Instalación de OpenCV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11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47884"/>
            <a:ext cx="117811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itchFamily="2" charset="0"/>
                <a:ea typeface="Roboto" pitchFamily="2" charset="0"/>
                <a:cs typeface="Courier New" pitchFamily="49" charset="0"/>
              </a:rPr>
              <a:t>OpenCV, es un </a:t>
            </a:r>
            <a:r>
              <a:rPr lang="es-MX" dirty="0" err="1">
                <a:latin typeface="Roboto" pitchFamily="2" charset="0"/>
                <a:ea typeface="Roboto" pitchFamily="2" charset="0"/>
                <a:cs typeface="Courier New" pitchFamily="49" charset="0"/>
              </a:rPr>
              <a:t>FrameWork</a:t>
            </a:r>
            <a:r>
              <a:rPr lang="es-MX" dirty="0">
                <a:latin typeface="Roboto" pitchFamily="2" charset="0"/>
                <a:ea typeface="Roboto" pitchFamily="2" charset="0"/>
                <a:cs typeface="Courier New" pitchFamily="49" charset="0"/>
              </a:rPr>
              <a:t> para procesamiento de Imágenes y Visión por 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Computadora. </a:t>
            </a:r>
            <a:r>
              <a:rPr lang="es-MX" dirty="0">
                <a:latin typeface="Roboto" pitchFamily="2" charset="0"/>
                <a:ea typeface="Roboto" pitchFamily="2" charset="0"/>
                <a:cs typeface="Courier New" pitchFamily="49" charset="0"/>
              </a:rPr>
              <a:t>El cual es libre y esta disponible para muchas plataformas. Otro aspecto interesante que tiene es que aunque esta escrito en C++, tiene diferentes interfaces(</a:t>
            </a:r>
            <a:r>
              <a:rPr lang="es-MX" dirty="0" err="1">
                <a:latin typeface="Roboto" pitchFamily="2" charset="0"/>
                <a:ea typeface="Roboto" pitchFamily="2" charset="0"/>
                <a:cs typeface="Courier New" pitchFamily="49" charset="0"/>
              </a:rPr>
              <a:t>Bindings</a:t>
            </a:r>
            <a:r>
              <a:rPr lang="es-MX" dirty="0">
                <a:latin typeface="Roboto" pitchFamily="2" charset="0"/>
                <a:ea typeface="Roboto" pitchFamily="2" charset="0"/>
                <a:cs typeface="Courier New" pitchFamily="49" charset="0"/>
              </a:rPr>
              <a:t>) para otros lenguajes de computación como puede ser Python, Java e incluso para Sistemas móviles como puede ser el caso de Android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.</a:t>
            </a:r>
          </a:p>
          <a:p>
            <a:pPr algn="just"/>
            <a:endParaRPr lang="es-MX" dirty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El primer paso   es actualizar nuestra </a:t>
            </a:r>
            <a:r>
              <a:rPr lang="es-MX" dirty="0" err="1" smtClean="0">
                <a:latin typeface="Roboto" pitchFamily="2" charset="0"/>
                <a:ea typeface="Roboto" pitchFamily="2" charset="0"/>
                <a:cs typeface="Courier New" pitchFamily="49" charset="0"/>
              </a:rPr>
              <a:t>RaspberryPI</a:t>
            </a:r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endParaRPr lang="es-MX" dirty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n-US" dirty="0" smtClean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sudo </a:t>
            </a:r>
            <a:r>
              <a:rPr lang="en-US" dirty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apt-get update</a:t>
            </a:r>
          </a:p>
          <a:p>
            <a:pPr algn="just"/>
            <a:r>
              <a:rPr lang="en-US" dirty="0" smtClean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sudo </a:t>
            </a:r>
            <a:r>
              <a:rPr lang="en-US" dirty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apt-get </a:t>
            </a:r>
            <a:r>
              <a:rPr lang="en-US" dirty="0" err="1" smtClean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dist</a:t>
            </a:r>
            <a:r>
              <a:rPr lang="en-US" dirty="0" smtClean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-upgrade</a:t>
            </a:r>
          </a:p>
          <a:p>
            <a:pPr algn="just"/>
            <a:endParaRPr lang="en-US" dirty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Ahora instalaremos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las dependencias para poder construir nuestra librería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.</a:t>
            </a:r>
          </a:p>
          <a:p>
            <a:pPr algn="just"/>
            <a:endParaRPr lang="es-MX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sudo apt-get install build-essential </a:t>
            </a:r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cmake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pkg-config</a:t>
            </a:r>
            <a:endParaRPr lang="es-MX" dirty="0" smtClean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56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Instalación de OpenCV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12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47884"/>
            <a:ext cx="117811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itchFamily="2" charset="0"/>
                <a:ea typeface="Roboto" pitchFamily="2" charset="0"/>
                <a:cs typeface="Courier New" pitchFamily="49" charset="0"/>
              </a:rPr>
              <a:t>Dependencias de manejo de 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imágenes</a:t>
            </a:r>
          </a:p>
          <a:p>
            <a:pPr algn="just"/>
            <a:endParaRPr lang="es-MX" dirty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sudo apt-get install </a:t>
            </a:r>
            <a:r>
              <a:rPr lang="en-US" dirty="0" err="1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libjpeg</a:t>
            </a:r>
            <a:r>
              <a:rPr lang="en-US" dirty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-dev libtiff5-dev </a:t>
            </a:r>
            <a:r>
              <a:rPr lang="en-US" dirty="0" err="1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libjasper</a:t>
            </a:r>
            <a:r>
              <a:rPr lang="en-US" dirty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-dev </a:t>
            </a:r>
            <a:r>
              <a:rPr lang="en-US" dirty="0" smtClean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libpng12-dev</a:t>
            </a:r>
          </a:p>
          <a:p>
            <a:pPr algn="just"/>
            <a:endParaRPr lang="en-US" dirty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Dependencias de manejo de Ficheros y de video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.</a:t>
            </a:r>
          </a:p>
          <a:p>
            <a:pPr algn="just"/>
            <a:endParaRPr lang="es-MX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sudo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apt-get install </a:t>
            </a:r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libavcodec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-dev </a:t>
            </a:r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libavformat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-dev </a:t>
            </a:r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libswscale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-dev libv4l-dev</a:t>
            </a:r>
          </a:p>
          <a:p>
            <a:pPr algn="just"/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sudo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apt-get install </a:t>
            </a:r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libxvidcore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-dev 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libx264-dev</a:t>
            </a:r>
          </a:p>
          <a:p>
            <a:pPr algn="just"/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Dependencias para la interfaz 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gráfica</a:t>
            </a:r>
          </a:p>
          <a:p>
            <a:pPr algn="just"/>
            <a:endParaRPr lang="es-MX" dirty="0" smtClean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sudo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apt-get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install</a:t>
            </a:r>
            <a:r>
              <a:rPr lang="es-MX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s-MX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libgtk2.0-dev</a:t>
            </a:r>
          </a:p>
          <a:p>
            <a:pPr algn="just"/>
            <a:endParaRPr lang="es-MX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endParaRPr lang="es-MX" dirty="0" smtClean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50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Instalación de OpenCV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13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47884"/>
            <a:ext cx="1178116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Para </a:t>
            </a:r>
            <a:r>
              <a:rPr lang="es-MX" dirty="0">
                <a:latin typeface="Roboto" pitchFamily="2" charset="0"/>
                <a:ea typeface="Roboto" pitchFamily="2" charset="0"/>
                <a:cs typeface="Courier New" pitchFamily="49" charset="0"/>
              </a:rPr>
              <a:t>mejorar el rendimiento de las operaciones matemáticas (matrices) instalaremos las siguientes dependencias.</a:t>
            </a:r>
            <a:endParaRPr lang="es-MX" dirty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endParaRPr lang="en-US" dirty="0" smtClean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sudo apt-get install </a:t>
            </a:r>
            <a:r>
              <a:rPr lang="en-US" dirty="0" err="1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libatlas</a:t>
            </a:r>
            <a:r>
              <a:rPr lang="en-US" dirty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-base-dev </a:t>
            </a:r>
            <a:r>
              <a:rPr lang="en-US" dirty="0" err="1" smtClean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gfortran</a:t>
            </a:r>
            <a:endParaRPr lang="en-US" dirty="0" smtClean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endParaRPr lang="en-US" dirty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Tras tener todas las dependencias y librerías instaladas, vamos a pasar a descargarnos el código fuente. del repositorio de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GitHub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.</a:t>
            </a:r>
          </a:p>
          <a:p>
            <a:pPr algn="just"/>
            <a:endParaRPr lang="es-MX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wget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-O 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opencv.zip https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://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github.com/opencv/opencv/archive/3.3.0.zip</a:t>
            </a:r>
          </a:p>
          <a:p>
            <a:pPr algn="just"/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unzip opencv.zip</a:t>
            </a:r>
          </a:p>
          <a:p>
            <a:pPr algn="just"/>
            <a:endParaRPr lang="en-US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Ahora 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tenemos que descargarnos la librería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opencv_contrib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 para poder tener todas las funcionalidades de OpenCV. También lo descargaremos de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Github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r>
              <a:rPr lang="en-US" sz="1600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wget</a:t>
            </a:r>
            <a:r>
              <a:rPr lang="en-US" sz="1600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-O opencv_contrib.zip https://github.com/opencv/opencv_contrib/archive/3.3.0.zip</a:t>
            </a:r>
          </a:p>
          <a:p>
            <a:pPr algn="just"/>
            <a:r>
              <a:rPr lang="en-US" sz="1600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unzip </a:t>
            </a:r>
            <a:r>
              <a:rPr lang="en-US" sz="1600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opencv_contrib.zip</a:t>
            </a:r>
          </a:p>
        </p:txBody>
      </p:sp>
    </p:spTree>
    <p:extLst>
      <p:ext uri="{BB962C8B-B14F-4D97-AF65-F5344CB8AC3E}">
        <p14:creationId xmlns:p14="http://schemas.microsoft.com/office/powerpoint/2010/main" val="260177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Instalación de OpenCV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14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47884"/>
            <a:ext cx="11781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itchFamily="2" charset="0"/>
                <a:ea typeface="Roboto" pitchFamily="2" charset="0"/>
                <a:cs typeface="Courier New" pitchFamily="49" charset="0"/>
              </a:rPr>
              <a:t>Esta operación tardará un poco ya que tiene que compilar e instalar </a:t>
            </a:r>
            <a:r>
              <a:rPr lang="es-MX" dirty="0" err="1">
                <a:latin typeface="Roboto" pitchFamily="2" charset="0"/>
                <a:ea typeface="Roboto" pitchFamily="2" charset="0"/>
                <a:cs typeface="Courier New" pitchFamily="49" charset="0"/>
              </a:rPr>
              <a:t>numpy</a:t>
            </a:r>
            <a:r>
              <a:rPr lang="es-MX" dirty="0">
                <a:latin typeface="Roboto" pitchFamily="2" charset="0"/>
                <a:ea typeface="Roboto" pitchFamily="2" charset="0"/>
                <a:cs typeface="Courier New" pitchFamily="49" charset="0"/>
              </a:rPr>
              <a:t> para que pueda ser usando por </a:t>
            </a:r>
            <a:r>
              <a:rPr lang="es-MX" dirty="0" err="1">
                <a:latin typeface="Roboto" pitchFamily="2" charset="0"/>
                <a:ea typeface="Roboto" pitchFamily="2" charset="0"/>
                <a:cs typeface="Courier New" pitchFamily="49" charset="0"/>
              </a:rPr>
              <a:t>Opencv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.</a:t>
            </a:r>
          </a:p>
          <a:p>
            <a:pPr algn="just"/>
            <a:endParaRPr lang="en-US" dirty="0" smtClean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pip install </a:t>
            </a:r>
            <a:r>
              <a:rPr lang="en-US" dirty="0" err="1" smtClean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numpy</a:t>
            </a:r>
            <a:endParaRPr lang="en-US" dirty="0" smtClean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endParaRPr lang="en-US" dirty="0" smtClean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Tras todas estas operaciones, ya estamos preparados para compilar </a:t>
            </a:r>
            <a:r>
              <a:rPr lang="es-MX" dirty="0" err="1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Opencv</a:t>
            </a:r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. para lo cual, entraremos desde nuestra carpeta de usuario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.</a:t>
            </a:r>
          </a:p>
          <a:p>
            <a:pPr algn="just"/>
            <a:endParaRPr lang="es-MX" dirty="0">
              <a:latin typeface="Roboto" panose="02000000000000000000" pitchFamily="2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cd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~/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opencv-3.3.0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/</a:t>
            </a:r>
          </a:p>
          <a:p>
            <a:pPr algn="just"/>
            <a:r>
              <a:rPr lang="en-US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mkdir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build</a:t>
            </a:r>
          </a:p>
          <a:p>
            <a:pPr algn="just"/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cd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build</a:t>
            </a:r>
          </a:p>
          <a:p>
            <a:pPr algn="just"/>
            <a:r>
              <a:rPr lang="en-US" dirty="0" err="1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cmake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-D CMAKE_BUILD_TYPE=RELEASE \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-D CMAKE_INSTALL_PREFIX=/</a:t>
            </a:r>
            <a:r>
              <a:rPr lang="en-US" dirty="0" err="1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/local \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-D INSTALL_PYTHON_EXAMPLES=ON \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-D OPENCV_EXTRA_MODULES_PATH=~/</a:t>
            </a:r>
            <a:r>
              <a:rPr lang="en-US" dirty="0" smtClean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opencv_contrib-3.3.0/modules </a:t>
            </a:r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\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anose="02000000000000000000" pitchFamily="2" charset="0"/>
                <a:cs typeface="Courier New" panose="02070309020205020404" pitchFamily="49" charset="0"/>
              </a:rPr>
              <a:t>    -D BUILD_EXAMPLES=ON ..</a:t>
            </a:r>
            <a:endParaRPr lang="en-US" dirty="0">
              <a:latin typeface="Courier New" panose="02070309020205020404" pitchFamily="49" charset="0"/>
              <a:ea typeface="Roboto" panose="02000000000000000000" pitchFamily="2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14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Instalación de OpenCV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15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66747"/>
            <a:ext cx="117811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itchFamily="2" charset="0"/>
                <a:ea typeface="Roboto" pitchFamily="2" charset="0"/>
                <a:cs typeface="Courier New" pitchFamily="49" charset="0"/>
              </a:rPr>
              <a:t>Tras tener todo listo, vamos a pasar a la compilación..</a:t>
            </a:r>
            <a:endParaRPr lang="es-MX" dirty="0" smtClean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endParaRPr lang="en-US" dirty="0" smtClean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 smtClean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make </a:t>
            </a:r>
          </a:p>
          <a:p>
            <a:pPr algn="just"/>
            <a:endParaRPr lang="en-US" dirty="0" smtClean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Si hay errores primero limpiar y volver a ejecutar</a:t>
            </a:r>
            <a:r>
              <a:rPr lang="es-MX" dirty="0" smtClean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:</a:t>
            </a:r>
          </a:p>
          <a:p>
            <a:pPr algn="just"/>
            <a:endParaRPr lang="es-MX" dirty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 smtClean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make </a:t>
            </a:r>
            <a:r>
              <a:rPr lang="en-US" dirty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clean</a:t>
            </a:r>
          </a:p>
          <a:p>
            <a:pPr algn="just"/>
            <a:r>
              <a:rPr lang="en-US" dirty="0" smtClean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make</a:t>
            </a:r>
          </a:p>
          <a:p>
            <a:pPr algn="just"/>
            <a:endParaRPr lang="en-US" dirty="0" smtClean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r>
              <a:rPr lang="es-MX" dirty="0">
                <a:latin typeface="Roboto" panose="02000000000000000000" pitchFamily="2" charset="0"/>
                <a:ea typeface="Roboto" panose="02000000000000000000" pitchFamily="2" charset="0"/>
                <a:cs typeface="Courier New" panose="02070309020205020404" pitchFamily="49" charset="0"/>
              </a:rPr>
              <a:t>Tras la compilación, instalaremos la librería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Courier New" panose="02070309020205020404" pitchFamily="49" charset="0"/>
            </a:endParaRPr>
          </a:p>
          <a:p>
            <a:pPr algn="just"/>
            <a:endParaRPr lang="en-US" dirty="0" smtClean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make install</a:t>
            </a:r>
          </a:p>
          <a:p>
            <a:pPr algn="just"/>
            <a:r>
              <a:rPr lang="en-US" dirty="0" err="1" smtClean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ldconfig</a:t>
            </a:r>
            <a:endParaRPr lang="en-US" dirty="0" smtClean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45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613800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CuadroTexto 1"/>
          <p:cNvSpPr txBox="1"/>
          <p:nvPr/>
        </p:nvSpPr>
        <p:spPr>
          <a:xfrm>
            <a:off x="273465" y="212168"/>
            <a:ext cx="7598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latin typeface="Roboto" panose="02000000000000000000" pitchFamily="2" charset="0"/>
                <a:ea typeface="Roboto" panose="02000000000000000000" pitchFamily="2" charset="0"/>
              </a:rPr>
              <a:t>Módulo de Cámara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73465" y="1055278"/>
            <a:ext cx="112658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 smtClean="0">
                <a:solidFill>
                  <a:srgbClr val="C51A40"/>
                </a:solidFill>
                <a:latin typeface="Roboto Slab" pitchFamily="2" charset="0"/>
                <a:ea typeface="Roboto Slab" pitchFamily="2" charset="0"/>
              </a:rPr>
              <a:t>Instalación de OpenCV</a:t>
            </a:r>
            <a:endParaRPr lang="es-MX" sz="3200" dirty="0">
              <a:solidFill>
                <a:srgbClr val="C51A40"/>
              </a:solidFill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7872000" y="0"/>
            <a:ext cx="4320000" cy="720000"/>
          </a:xfrm>
          <a:prstGeom prst="rect">
            <a:avLst/>
          </a:prstGeom>
          <a:solidFill>
            <a:srgbClr val="C51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5990E14E-10C1-4AA8-B2C7-C55C8C3B1C4A}" type="slidenum">
              <a:rPr lang="es-MX" smtClean="0">
                <a:latin typeface="Roboto" panose="02000000000000000000" pitchFamily="2" charset="0"/>
                <a:ea typeface="Roboto" panose="02000000000000000000" pitchFamily="2" charset="0"/>
              </a:rPr>
              <a:pPr algn="r"/>
              <a:t>16</a:t>
            </a:fld>
            <a:endParaRPr lang="es-MX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6" b="25555"/>
          <a:stretch/>
        </p:blipFill>
        <p:spPr>
          <a:xfrm>
            <a:off x="4320000" y="6228312"/>
            <a:ext cx="2262389" cy="52742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389" y="6226538"/>
            <a:ext cx="3175200" cy="5292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73465" y="1766747"/>
            <a:ext cx="11781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Roboto" pitchFamily="2" charset="0"/>
                <a:ea typeface="Roboto" pitchFamily="2" charset="0"/>
                <a:cs typeface="Courier New" pitchFamily="49" charset="0"/>
              </a:rPr>
              <a:t>Con esto ya tenemos instalado </a:t>
            </a:r>
            <a:r>
              <a:rPr lang="es-MX" dirty="0" err="1">
                <a:latin typeface="Roboto" pitchFamily="2" charset="0"/>
                <a:ea typeface="Roboto" pitchFamily="2" charset="0"/>
                <a:cs typeface="Courier New" pitchFamily="49" charset="0"/>
              </a:rPr>
              <a:t>OpenCv</a:t>
            </a:r>
            <a:r>
              <a:rPr lang="es-MX" dirty="0">
                <a:latin typeface="Roboto" pitchFamily="2" charset="0"/>
                <a:ea typeface="Roboto" pitchFamily="2" charset="0"/>
                <a:cs typeface="Courier New" pitchFamily="49" charset="0"/>
              </a:rPr>
              <a:t>, Ahora mismo podemos probar que efectivamente funciona con el siguiente script Python</a:t>
            </a:r>
            <a:r>
              <a:rPr lang="es-MX" dirty="0" smtClean="0">
                <a:latin typeface="Roboto" pitchFamily="2" charset="0"/>
                <a:ea typeface="Roboto" pitchFamily="2" charset="0"/>
                <a:cs typeface="Courier New" pitchFamily="49" charset="0"/>
              </a:rPr>
              <a:t>:</a:t>
            </a:r>
          </a:p>
          <a:p>
            <a:pPr algn="just"/>
            <a:endParaRPr lang="es-MX" dirty="0">
              <a:latin typeface="Roboto" pitchFamily="2" charset="0"/>
              <a:ea typeface="Roboto" pitchFamily="2" charset="0"/>
              <a:cs typeface="Courier New" pitchFamily="49" charset="0"/>
            </a:endParaRP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import cv2</a:t>
            </a:r>
          </a:p>
          <a:p>
            <a:pPr algn="just"/>
            <a:r>
              <a:rPr lang="en-US" dirty="0">
                <a:latin typeface="Courier New" panose="02070309020205020404" pitchFamily="49" charset="0"/>
                <a:ea typeface="Roboto" pitchFamily="2" charset="0"/>
                <a:cs typeface="Courier New" panose="02070309020205020404" pitchFamily="49" charset="0"/>
              </a:rPr>
              <a:t>cv2.__version__</a:t>
            </a:r>
            <a:endParaRPr lang="en-US" dirty="0" smtClean="0">
              <a:latin typeface="Courier New" panose="02070309020205020404" pitchFamily="49" charset="0"/>
              <a:ea typeface="Roboto" pitchFamily="2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62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1002</Words>
  <Application>Microsoft Office PowerPoint</Application>
  <PresentationFormat>Panorámica</PresentationFormat>
  <Paragraphs>202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Roboto</vt:lpstr>
      <vt:lpstr>Roboto Slab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Eder Carmona Armijo</dc:creator>
  <cp:lastModifiedBy>Eder Carmona Armijo</cp:lastModifiedBy>
  <cp:revision>104</cp:revision>
  <dcterms:created xsi:type="dcterms:W3CDTF">2017-09-11T16:28:37Z</dcterms:created>
  <dcterms:modified xsi:type="dcterms:W3CDTF">2017-10-04T16:21:38Z</dcterms:modified>
</cp:coreProperties>
</file>