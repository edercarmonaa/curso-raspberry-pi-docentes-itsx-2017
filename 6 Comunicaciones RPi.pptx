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87" r:id="rId3"/>
    <p:sldId id="288" r:id="rId4"/>
    <p:sldId id="289" r:id="rId5"/>
    <p:sldId id="290" r:id="rId6"/>
    <p:sldId id="291" r:id="rId7"/>
    <p:sldId id="257" r:id="rId8"/>
    <p:sldId id="270" r:id="rId9"/>
    <p:sldId id="261" r:id="rId10"/>
    <p:sldId id="269" r:id="rId11"/>
    <p:sldId id="262" r:id="rId12"/>
    <p:sldId id="274" r:id="rId13"/>
    <p:sldId id="275" r:id="rId14"/>
    <p:sldId id="278" r:id="rId15"/>
    <p:sldId id="277" r:id="rId16"/>
    <p:sldId id="279" r:id="rId17"/>
    <p:sldId id="284" r:id="rId18"/>
    <p:sldId id="281" r:id="rId19"/>
    <p:sldId id="282" r:id="rId20"/>
    <p:sldId id="285" r:id="rId21"/>
    <p:sldId id="286" r:id="rId22"/>
    <p:sldId id="258" r:id="rId23"/>
    <p:sldId id="271" r:id="rId24"/>
    <p:sldId id="263" r:id="rId25"/>
    <p:sldId id="264" r:id="rId26"/>
    <p:sldId id="259" r:id="rId27"/>
    <p:sldId id="272" r:id="rId28"/>
    <p:sldId id="265" r:id="rId29"/>
    <p:sldId id="266" r:id="rId30"/>
    <p:sldId id="260" r:id="rId31"/>
    <p:sldId id="273" r:id="rId32"/>
    <p:sldId id="267" r:id="rId33"/>
    <p:sldId id="268" r:id="rId3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73B"/>
    <a:srgbClr val="C51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D595D-6ADA-47EC-8AFF-E42DEE086B53}" type="datetimeFigureOut">
              <a:rPr lang="es-MX" smtClean="0"/>
              <a:pPr/>
              <a:t>04/10/2017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BB111-9DC4-4281-85E0-A3EAC63B8C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786046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6A91E-C94D-49A9-9B2B-E0C2416869C8}" type="datetimeFigureOut">
              <a:rPr lang="es-MX" smtClean="0"/>
              <a:pPr/>
              <a:t>04/10/2017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57BBA-5D9E-49F1-9D08-ED51D95EEB3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55469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819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395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7318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458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33</a:t>
            </a:fld>
            <a:endParaRPr lang="es-MX"/>
          </a:p>
        </p:txBody>
      </p:sp>
      <p:sp>
        <p:nvSpPr>
          <p:cNvPr id="5" name="Marcador de encabezado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5597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E36A-411C-47D8-ACCE-3C164CD9D6AA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424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0AD3-9CA8-416C-A5B1-ED9046883CFE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156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6DF2-A570-4A38-BB2D-BC3C65B33F9B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628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5884-5635-4B1E-A887-34B4E794DA22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650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F442-030F-459C-9563-0116AD35CEFF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17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11F3-FCC4-4DE7-B673-A5E2117FFF23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446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DF76-F74B-498A-8DC5-EE25277D9DA4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714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60DA-2C31-4493-A7ED-6E75817DA356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75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57F4F-5B61-4FA5-A365-99ABB13024F5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32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864D-821F-42FA-835B-45DC17C68805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261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9A792-0025-4CF2-8934-47BE6364F86A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79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31552-5C4C-415B-872B-81200BCFD054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46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7FA9133-ACFE-4DD5-9EEB-90E0F3C4BA5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13" y="1265168"/>
            <a:ext cx="1436458" cy="165600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724413" y="2921168"/>
            <a:ext cx="7598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sz="6000" b="1" dirty="0" smtClean="0">
                <a:latin typeface="Roboto" panose="02000000000000000000" pitchFamily="2" charset="0"/>
                <a:ea typeface="Roboto" panose="02000000000000000000" pitchFamily="2" charset="0"/>
              </a:rPr>
              <a:t> Pi</a:t>
            </a:r>
            <a:endParaRPr lang="es-MX" sz="6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24413" y="3786505"/>
            <a:ext cx="11265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Comunicaciones I2C, SPI, 1-Wire, UART</a:t>
            </a:r>
            <a:endParaRPr lang="es-MX" sz="44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4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Introducción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Unidades de información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Antes comenzar a trabajar con las comunicaciones en la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Pi, es importante mencionar algunos conceptos básicos, el primero son las unidades de información.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275149"/>
              </p:ext>
            </p:extLst>
          </p:nvPr>
        </p:nvGraphicFramePr>
        <p:xfrm>
          <a:off x="1684985" y="2536767"/>
          <a:ext cx="8822029" cy="26417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3489"/>
                <a:gridCol w="658854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 smtClean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Descripción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Bit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Con un bit se puede representar sólo un valor de dos posibles valores diferentes, 0 o 1, falso o verdadero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err="1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Nibble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Un </a:t>
                      </a:r>
                      <a:r>
                        <a:rPr lang="es-MX" sz="1600" b="0" dirty="0" err="1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nibble</a:t>
                      </a: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es una colección de 4 bits. un </a:t>
                      </a:r>
                      <a:r>
                        <a:rPr lang="es-MX" sz="1600" b="0" dirty="0" err="1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nibble</a:t>
                      </a: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se presenta un número BCD y también puede representar un dígito hexadecimal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Un byte consta de 8 bits. Las referencias hacia cierta localidad de memoria en todos los microprocesadores nunca es menor que un byte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Palabra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Una palabra es un grupo de 16 bits. Una palabra se puede dividir en 2 bytes llamados igualmente de bajo y alto orden. También una palabra puede considerarse como un grupo de 4 </a:t>
                      </a:r>
                      <a:r>
                        <a:rPr lang="es-MX" sz="1600" b="0" dirty="0" err="1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nibbles</a:t>
                      </a: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.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77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Introducción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Unidades de información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 continuación mostramos el rango de valores que se pueden obtener con un Byte y con una Palabra.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64556"/>
              </p:ext>
            </p:extLst>
          </p:nvPr>
        </p:nvGraphicFramePr>
        <p:xfrm>
          <a:off x="1684985" y="2845860"/>
          <a:ext cx="8822029" cy="815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3489"/>
                <a:gridCol w="3294270"/>
                <a:gridCol w="329427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 smtClean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Unidad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 smtClean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Rango de valores sin signo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 smtClean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Rango de Valores con signo</a:t>
                      </a:r>
                      <a:endParaRPr lang="es-MX" sz="1800" b="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737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0 - 255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-128 - 127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Palabra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0 – 6,535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 smtClean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-32,768 -  32,767</a:t>
                      </a:r>
                      <a:endParaRPr lang="es-MX" sz="1600" b="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31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Introducción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Complemento a Dos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El método de complemento a 2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en aritmética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es comúnmente usada en computadoras para manipular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números negativos.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primer paso consiste en aplicar un NOT al numero binario.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Una vez realizado esto, sumamos un 1 al bit menos significativo.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Ejemplo: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fr-FR" dirty="0">
                <a:latin typeface="Courier New" pitchFamily="49" charset="0"/>
                <a:cs typeface="Courier New" pitchFamily="49" charset="0"/>
              </a:rPr>
              <a:t>62,080 = 1111 0010 1000 </a:t>
            </a:r>
            <a:r>
              <a:rPr lang="fr-FR" dirty="0" smtClean="0">
                <a:latin typeface="Courier New" pitchFamily="49" charset="0"/>
                <a:cs typeface="Courier New" pitchFamily="49" charset="0"/>
              </a:rPr>
              <a:t>0000</a:t>
            </a:r>
          </a:p>
          <a:p>
            <a:pPr algn="just"/>
            <a:r>
              <a:rPr lang="fr-FR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PASO 1) NOT(</a:t>
            </a:r>
            <a:r>
              <a:rPr lang="fr-FR" dirty="0" smtClean="0">
                <a:latin typeface="Courier New" pitchFamily="49" charset="0"/>
                <a:cs typeface="Courier New" pitchFamily="49" charset="0"/>
              </a:rPr>
              <a:t>1111 </a:t>
            </a:r>
            <a:r>
              <a:rPr lang="fr-FR" dirty="0">
                <a:latin typeface="Courier New" pitchFamily="49" charset="0"/>
                <a:cs typeface="Courier New" pitchFamily="49" charset="0"/>
              </a:rPr>
              <a:t>0010 1000 0000</a:t>
            </a:r>
            <a:r>
              <a:rPr lang="fr-FR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) = 0000 1101 0111 1111</a:t>
            </a:r>
          </a:p>
          <a:p>
            <a:pPr algn="just"/>
            <a:r>
              <a:rPr lang="fr-FR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PASO 2) 0000 1101 0111 1111</a:t>
            </a:r>
          </a:p>
          <a:p>
            <a:pPr algn="just"/>
            <a:r>
              <a:rPr lang="fr-FR" dirty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</a:t>
            </a:r>
            <a:r>
              <a:rPr lang="fr-FR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     +                  1</a:t>
            </a:r>
          </a:p>
          <a:p>
            <a:pPr algn="just"/>
            <a:r>
              <a:rPr lang="fr-FR" dirty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</a:t>
            </a:r>
            <a:r>
              <a:rPr lang="fr-FR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      0000 1101 1000 0000 = -3,456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87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Introducción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Operadores a nivel de bits en Python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556" y="2302819"/>
            <a:ext cx="6422888" cy="300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3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Introducción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Representación de números Python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291452"/>
              </p:ext>
            </p:extLst>
          </p:nvPr>
        </p:nvGraphicFramePr>
        <p:xfrm>
          <a:off x="1403796" y="1719867"/>
          <a:ext cx="9401577" cy="567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9765"/>
                <a:gridCol w="2244095"/>
                <a:gridCol w="1889765"/>
                <a:gridCol w="3377952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800" u="none" strike="noStrike" dirty="0" smtClean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Decimal</a:t>
                      </a:r>
                      <a:endParaRPr lang="es-MX" sz="18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b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8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Hexadecimal</a:t>
                      </a:r>
                      <a:endParaRPr lang="es-MX" sz="18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b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8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Octal</a:t>
                      </a:r>
                      <a:endParaRPr lang="es-MX" sz="18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b">
                    <a:solidFill>
                      <a:srgbClr val="3737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800" u="none" strike="noStrike" dirty="0" smtClean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Binaria </a:t>
                      </a:r>
                      <a:endParaRPr lang="es-MX" sz="1800" b="0" i="0" u="none" strike="noStrike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b">
                    <a:solidFill>
                      <a:srgbClr val="37373B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800" u="none" strike="noStrike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62080</a:t>
                      </a:r>
                      <a:endParaRPr lang="es-MX" sz="1800" b="0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800" u="none" strike="noStrike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0xf280</a:t>
                      </a:r>
                      <a:endParaRPr lang="es-MX" sz="1800" b="0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800" u="none" strike="noStrike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0o171200</a:t>
                      </a:r>
                      <a:endParaRPr lang="es-MX" sz="1800" b="0" i="0" u="none" strike="noStrike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800" u="none" strike="noStrike" dirty="0" smtClean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0b1111001010000000</a:t>
                      </a:r>
                      <a:endParaRPr lang="es-MX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1" name="CuadroTexto 10"/>
          <p:cNvSpPr txBox="1"/>
          <p:nvPr/>
        </p:nvSpPr>
        <p:spPr>
          <a:xfrm>
            <a:off x="410840" y="2804681"/>
            <a:ext cx="117811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&gt;&gt;&gt; hex(62080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 #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convierte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un 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número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a base Hexadecimal</a:t>
            </a:r>
            <a:endParaRPr lang="en-US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'0xf280'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&gt;&gt;&gt; bin(62080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 #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convierte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un </a:t>
            </a:r>
            <a:r>
              <a:rPr lang="en-US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número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 base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</a:t>
            </a:r>
            <a:r>
              <a:rPr lang="en-US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inaria</a:t>
            </a:r>
            <a:endParaRPr lang="en-US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'0b1111001010000000'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&gt;&gt;&gt;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oct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(62080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#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convierte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un </a:t>
            </a:r>
            <a:r>
              <a:rPr lang="en-US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número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 base 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Octal</a:t>
            </a:r>
            <a:endParaRPr lang="en-US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'0o171200'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&gt;&gt;&gt;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(0xf280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)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#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convierte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un </a:t>
            </a:r>
            <a:r>
              <a:rPr lang="en-US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número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 base 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Decimal</a:t>
            </a:r>
            <a:endParaRPr lang="en-US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62080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&gt;&gt;&gt; </a:t>
            </a:r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6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Descripción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7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pic>
        <p:nvPicPr>
          <p:cNvPr id="1026" name="Picture 2" descr="Block diagram of an I2C syste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250" y="3286937"/>
            <a:ext cx="4633500" cy="278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protocolo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I2C permite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que múltiples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"esclavos"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comuniquen con uno o más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maestros“, con el uso de 2 hilos.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SDA, medio donde viaja la información.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SCL, medio por donde viaja la señal de reloj.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Pines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8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/>
          <a:srcRect l="4930" t="11928" r="58247" b="11135"/>
          <a:stretch/>
        </p:blipFill>
        <p:spPr>
          <a:xfrm>
            <a:off x="4229848" y="1652166"/>
            <a:ext cx="3731554" cy="438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0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Habilitar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9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Para habilitar el Uso de I2C en nuestra Raspebrry es necesario realizar los siguientes pasos: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Ingresar a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raspi-config</a:t>
            </a:r>
            <a:endParaRPr lang="es-MX" dirty="0" smtClean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Seleccionamos la opción “5 Interfacing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options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Seleccionamos la opción “P5 I2C”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Nos preguntara si queremos habilitar la comunicación I2C y responderemos que si.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Nos confirma que ha sido habilitado la conexión I2C y salimos de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raspi-config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Reiniciamos nuestra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Pi.</a:t>
            </a:r>
          </a:p>
          <a:p>
            <a:pPr marL="342900" indent="-342900" algn="just">
              <a:buFont typeface="+mj-lt"/>
              <a:buAutoNum type="arabicPeriod"/>
            </a:pP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Librerías y/o Paquetes Necesarios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10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Para hacer uso de I2C desde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Raspbian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es necesario hacer uso del paquete i2c-tolos, lo instalamos con al siguientes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instruccuion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apt-get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install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i2c-tools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De igual manera en Python   es necesario instalar la  librería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smbus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sudo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apt-get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install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python-smbus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python3-smbus</a:t>
            </a:r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56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 continuación veremos como trabajar con I2C desde la línea de comandos. Lo primero que podemos hacer es descubrir qué interfaces I2C tenemos disponibles: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pi@raspi_eder</a:t>
            </a:r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:~ $ </a:t>
            </a:r>
            <a:r>
              <a:rPr lang="es-MX" b="1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i2cdetect -l</a:t>
            </a:r>
          </a:p>
          <a:p>
            <a:pPr algn="just"/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i2c-1   i2c             bcm2835 I2C </a:t>
            </a:r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adapter</a:t>
            </a:r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                    I2C </a:t>
            </a:r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adapter</a:t>
            </a:r>
            <a:endParaRPr lang="es-MX" dirty="0" smtClean="0">
              <a:latin typeface="Courier New" pitchFamily="49" charset="0"/>
              <a:ea typeface="Roboto" panose="02000000000000000000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Solo nos aparece una interfaz I2C (i2c-1). Ahora podemos mirar qué dispositivos hay conectados en el bus.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pi@raspi_eder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:~ $ </a:t>
            </a:r>
            <a:r>
              <a:rPr lang="pt-BR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i2cdetect -y 1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0  1  2  3  4  5  6  7  8  9  a  b  c  d  e  f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00:          -- -- -- -- -- -- -- -- -- -- -- -- --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10: -- -- -- -- -- -- -- -- -- -- -- -- -- -- -- --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20: -- -- -- -- -- -- -- -- -- -- -- -- -- -- -- --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30: -- -- -- -- -- -- -- -- -- -- -- -- -- -- -- --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40: -- -- -- -- -- -- -- -- -- -- -- -- -- -- -- --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50: -- -- -- -- -- -- -- -- -- -- -- -- -- -- -- --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60: -- -- -- -- -- -- -- -- </a:t>
            </a:r>
            <a:r>
              <a:rPr lang="pt-BR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68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-- -- -- -- -- -- --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70: -- -- -- -- -- -- -- --</a:t>
            </a:r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Ya podemos leer y escribir en cualquiera de los dispositivos I2C conectados. Para leer podemos utilizar 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i2cget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y para escribir podemos usar 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i2cset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: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pi@raspi_eder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:~ $ </a:t>
            </a:r>
            <a:r>
              <a:rPr lang="es-MX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i2cget -y 1 0x68 117</a:t>
            </a:r>
          </a:p>
          <a:p>
            <a:pPr algn="just"/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0x68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Hemos leído el registro 117 del dispositivo con dirección 0x68 del bus i2c-1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62156" y="3856759"/>
            <a:ext cx="10356850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Rectángulo"/>
          <p:cNvSpPr/>
          <p:nvPr/>
        </p:nvSpPr>
        <p:spPr>
          <a:xfrm>
            <a:off x="923636" y="4867565"/>
            <a:ext cx="10224655" cy="3417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Vamos a leer el registro 107,  para detectar en que modo esta nuestro MPU6050,   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l-PL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pi@raspi_eder:~ $ </a:t>
            </a:r>
            <a:r>
              <a:rPr lang="pl-PL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i2cget -y 1 0x68 107</a:t>
            </a:r>
          </a:p>
          <a:p>
            <a:pPr algn="just"/>
            <a:r>
              <a:rPr lang="pl-PL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0x40</a:t>
            </a:r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Eso significa que está puesto a uno el bit 6, que corresponde con el modo SLEEP. El dispositivo arranca en modo dormido para no consumir batería, tenemos que despertarlo quitando ese bit: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l-PL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pi@raspi_eder:~ $ </a:t>
            </a:r>
            <a:r>
              <a:rPr lang="pl-PL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i2cset -y 1 0x68 107 0</a:t>
            </a:r>
          </a:p>
        </p:txBody>
      </p:sp>
      <p:grpSp>
        <p:nvGrpSpPr>
          <p:cNvPr id="13" name="12 Grupo"/>
          <p:cNvGrpSpPr/>
          <p:nvPr/>
        </p:nvGrpSpPr>
        <p:grpSpPr>
          <a:xfrm>
            <a:off x="930563" y="4616707"/>
            <a:ext cx="10208780" cy="1044864"/>
            <a:chOff x="930563" y="3803939"/>
            <a:chExt cx="10208780" cy="1044864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960293" y="3803939"/>
              <a:ext cx="10179050" cy="654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930563" y="4410653"/>
              <a:ext cx="10109200" cy="438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Vamos a leer la última medida de la temperatura. La medida está en los </a:t>
            </a:r>
            <a:r>
              <a:rPr lang="es-MX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regstros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65 y 66, pero si leemos los dos registros de forma independiente podemos estar leyendo parte de la temperatura de una medida y otra parte de otra medida. Por eso hay que leer los dos registros de golpe, haciendo una transferencia de 16 bits (modo palabra):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l-PL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pi@raspi_eder:~ $ </a:t>
            </a:r>
            <a:r>
              <a:rPr lang="pl-PL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i2cget -y 1 0x68 65 w</a:t>
            </a:r>
          </a:p>
          <a:p>
            <a:pPr algn="just"/>
            <a:r>
              <a:rPr lang="pl-PL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0x80f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Ya tenemos lecturas de temperatura. Pero es muy importante interpretarlas bien. I2C es un protocolo orientado a bytes. Se transfiere byte a byte. Al transferir una palabra por I2C el ordenador entiende que primero llega el byte bajo y luego el alto. Este convenio se llama </a:t>
            </a:r>
            <a:r>
              <a:rPr lang="es-MX" i="1" dirty="0" err="1" smtClean="0">
                <a:latin typeface="Roboto" panose="02000000000000000000" pitchFamily="2" charset="0"/>
                <a:ea typeface="Roboto" panose="02000000000000000000" pitchFamily="2" charset="0"/>
              </a:rPr>
              <a:t>little-endian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 y es el dominante hoy en día. Sin embargo si vemos el mapa de registros veremos que la dirección 65 corresponde al byte alto y el 66 al byte bajo. ¡Por tanto los bytes están cambiados! La lectura hay que interpretarla como </a:t>
            </a:r>
            <a:r>
              <a:rPr lang="pl-PL" dirty="0" smtClean="0">
                <a:latin typeface="Roboto" panose="02000000000000000000" pitchFamily="2" charset="0"/>
                <a:ea typeface="Roboto" panose="02000000000000000000" pitchFamily="2" charset="0"/>
                <a:cs typeface="Courier New" pitchFamily="49" charset="0"/>
              </a:rPr>
              <a:t>0x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itchFamily="49" charset="0"/>
              </a:rPr>
              <a:t>f280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 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82775" y="3507220"/>
            <a:ext cx="842645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17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Vamos a ver cómo podemos hacerlo con la </a:t>
            </a:r>
            <a:r>
              <a:rPr lang="es-MX" dirty="0" err="1" smtClean="0"/>
              <a:t>shell</a:t>
            </a:r>
            <a:r>
              <a:rPr lang="es-MX" dirty="0" smtClean="0"/>
              <a:t>:</a:t>
            </a:r>
          </a:p>
          <a:p>
            <a:pPr algn="just"/>
            <a:endParaRPr lang="es-MX" dirty="0" smtClean="0"/>
          </a:p>
          <a:p>
            <a:pPr algn="just"/>
            <a:r>
              <a:rPr lang="es-MX" dirty="0" err="1" smtClean="0">
                <a:latin typeface="Courier New" pitchFamily="49" charset="0"/>
                <a:cs typeface="Courier New" pitchFamily="49" charset="0"/>
              </a:rPr>
              <a:t>pi@raspi_eder</a:t>
            </a:r>
            <a:r>
              <a:rPr lang="es-MX" dirty="0" smtClean="0">
                <a:latin typeface="Courier New" pitchFamily="49" charset="0"/>
                <a:cs typeface="Courier New" pitchFamily="49" charset="0"/>
              </a:rPr>
              <a:t>:~ $ </a:t>
            </a:r>
            <a:r>
              <a:rPr lang="es-MX" b="1" dirty="0" smtClean="0">
                <a:latin typeface="Courier New" pitchFamily="49" charset="0"/>
                <a:cs typeface="Courier New" pitchFamily="49" charset="0"/>
              </a:rPr>
              <a:t>TEMP=$(i2cget -y 1 0x68 65 w)</a:t>
            </a:r>
          </a:p>
          <a:p>
            <a:pPr algn="just"/>
            <a:r>
              <a:rPr lang="es-MX" dirty="0" err="1" smtClean="0">
                <a:latin typeface="Courier New" pitchFamily="49" charset="0"/>
                <a:cs typeface="Courier New" pitchFamily="49" charset="0"/>
              </a:rPr>
              <a:t>pi@raspi_eder</a:t>
            </a:r>
            <a:r>
              <a:rPr lang="es-MX" dirty="0" smtClean="0">
                <a:latin typeface="Courier New" pitchFamily="49" charset="0"/>
                <a:cs typeface="Courier New" pitchFamily="49" charset="0"/>
              </a:rPr>
              <a:t>:~ $ </a:t>
            </a:r>
            <a:r>
              <a:rPr lang="es-MX" b="1" dirty="0" smtClean="0">
                <a:latin typeface="Courier New" pitchFamily="49" charset="0"/>
                <a:cs typeface="Courier New" pitchFamily="49" charset="0"/>
              </a:rPr>
              <a:t>echo $TEMP</a:t>
            </a:r>
          </a:p>
          <a:p>
            <a:pPr algn="just"/>
            <a:r>
              <a:rPr lang="es-MX" dirty="0" smtClean="0">
                <a:latin typeface="Courier New" pitchFamily="49" charset="0"/>
                <a:cs typeface="Courier New" pitchFamily="49" charset="0"/>
              </a:rPr>
              <a:t>0x80f2</a:t>
            </a:r>
          </a:p>
          <a:p>
            <a:pPr algn="just"/>
            <a:r>
              <a:rPr lang="es-MX" dirty="0" err="1" smtClean="0">
                <a:latin typeface="Courier New" pitchFamily="49" charset="0"/>
                <a:cs typeface="Courier New" pitchFamily="49" charset="0"/>
              </a:rPr>
              <a:t>pi@raspi_eder</a:t>
            </a:r>
            <a:r>
              <a:rPr lang="es-MX" dirty="0" smtClean="0">
                <a:latin typeface="Courier New" pitchFamily="49" charset="0"/>
                <a:cs typeface="Courier New" pitchFamily="49" charset="0"/>
              </a:rPr>
              <a:t>:~ $ </a:t>
            </a:r>
            <a:r>
              <a:rPr lang="es-MX" b="1" dirty="0" smtClean="0">
                <a:latin typeface="Courier New" pitchFamily="49" charset="0"/>
                <a:cs typeface="Courier New" pitchFamily="49" charset="0"/>
              </a:rPr>
              <a:t>TEMP2=$(echo "0x${TEMP:4:2}${TEMP:2:2}")</a:t>
            </a:r>
          </a:p>
          <a:p>
            <a:pPr algn="just"/>
            <a:r>
              <a:rPr lang="es-MX" dirty="0" err="1" smtClean="0">
                <a:latin typeface="Courier New" pitchFamily="49" charset="0"/>
                <a:cs typeface="Courier New" pitchFamily="49" charset="0"/>
              </a:rPr>
              <a:t>pi@raspi_eder</a:t>
            </a:r>
            <a:r>
              <a:rPr lang="es-MX" dirty="0" smtClean="0">
                <a:latin typeface="Courier New" pitchFamily="49" charset="0"/>
                <a:cs typeface="Courier New" pitchFamily="49" charset="0"/>
              </a:rPr>
              <a:t>:~ $ </a:t>
            </a:r>
            <a:r>
              <a:rPr lang="es-MX" b="1" dirty="0" smtClean="0">
                <a:latin typeface="Courier New" pitchFamily="49" charset="0"/>
                <a:cs typeface="Courier New" pitchFamily="49" charset="0"/>
              </a:rPr>
              <a:t>echo $TEMP2</a:t>
            </a:r>
          </a:p>
          <a:p>
            <a:pPr algn="just"/>
            <a:r>
              <a:rPr lang="es-MX" dirty="0" smtClean="0">
                <a:latin typeface="Courier New" pitchFamily="49" charset="0"/>
                <a:cs typeface="Courier New" pitchFamily="49" charset="0"/>
              </a:rPr>
              <a:t>0xf280</a:t>
            </a:r>
          </a:p>
          <a:p>
            <a:pPr algn="just"/>
            <a:endParaRPr lang="es-MX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Vamos a hacer la transformación completa a una temperatura en grados Celsius: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pi@raspi_eder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:~ $ </a:t>
            </a:r>
            <a:r>
              <a:rPr lang="es-MX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echo "$(($TEMP2 - 0x10000))/340 + 36.53" | </a:t>
            </a:r>
            <a:r>
              <a:rPr lang="es-MX" b="1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bc</a:t>
            </a:r>
            <a:r>
              <a:rPr lang="es-MX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-l</a:t>
            </a:r>
          </a:p>
          <a:p>
            <a:pPr algn="just"/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26.36529411764705882353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18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Courier New" pitchFamily="49" charset="0"/>
                <a:cs typeface="Courier New" pitchFamily="49" charset="0"/>
              </a:rPr>
              <a:t>0xf280  =  62,080 </a:t>
            </a:r>
          </a:p>
          <a:p>
            <a:pPr algn="just"/>
            <a:r>
              <a:rPr lang="fr-FR" dirty="0" smtClean="0">
                <a:latin typeface="Courier New" pitchFamily="49" charset="0"/>
                <a:cs typeface="Courier New" pitchFamily="49" charset="0"/>
              </a:rPr>
              <a:t>0x10000 =  65,536</a:t>
            </a:r>
          </a:p>
          <a:p>
            <a:pPr algn="just"/>
            <a:r>
              <a:rPr lang="fr-FR" dirty="0" smtClean="0">
                <a:latin typeface="Courier New" pitchFamily="49" charset="0"/>
                <a:cs typeface="Courier New" pitchFamily="49" charset="0"/>
              </a:rPr>
              <a:t>0xf280 – 0x10000 = 62,080 – 65,536</a:t>
            </a:r>
          </a:p>
          <a:p>
            <a:pPr algn="just"/>
            <a:r>
              <a:rPr lang="fr-FR" dirty="0" smtClean="0">
                <a:latin typeface="Courier New" pitchFamily="49" charset="0"/>
                <a:cs typeface="Courier New" pitchFamily="49" charset="0"/>
              </a:rPr>
              <a:t>                =  -3,456 / 340 </a:t>
            </a:r>
          </a:p>
          <a:p>
            <a:pPr algn="just"/>
            <a:r>
              <a:rPr lang="fr-FR" dirty="0" smtClean="0">
                <a:latin typeface="Courier New" pitchFamily="49" charset="0"/>
                <a:cs typeface="Courier New" pitchFamily="49" charset="0"/>
              </a:rPr>
              <a:t>                =  -10.16470588235294 + 36.53</a:t>
            </a:r>
          </a:p>
          <a:p>
            <a:pPr algn="just"/>
            <a:r>
              <a:rPr lang="fr-FR" dirty="0" smtClean="0">
                <a:latin typeface="Courier New" pitchFamily="49" charset="0"/>
                <a:cs typeface="Courier New" pitchFamily="49" charset="0"/>
              </a:rPr>
              <a:t>                =  26.36529411764706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66668" y="3771323"/>
            <a:ext cx="9156700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19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47511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import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smbus</a:t>
            </a:r>
            <a:endParaRPr lang="es-MX" sz="1300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import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time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power_1 = 0x6b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power_2 = 0x6c</a:t>
            </a:r>
          </a:p>
          <a:p>
            <a:pPr algn="just"/>
            <a:endParaRPr lang="es-MX" sz="1300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def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read_word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dir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):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high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=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bus.read_byte_data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direccion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,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dir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)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low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=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bus.read_byte_data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direccion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, dir+1)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val = (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high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&lt;&lt; 8) +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low</a:t>
            </a:r>
            <a:endParaRPr lang="es-MX" sz="1300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return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val</a:t>
            </a:r>
          </a:p>
          <a:p>
            <a:pPr algn="just"/>
            <a:endParaRPr lang="es-MX" sz="1300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def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read_word_2c(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dir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):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val =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read_word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dir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)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if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(val &gt;= 0x8000):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return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-((65535 - val)+1)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else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: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return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val</a:t>
            </a:r>
          </a:p>
          <a:p>
            <a:pPr algn="just"/>
            <a:endParaRPr lang="es-MX" sz="1300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</p:txBody>
      </p:sp>
      <p:sp>
        <p:nvSpPr>
          <p:cNvPr id="13" name="CuadroTexto 11"/>
          <p:cNvSpPr txBox="1"/>
          <p:nvPr/>
        </p:nvSpPr>
        <p:spPr>
          <a:xfrm>
            <a:off x="6484667" y="1697090"/>
            <a:ext cx="449249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bus =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smbus.SMBus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(1)</a:t>
            </a:r>
          </a:p>
          <a:p>
            <a:pPr algn="just"/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direccion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= 0x68</a:t>
            </a:r>
          </a:p>
          <a:p>
            <a:pPr algn="just"/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bus.write_byte_data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direccion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, power_1, 0)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try: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while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True: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temp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= read_word_2c(0x41)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print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temp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)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print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("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Temp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: ",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temp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/ 340 + 36.53)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time.sleep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(0.5)</a:t>
            </a:r>
          </a:p>
          <a:p>
            <a:pPr algn="just"/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except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KeyboardInterrupt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: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print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("Programa finalizado por el usuario")</a:t>
            </a:r>
          </a:p>
          <a:p>
            <a:pPr algn="just"/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finally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:</a:t>
            </a:r>
          </a:p>
          <a:p>
            <a:pPr algn="just"/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print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("Salida con </a:t>
            </a:r>
            <a:r>
              <a:rPr lang="es-MX" sz="1300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exito</a:t>
            </a:r>
            <a:r>
              <a:rPr lang="es-MX" sz="1300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20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La orden i2cdump permite leer de una ráfaga un conjunto de registros. Leemos de golpe desde el registro 61 hasta el 72. Corresponden a las lecturas de (por orden):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pi@raspi_eder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:~ $ </a:t>
            </a:r>
            <a:r>
              <a:rPr lang="pt-BR" b="1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i2cdump -y -r 59-72 1 0x68 b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0  1  2  3  4  5  6  7  8  9  a  b  c  d  e  f    0123456789abcdef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30:                                  d1 28 f7 2c 25               ?(?,%</a:t>
            </a: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40: d4 f2 90 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fe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e7 00 d5 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ff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dd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                     ?????.?.?</a:t>
            </a:r>
          </a:p>
          <a:p>
            <a:r>
              <a:rPr lang="es-MX" dirty="0" smtClean="0"/>
              <a:t>Acelerómetro.</a:t>
            </a:r>
          </a:p>
          <a:p>
            <a:pPr lvl="1"/>
            <a:r>
              <a:rPr lang="es-MX" dirty="0" smtClean="0"/>
              <a:t>Aceleración en X: 0xd128</a:t>
            </a:r>
          </a:p>
          <a:p>
            <a:pPr lvl="1"/>
            <a:r>
              <a:rPr lang="es-MX" dirty="0" smtClean="0"/>
              <a:t>Aceleración en Y: 0xf72c</a:t>
            </a:r>
          </a:p>
          <a:p>
            <a:pPr lvl="1"/>
            <a:r>
              <a:rPr lang="es-MX" dirty="0" smtClean="0"/>
              <a:t>Aceleración en Z: 0x25d4</a:t>
            </a:r>
          </a:p>
          <a:p>
            <a:r>
              <a:rPr lang="es-MX" dirty="0" smtClean="0"/>
              <a:t>Temperatura: 0xf290.</a:t>
            </a:r>
          </a:p>
          <a:p>
            <a:r>
              <a:rPr lang="es-MX" dirty="0" smtClean="0"/>
              <a:t>Giróscopo:</a:t>
            </a:r>
          </a:p>
          <a:p>
            <a:pPr lvl="1"/>
            <a:r>
              <a:rPr lang="es-MX" dirty="0" smtClean="0"/>
              <a:t>Rotación en X: 0xfee7</a:t>
            </a:r>
          </a:p>
          <a:p>
            <a:pPr lvl="1"/>
            <a:r>
              <a:rPr lang="es-MX" dirty="0" smtClean="0"/>
              <a:t>Rotación en Y: 0x00d5</a:t>
            </a:r>
          </a:p>
          <a:p>
            <a:pPr lvl="1"/>
            <a:r>
              <a:rPr lang="es-MX" dirty="0" smtClean="0"/>
              <a:t>Rotación en Z: 0xffdd</a:t>
            </a:r>
          </a:p>
        </p:txBody>
      </p:sp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I2C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24918CA-2558-4822-B6CC-719287252A11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00100" y="1707288"/>
            <a:ext cx="10591800" cy="431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23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SPI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Descripción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EF95C03E-0AED-40E1-A56A-EF10B8B8A236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Dentro de este protocolo se define un maestro que será aquel dispositivo encargado de transmitir información a sus esclavos. El SPI es un protocolo síncrono que trabaja en modo full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duplex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 Hace uso de 4 hilos.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Master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Out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Slave In (MOSI)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Master In Slave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Out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(MISO)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Señal de reloj compartida (CLK)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CEn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(Chip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Enable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). Una o varias señales de selección de destino activas a nivel bajo.</a:t>
            </a:r>
          </a:p>
        </p:txBody>
      </p:sp>
      <p:pic>
        <p:nvPicPr>
          <p:cNvPr id="11266" name="Picture 2" descr="Resultado de imagen para sp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0" y="3860285"/>
            <a:ext cx="2831720" cy="217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36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SPI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Pines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EF95C03E-0AED-40E1-A56A-EF10B8B8A236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/>
          <a:srcRect l="5127" t="12993" r="58248" b="6957"/>
          <a:stretch/>
        </p:blipFill>
        <p:spPr>
          <a:xfrm>
            <a:off x="4185635" y="1640052"/>
            <a:ext cx="3822583" cy="445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9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SPI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Habilitar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F02710A7-565A-4BA7-90AF-96921F2DB5CD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Para habilitar el Uso de I2C en nuestra Raspebrry es necesario realizar los siguientes pasos: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Ingresar a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raspi-config</a:t>
            </a:r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Seleccionamos la opción “5 Interfacing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</a:rPr>
              <a:t>options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”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Seleccionamos la opción “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A6 SPI”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Nos preguntara si queremos habilitar la comunicación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SPI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y responderemos que si</a:t>
            </a:r>
          </a:p>
        </p:txBody>
      </p:sp>
    </p:spTree>
    <p:extLst>
      <p:ext uri="{BB962C8B-B14F-4D97-AF65-F5344CB8AC3E}">
        <p14:creationId xmlns:p14="http://schemas.microsoft.com/office/powerpoint/2010/main" val="44968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SPI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BCAD2959-8420-4D5A-B210-43F44D3071F3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A continuación veremos hacer uso del protocolo ISP 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9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1-Wire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Descripción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86E9E7D5-F807-44E6-A2AF-FD6C6616A6A0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protocolo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I2C permite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que múltiples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"esclavos"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comuniquen con uno o más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maestros“, con el uso de 2 hilos.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32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1-Wire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Pines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86E9E7D5-F807-44E6-A2AF-FD6C6616A6A0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27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/>
          <a:srcRect l="5128" t="12436" r="63396" b="6400"/>
          <a:stretch/>
        </p:blipFill>
        <p:spPr>
          <a:xfrm>
            <a:off x="4419430" y="1521296"/>
            <a:ext cx="3349538" cy="460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9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1-Wire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Habilitar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FD8A48-DD4C-4342-ADBF-D5B0B3D07557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28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protocolo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I2C permite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que múltiples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"esclavos"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comuniquen con uno o más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maestros“, con el uso de 2 hilos.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07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1-Wire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BE45028A-447B-4E0D-8096-C49E300CDCAF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29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protocolo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I2C permite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que múltiples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"esclavos"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comuniquen con uno o más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maestros“, con el uso de 2 hilos.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02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UART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Descripción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4FC4C4E0-1A8B-4A41-B752-F8D4BBA64DC0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30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protocolo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I2C permite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que múltiples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"esclavos"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comuniquen con uno o más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maestros“, con el uso de 2 hilos.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29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UART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Pines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4FC4C4E0-1A8B-4A41-B752-F8D4BBA64DC0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31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/>
          <a:srcRect l="5226" t="12104" r="57952" b="14129"/>
          <a:stretch/>
        </p:blipFill>
        <p:spPr>
          <a:xfrm>
            <a:off x="4150006" y="1652166"/>
            <a:ext cx="3891859" cy="438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2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UART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Habilitar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BC7BFD6-D3E9-47EF-8F18-1EED6E9F3E52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32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protocolo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I2C permite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que múltiples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"esclavos"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comuniquen con uno o más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maestros“, con el uso de 2 hilos.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76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 smtClean="0">
                <a:latin typeface="Roboto" panose="02000000000000000000" pitchFamily="2" charset="0"/>
                <a:ea typeface="Roboto" panose="02000000000000000000" pitchFamily="2" charset="0"/>
              </a:rPr>
              <a:t>UART</a:t>
            </a:r>
            <a:endParaRPr lang="es-MX" sz="4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Ejemplos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1EFD5633-4142-40AF-8D89-19656B72B85E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33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73465" y="1738648"/>
            <a:ext cx="1178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protocolo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I2C permite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que múltiples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"esclavos"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comuniquen con uno o más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dispositivos 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"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maestros“, con el uso de 2 hilos.</a:t>
            </a:r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44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1708</Words>
  <Application>Microsoft Office PowerPoint</Application>
  <PresentationFormat>Panorámica</PresentationFormat>
  <Paragraphs>301</Paragraphs>
  <Slides>33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Roboto</vt:lpstr>
      <vt:lpstr>Roboto Slab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Eder Carmona Armijo</dc:creator>
  <cp:lastModifiedBy>Eder Carmona Armijo</cp:lastModifiedBy>
  <cp:revision>77</cp:revision>
  <dcterms:created xsi:type="dcterms:W3CDTF">2017-09-11T16:28:37Z</dcterms:created>
  <dcterms:modified xsi:type="dcterms:W3CDTF">2017-10-04T17:14:54Z</dcterms:modified>
</cp:coreProperties>
</file>