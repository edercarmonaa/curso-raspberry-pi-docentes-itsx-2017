
<file path=[Content_Types].xml><?xml version="1.0" encoding="utf-8"?>
<Types xmlns="http://schemas.openxmlformats.org/package/2006/content-types">
  <Default Extension="png" ContentType="image/png"/>
  <Default Extension="emf" ContentType="image/x-emf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8"/>
  </p:notesMasterIdLst>
  <p:handoutMasterIdLst>
    <p:handoutMasterId r:id="rId19"/>
  </p:handoutMasterIdLst>
  <p:sldIdLst>
    <p:sldId id="256" r:id="rId2"/>
    <p:sldId id="275" r:id="rId3"/>
    <p:sldId id="276" r:id="rId4"/>
    <p:sldId id="277" r:id="rId5"/>
    <p:sldId id="278" r:id="rId6"/>
    <p:sldId id="279" r:id="rId7"/>
    <p:sldId id="280" r:id="rId8"/>
    <p:sldId id="281" r:id="rId9"/>
    <p:sldId id="282" r:id="rId10"/>
    <p:sldId id="283" r:id="rId11"/>
    <p:sldId id="284" r:id="rId12"/>
    <p:sldId id="285" r:id="rId13"/>
    <p:sldId id="286" r:id="rId14"/>
    <p:sldId id="287" r:id="rId15"/>
    <p:sldId id="288" r:id="rId16"/>
    <p:sldId id="289" r:id="rId17"/>
  </p:sldIdLst>
  <p:sldSz cx="12192000" cy="6858000"/>
  <p:notesSz cx="6858000" cy="9144000"/>
  <p:defaultTextStyle>
    <a:defPPr>
      <a:defRPr lang="es-MX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83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37373B"/>
    <a:srgbClr val="C51A4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3296810-A885-4BE3-A3E7-6D5BEEA58F35}" styleName="Estilo medio 2 - Énfasis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5940675A-B579-460E-94D1-54222C63F5DA}" styleName="Sin estilo, cuadrícula de la tabla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2D5ABB26-0587-4C30-8999-92F81FD0307C}" styleName="Sin estilo ni cuadrícula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00" autoAdjust="0"/>
    <p:restoredTop sz="94660"/>
  </p:normalViewPr>
  <p:slideViewPr>
    <p:cSldViewPr snapToGrid="0" showGuides="1">
      <p:cViewPr varScale="1">
        <p:scale>
          <a:sx n="74" d="100"/>
          <a:sy n="74" d="100"/>
        </p:scale>
        <p:origin x="576" y="72"/>
      </p:cViewPr>
      <p:guideLst>
        <p:guide orient="horz" pos="2183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handoutMaster" Target="handoutMasters/handout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MX"/>
          </a:p>
        </p:txBody>
      </p:sp>
      <p:sp>
        <p:nvSpPr>
          <p:cNvPr id="3" name="Marcador de fecha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FAD595D-6ADA-47EC-8AFF-E42DEE086B53}" type="datetimeFigureOut">
              <a:rPr lang="es-MX" smtClean="0"/>
              <a:t>25/09/2017</a:t>
            </a:fld>
            <a:endParaRPr lang="es-MX"/>
          </a:p>
        </p:txBody>
      </p:sp>
      <p:sp>
        <p:nvSpPr>
          <p:cNvPr id="4" name="Marcador de pie de página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MX"/>
          </a:p>
        </p:txBody>
      </p:sp>
      <p:sp>
        <p:nvSpPr>
          <p:cNvPr id="5" name="Marcador de número de diapositiva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7CBB111-9DC4-4281-85E0-A3EAC63B8C2D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4167860464"/>
      </p:ext>
    </p:extLst>
  </p:cSld>
  <p:clrMap bg1="lt1" tx1="dk1" bg2="lt2" tx2="dk2" accent1="accent1" accent2="accent2" accent3="accent3" accent4="accent4" accent5="accent5" accent6="accent6" hlink="hlink" folHlink="folHlink"/>
  <p:hf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MX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96A91E-C94D-49A9-9B2B-E0C2416869C8}" type="datetimeFigureOut">
              <a:rPr lang="es-MX" smtClean="0"/>
              <a:t>25/09/2017</a:t>
            </a:fld>
            <a:endParaRPr lang="es-MX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MX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MX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MX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9057BBA-5D9E-49F1-9D08-ED51D95EEB31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665546944"/>
      </p:ext>
    </p:extLst>
  </p:cSld>
  <p:clrMap bg1="lt1" tx1="dk1" bg2="lt2" tx2="dk2" accent1="accent1" accent2="accent2" accent3="accent3" accent4="accent4" accent5="accent5" accent6="accent6" hlink="hlink" folHlink="folHlink"/>
  <p:hf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4" name="Marcador de encabezado 3"/>
          <p:cNvSpPr>
            <a:spLocks noGrp="1"/>
          </p:cNvSpPr>
          <p:nvPr>
            <p:ph type="hdr" sz="quarter" idx="10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5" name="Marcador de número de diapositiva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29057BBA-5D9E-49F1-9D08-ED51D95EEB31}" type="slidenum">
              <a:rPr lang="es-MX" smtClean="0"/>
              <a:t>1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64181983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 smtClean="0"/>
              <a:t>Haga clic para modificar el estilo de título del patrón</a:t>
            </a:r>
            <a:endParaRPr lang="es-MX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 smtClean="0"/>
              <a:t>Haga clic para modificar el estilo de subtítulo del patrón</a:t>
            </a:r>
            <a:endParaRPr lang="es-MX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39E36A-411C-47D8-ACCE-3C164CD9D6AA}" type="datetime1">
              <a:rPr lang="es-MX" smtClean="0"/>
              <a:t>25/09/2017</a:t>
            </a:fld>
            <a:endParaRPr lang="es-MX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6436AF-5312-4EEF-92FF-CDEF81EDE116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53424205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MX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MX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420AD3-9CA8-416C-A5B1-ED9046883CFE}" type="datetime1">
              <a:rPr lang="es-MX" smtClean="0"/>
              <a:t>25/09/2017</a:t>
            </a:fld>
            <a:endParaRPr lang="es-MX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6436AF-5312-4EEF-92FF-CDEF81EDE116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71156126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 smtClean="0"/>
              <a:t>Haga clic para modificar el estilo de título del patrón</a:t>
            </a:r>
            <a:endParaRPr lang="es-MX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096DF2-A570-4A38-BB2D-BC3C65B33F9B}" type="datetime1">
              <a:rPr lang="es-MX" smtClean="0"/>
              <a:t>25/09/2017</a:t>
            </a:fld>
            <a:endParaRPr lang="es-MX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6436AF-5312-4EEF-92FF-CDEF81EDE116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43628171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MX"/>
          </a:p>
        </p:txBody>
      </p:sp>
      <p:sp>
        <p:nvSpPr>
          <p:cNvPr id="3" name="Marcador de contenido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MX"/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MX"/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A55884-5635-4B1E-A887-34B4E794DA22}" type="datetime1">
              <a:rPr lang="es-MX" smtClean="0"/>
              <a:t>25/09/2017</a:t>
            </a:fld>
            <a:endParaRPr lang="es-MX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6436AF-5312-4EEF-92FF-CDEF81EDE116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89650420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MX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MX"/>
          </a:p>
        </p:txBody>
      </p:sp>
      <p:sp>
        <p:nvSpPr>
          <p:cNvPr id="5" name="Marcador de texto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6" name="Marcador de contenido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MX"/>
          </a:p>
        </p:txBody>
      </p:sp>
      <p:sp>
        <p:nvSpPr>
          <p:cNvPr id="7" name="Marcador de fech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92F442-030F-459C-9563-0116AD35CEFF}" type="datetime1">
              <a:rPr lang="es-MX" smtClean="0"/>
              <a:t>25/09/2017</a:t>
            </a:fld>
            <a:endParaRPr lang="es-MX"/>
          </a:p>
        </p:txBody>
      </p:sp>
      <p:sp>
        <p:nvSpPr>
          <p:cNvPr id="8" name="Marcador de pie de página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9" name="Marcador de número de diapositiva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6436AF-5312-4EEF-92FF-CDEF81EDE116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47017596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MX"/>
          </a:p>
        </p:txBody>
      </p:sp>
      <p:sp>
        <p:nvSpPr>
          <p:cNvPr id="3" name="Marcador de fech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7311F3-FCC4-4DE7-B673-A5E2117FFF23}" type="datetime1">
              <a:rPr lang="es-MX" smtClean="0"/>
              <a:t>25/09/2017</a:t>
            </a:fld>
            <a:endParaRPr lang="es-MX"/>
          </a:p>
        </p:txBody>
      </p:sp>
      <p:sp>
        <p:nvSpPr>
          <p:cNvPr id="4" name="Marcador de pie de página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5" name="Marcador de número de diapositiva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6436AF-5312-4EEF-92FF-CDEF81EDE116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26446759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FFDF76-F74B-498A-8DC5-EE25277D9DA4}" type="datetime1">
              <a:rPr lang="es-MX" smtClean="0"/>
              <a:t>25/09/2017</a:t>
            </a:fld>
            <a:endParaRPr lang="es-MX"/>
          </a:p>
        </p:txBody>
      </p:sp>
      <p:sp>
        <p:nvSpPr>
          <p:cNvPr id="3" name="Marcador de pie de página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6436AF-5312-4EEF-92FF-CDEF81EDE116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91714316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 smtClean="0"/>
              <a:t>Haga clic para modificar el estilo de título del patrón</a:t>
            </a:r>
            <a:endParaRPr lang="es-MX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MX"/>
          </a:p>
        </p:txBody>
      </p:sp>
      <p:sp>
        <p:nvSpPr>
          <p:cNvPr id="4" name="Marcador de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8E60DA-2C31-4493-A7ED-6E75817DA356}" type="datetime1">
              <a:rPr lang="es-MX" smtClean="0"/>
              <a:t>25/09/2017</a:t>
            </a:fld>
            <a:endParaRPr lang="es-MX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6436AF-5312-4EEF-92FF-CDEF81EDE116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61275479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 smtClean="0"/>
              <a:t>Haga clic para modificar el estilo de título del patrón</a:t>
            </a:r>
            <a:endParaRPr lang="es-MX"/>
          </a:p>
        </p:txBody>
      </p:sp>
      <p:sp>
        <p:nvSpPr>
          <p:cNvPr id="3" name="Marcador de posición de imagen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MX"/>
          </a:p>
        </p:txBody>
      </p:sp>
      <p:sp>
        <p:nvSpPr>
          <p:cNvPr id="4" name="Marcador de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D57F4F-5B61-4FA5-A365-99ABB13024F5}" type="datetime1">
              <a:rPr lang="es-MX" smtClean="0"/>
              <a:t>25/09/2017</a:t>
            </a:fld>
            <a:endParaRPr lang="es-MX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6436AF-5312-4EEF-92FF-CDEF81EDE116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26532871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MX"/>
          </a:p>
        </p:txBody>
      </p:sp>
      <p:sp>
        <p:nvSpPr>
          <p:cNvPr id="3" name="Marcador de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MX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DF864D-821F-42FA-835B-45DC17C68805}" type="datetime1">
              <a:rPr lang="es-MX" smtClean="0"/>
              <a:t>25/09/2017</a:t>
            </a:fld>
            <a:endParaRPr lang="es-MX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6436AF-5312-4EEF-92FF-CDEF81EDE116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56261366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 smtClean="0"/>
              <a:t>Haga clic para modificar el estilo de título del patrón</a:t>
            </a:r>
            <a:endParaRPr lang="es-MX"/>
          </a:p>
        </p:txBody>
      </p:sp>
      <p:sp>
        <p:nvSpPr>
          <p:cNvPr id="3" name="Marcador de texto vertical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MX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E9A792-0025-4CF2-8934-47BE6364F86A}" type="datetime1">
              <a:rPr lang="es-MX" smtClean="0"/>
              <a:t>25/09/2017</a:t>
            </a:fld>
            <a:endParaRPr lang="es-MX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6436AF-5312-4EEF-92FF-CDEF81EDE116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22079597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 smtClean="0"/>
              <a:t>Haga clic para modificar el estilo de título del patrón</a:t>
            </a:r>
            <a:endParaRPr lang="es-MX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MX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0C31552-5C4C-415B-872B-81200BCFD054}" type="datetime1">
              <a:rPr lang="es-MX" smtClean="0"/>
              <a:t>25/09/2017</a:t>
            </a:fld>
            <a:endParaRPr lang="es-MX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MX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96436AF-5312-4EEF-92FF-CDEF81EDE116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2146626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MX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ángulo 5"/>
          <p:cNvSpPr/>
          <p:nvPr/>
        </p:nvSpPr>
        <p:spPr>
          <a:xfrm>
            <a:off x="7872000" y="0"/>
            <a:ext cx="4320000" cy="720000"/>
          </a:xfrm>
          <a:prstGeom prst="rect">
            <a:avLst/>
          </a:prstGeom>
          <a:solidFill>
            <a:srgbClr val="C51A4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fld id="{A7FA9133-ACFE-4DD5-9EEB-90E0F3C4BA55}" type="slidenum">
              <a:rPr lang="es-MX" smtClean="0">
                <a:latin typeface="Roboto" panose="02000000000000000000" pitchFamily="2" charset="0"/>
                <a:ea typeface="Roboto" panose="02000000000000000000" pitchFamily="2" charset="0"/>
              </a:rPr>
              <a:pPr algn="r"/>
              <a:t>1</a:t>
            </a:fld>
            <a:endParaRPr lang="es-MX" dirty="0"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sp>
        <p:nvSpPr>
          <p:cNvPr id="7" name="Rectángulo 6"/>
          <p:cNvSpPr/>
          <p:nvPr/>
        </p:nvSpPr>
        <p:spPr>
          <a:xfrm>
            <a:off x="0" y="6138000"/>
            <a:ext cx="4320000" cy="720000"/>
          </a:xfrm>
          <a:prstGeom prst="rect">
            <a:avLst/>
          </a:prstGeom>
          <a:solidFill>
            <a:srgbClr val="C51A4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pic>
        <p:nvPicPr>
          <p:cNvPr id="8" name="Imagen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4413" y="1265168"/>
            <a:ext cx="1436458" cy="1656000"/>
          </a:xfrm>
          <a:prstGeom prst="rect">
            <a:avLst/>
          </a:prstGeom>
        </p:spPr>
      </p:pic>
      <p:sp>
        <p:nvSpPr>
          <p:cNvPr id="2" name="CuadroTexto 1"/>
          <p:cNvSpPr txBox="1"/>
          <p:nvPr/>
        </p:nvSpPr>
        <p:spPr>
          <a:xfrm>
            <a:off x="724413" y="2921168"/>
            <a:ext cx="7598535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6000" b="1" dirty="0" err="1" smtClean="0">
                <a:latin typeface="Roboto" panose="02000000000000000000" pitchFamily="2" charset="0"/>
                <a:ea typeface="Roboto" panose="02000000000000000000" pitchFamily="2" charset="0"/>
              </a:rPr>
              <a:t>Raspberry</a:t>
            </a:r>
            <a:r>
              <a:rPr lang="es-MX" sz="6000" b="1" dirty="0" smtClean="0">
                <a:latin typeface="Roboto" panose="02000000000000000000" pitchFamily="2" charset="0"/>
                <a:ea typeface="Roboto" panose="02000000000000000000" pitchFamily="2" charset="0"/>
              </a:rPr>
              <a:t> Pi</a:t>
            </a:r>
            <a:endParaRPr lang="es-MX" sz="6000" b="1" dirty="0"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sp>
        <p:nvSpPr>
          <p:cNvPr id="9" name="CuadroTexto 8"/>
          <p:cNvSpPr txBox="1"/>
          <p:nvPr/>
        </p:nvSpPr>
        <p:spPr>
          <a:xfrm>
            <a:off x="724413" y="3786505"/>
            <a:ext cx="11265818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4400" dirty="0" smtClean="0">
                <a:solidFill>
                  <a:srgbClr val="C51A40"/>
                </a:solidFill>
                <a:latin typeface="Roboto Slab" pitchFamily="2" charset="0"/>
                <a:ea typeface="Roboto Slab" pitchFamily="2" charset="0"/>
              </a:rPr>
              <a:t>Introducción a </a:t>
            </a:r>
            <a:r>
              <a:rPr lang="es-MX" sz="4400" dirty="0" err="1" smtClean="0">
                <a:solidFill>
                  <a:srgbClr val="C51A40"/>
                </a:solidFill>
                <a:latin typeface="Roboto Slab" pitchFamily="2" charset="0"/>
                <a:ea typeface="Roboto Slab" pitchFamily="2" charset="0"/>
              </a:rPr>
              <a:t>Raspbian</a:t>
            </a:r>
            <a:endParaRPr lang="es-MX" sz="4400" dirty="0">
              <a:solidFill>
                <a:srgbClr val="C51A40"/>
              </a:solidFill>
              <a:latin typeface="Roboto Slab" pitchFamily="2" charset="0"/>
              <a:ea typeface="Roboto Slab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054646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ángulo 6"/>
          <p:cNvSpPr/>
          <p:nvPr/>
        </p:nvSpPr>
        <p:spPr>
          <a:xfrm>
            <a:off x="0" y="6138000"/>
            <a:ext cx="4320000" cy="720000"/>
          </a:xfrm>
          <a:prstGeom prst="rect">
            <a:avLst/>
          </a:prstGeom>
          <a:solidFill>
            <a:srgbClr val="C51A4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2" name="CuadroTexto 1"/>
          <p:cNvSpPr txBox="1"/>
          <p:nvPr/>
        </p:nvSpPr>
        <p:spPr>
          <a:xfrm>
            <a:off x="273465" y="212168"/>
            <a:ext cx="7598535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4800" b="1" dirty="0">
                <a:latin typeface="Roboto" panose="02000000000000000000" pitchFamily="2" charset="0"/>
                <a:ea typeface="Roboto" panose="02000000000000000000" pitchFamily="2" charset="0"/>
              </a:rPr>
              <a:t>Introducción a </a:t>
            </a:r>
            <a:r>
              <a:rPr lang="es-MX" sz="4800" b="1" dirty="0" err="1">
                <a:latin typeface="Roboto" panose="02000000000000000000" pitchFamily="2" charset="0"/>
                <a:ea typeface="Roboto" panose="02000000000000000000" pitchFamily="2" charset="0"/>
              </a:rPr>
              <a:t>Raspbian</a:t>
            </a:r>
            <a:endParaRPr lang="es-MX" sz="4800" b="1" dirty="0"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sp>
        <p:nvSpPr>
          <p:cNvPr id="10" name="CuadroTexto 9"/>
          <p:cNvSpPr txBox="1"/>
          <p:nvPr/>
        </p:nvSpPr>
        <p:spPr>
          <a:xfrm>
            <a:off x="273465" y="1055278"/>
            <a:ext cx="1126581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3200" dirty="0" smtClean="0">
                <a:solidFill>
                  <a:srgbClr val="C51A40"/>
                </a:solidFill>
                <a:latin typeface="Roboto Slab" pitchFamily="2" charset="0"/>
                <a:ea typeface="Roboto Slab" pitchFamily="2" charset="0"/>
              </a:rPr>
              <a:t>Introducción.</a:t>
            </a:r>
            <a:endParaRPr lang="es-MX" sz="3200" dirty="0">
              <a:solidFill>
                <a:srgbClr val="C51A40"/>
              </a:solidFill>
              <a:latin typeface="Roboto Slab" pitchFamily="2" charset="0"/>
              <a:ea typeface="Roboto Slab" pitchFamily="2" charset="0"/>
            </a:endParaRPr>
          </a:p>
        </p:txBody>
      </p:sp>
      <p:sp>
        <p:nvSpPr>
          <p:cNvPr id="12" name="Rectángulo 11"/>
          <p:cNvSpPr/>
          <p:nvPr/>
        </p:nvSpPr>
        <p:spPr>
          <a:xfrm>
            <a:off x="7872000" y="0"/>
            <a:ext cx="4320000" cy="720000"/>
          </a:xfrm>
          <a:prstGeom prst="rect">
            <a:avLst/>
          </a:prstGeom>
          <a:solidFill>
            <a:srgbClr val="C51A4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fld id="{5990E14E-10C1-4AA8-B2C7-C55C8C3B1C4A}" type="slidenum">
              <a:rPr lang="es-MX" smtClean="0">
                <a:latin typeface="Roboto" panose="02000000000000000000" pitchFamily="2" charset="0"/>
                <a:ea typeface="Roboto" panose="02000000000000000000" pitchFamily="2" charset="0"/>
              </a:rPr>
              <a:t>2</a:t>
            </a:fld>
            <a:endParaRPr lang="es-MX" dirty="0"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sp>
        <p:nvSpPr>
          <p:cNvPr id="5" name="CuadroTexto 4"/>
          <p:cNvSpPr txBox="1"/>
          <p:nvPr/>
        </p:nvSpPr>
        <p:spPr>
          <a:xfrm>
            <a:off x="273465" y="1738648"/>
            <a:ext cx="11781160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s-MX" dirty="0">
                <a:latin typeface="Roboto" panose="02000000000000000000" pitchFamily="2" charset="0"/>
                <a:ea typeface="Roboto" panose="02000000000000000000" pitchFamily="2" charset="0"/>
              </a:rPr>
              <a:t>Linux es tan versátil y puede moldearse tanto que está disponible en toda clase de dispositivos electrónicos y arquitecturas técnicas</a:t>
            </a:r>
            <a:r>
              <a:rPr lang="es-MX" dirty="0" smtClean="0">
                <a:latin typeface="Roboto" panose="02000000000000000000" pitchFamily="2" charset="0"/>
                <a:ea typeface="Roboto" panose="02000000000000000000" pitchFamily="2" charset="0"/>
              </a:rPr>
              <a:t>.</a:t>
            </a:r>
          </a:p>
          <a:p>
            <a:pPr algn="just"/>
            <a:endParaRPr lang="es-MX" dirty="0">
              <a:latin typeface="Roboto" panose="02000000000000000000" pitchFamily="2" charset="0"/>
              <a:ea typeface="Roboto" panose="02000000000000000000" pitchFamily="2" charset="0"/>
            </a:endParaRPr>
          </a:p>
          <a:p>
            <a:pPr algn="just"/>
            <a:r>
              <a:rPr lang="es-MX" dirty="0" err="1" smtClean="0">
                <a:latin typeface="Roboto" panose="02000000000000000000" pitchFamily="2" charset="0"/>
                <a:ea typeface="Roboto" panose="02000000000000000000" pitchFamily="2" charset="0"/>
              </a:rPr>
              <a:t>Raspbian</a:t>
            </a:r>
            <a:r>
              <a:rPr lang="es-MX" dirty="0" smtClean="0">
                <a:latin typeface="Roboto" panose="02000000000000000000" pitchFamily="2" charset="0"/>
                <a:ea typeface="Roboto" panose="02000000000000000000" pitchFamily="2" charset="0"/>
              </a:rPr>
              <a:t> </a:t>
            </a:r>
            <a:r>
              <a:rPr lang="es-MX" dirty="0">
                <a:latin typeface="Roboto" panose="02000000000000000000" pitchFamily="2" charset="0"/>
                <a:ea typeface="Roboto" panose="02000000000000000000" pitchFamily="2" charset="0"/>
              </a:rPr>
              <a:t>es un sistema operativo libre basado en </a:t>
            </a:r>
            <a:r>
              <a:rPr lang="es-MX" dirty="0" err="1">
                <a:latin typeface="Roboto" panose="02000000000000000000" pitchFamily="2" charset="0"/>
                <a:ea typeface="Roboto" panose="02000000000000000000" pitchFamily="2" charset="0"/>
              </a:rPr>
              <a:t>Debian</a:t>
            </a:r>
            <a:r>
              <a:rPr lang="es-MX" dirty="0">
                <a:latin typeface="Roboto" panose="02000000000000000000" pitchFamily="2" charset="0"/>
                <a:ea typeface="Roboto" panose="02000000000000000000" pitchFamily="2" charset="0"/>
              </a:rPr>
              <a:t> optimizado para la </a:t>
            </a:r>
            <a:r>
              <a:rPr lang="es-MX" dirty="0" err="1">
                <a:latin typeface="Roboto" panose="02000000000000000000" pitchFamily="2" charset="0"/>
                <a:ea typeface="Roboto" panose="02000000000000000000" pitchFamily="2" charset="0"/>
              </a:rPr>
              <a:t>Raspberry</a:t>
            </a:r>
            <a:r>
              <a:rPr lang="es-MX" dirty="0">
                <a:latin typeface="Roboto" panose="02000000000000000000" pitchFamily="2" charset="0"/>
                <a:ea typeface="Roboto" panose="02000000000000000000" pitchFamily="2" charset="0"/>
              </a:rPr>
              <a:t> Pi  . </a:t>
            </a:r>
            <a:r>
              <a:rPr lang="es-MX" dirty="0" err="1">
                <a:latin typeface="Roboto" panose="02000000000000000000" pitchFamily="2" charset="0"/>
                <a:ea typeface="Roboto" panose="02000000000000000000" pitchFamily="2" charset="0"/>
              </a:rPr>
              <a:t>Raspbian</a:t>
            </a:r>
            <a:r>
              <a:rPr lang="es-MX" dirty="0">
                <a:latin typeface="Roboto" panose="02000000000000000000" pitchFamily="2" charset="0"/>
                <a:ea typeface="Roboto" panose="02000000000000000000" pitchFamily="2" charset="0"/>
              </a:rPr>
              <a:t> viene con más de </a:t>
            </a:r>
            <a:r>
              <a:rPr lang="es-MX" dirty="0" smtClean="0">
                <a:latin typeface="Roboto" panose="02000000000000000000" pitchFamily="2" charset="0"/>
                <a:ea typeface="Roboto" panose="02000000000000000000" pitchFamily="2" charset="0"/>
              </a:rPr>
              <a:t>35,000 </a:t>
            </a:r>
            <a:r>
              <a:rPr lang="es-MX" dirty="0">
                <a:latin typeface="Roboto" panose="02000000000000000000" pitchFamily="2" charset="0"/>
                <a:ea typeface="Roboto" panose="02000000000000000000" pitchFamily="2" charset="0"/>
              </a:rPr>
              <a:t>paquetes, software </a:t>
            </a:r>
            <a:r>
              <a:rPr lang="es-MX" dirty="0" err="1">
                <a:latin typeface="Roboto" panose="02000000000000000000" pitchFamily="2" charset="0"/>
                <a:ea typeface="Roboto" panose="02000000000000000000" pitchFamily="2" charset="0"/>
              </a:rPr>
              <a:t>precompilado</a:t>
            </a:r>
            <a:r>
              <a:rPr lang="es-MX" dirty="0">
                <a:latin typeface="Roboto" panose="02000000000000000000" pitchFamily="2" charset="0"/>
                <a:ea typeface="Roboto" panose="02000000000000000000" pitchFamily="2" charset="0"/>
              </a:rPr>
              <a:t> incluido en un formato sencillo  para una fácil instalación en su </a:t>
            </a:r>
            <a:r>
              <a:rPr lang="es-MX" dirty="0" err="1">
                <a:latin typeface="Roboto" panose="02000000000000000000" pitchFamily="2" charset="0"/>
                <a:ea typeface="Roboto" panose="02000000000000000000" pitchFamily="2" charset="0"/>
              </a:rPr>
              <a:t>Raspberry</a:t>
            </a:r>
            <a:r>
              <a:rPr lang="es-MX" dirty="0">
                <a:latin typeface="Roboto" panose="02000000000000000000" pitchFamily="2" charset="0"/>
                <a:ea typeface="Roboto" panose="02000000000000000000" pitchFamily="2" charset="0"/>
              </a:rPr>
              <a:t> Pi  </a:t>
            </a:r>
            <a:r>
              <a:rPr lang="es-MX" dirty="0" smtClean="0">
                <a:latin typeface="Roboto" panose="02000000000000000000" pitchFamily="2" charset="0"/>
                <a:ea typeface="Roboto" panose="02000000000000000000" pitchFamily="2" charset="0"/>
              </a:rPr>
              <a:t>.</a:t>
            </a:r>
            <a:endParaRPr lang="es-MX" dirty="0"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pic>
        <p:nvPicPr>
          <p:cNvPr id="11" name="Imagen 10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76445" y="6233400"/>
            <a:ext cx="3175200" cy="529200"/>
          </a:xfrm>
          <a:prstGeom prst="rect">
            <a:avLst/>
          </a:prstGeom>
        </p:spPr>
      </p:pic>
      <p:pic>
        <p:nvPicPr>
          <p:cNvPr id="14" name="Imagen 13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90771" y="3313535"/>
            <a:ext cx="4992000" cy="280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5591172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ángulo 6"/>
          <p:cNvSpPr/>
          <p:nvPr/>
        </p:nvSpPr>
        <p:spPr>
          <a:xfrm>
            <a:off x="0" y="6138000"/>
            <a:ext cx="4320000" cy="720000"/>
          </a:xfrm>
          <a:prstGeom prst="rect">
            <a:avLst/>
          </a:prstGeom>
          <a:solidFill>
            <a:srgbClr val="C51A4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2" name="CuadroTexto 1"/>
          <p:cNvSpPr txBox="1"/>
          <p:nvPr/>
        </p:nvSpPr>
        <p:spPr>
          <a:xfrm>
            <a:off x="273465" y="212168"/>
            <a:ext cx="7598535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4800" b="1" dirty="0">
                <a:latin typeface="Roboto" panose="02000000000000000000" pitchFamily="2" charset="0"/>
                <a:ea typeface="Roboto" panose="02000000000000000000" pitchFamily="2" charset="0"/>
              </a:rPr>
              <a:t>Introducción a </a:t>
            </a:r>
            <a:r>
              <a:rPr lang="es-MX" sz="4800" b="1" dirty="0" err="1">
                <a:latin typeface="Roboto" panose="02000000000000000000" pitchFamily="2" charset="0"/>
                <a:ea typeface="Roboto" panose="02000000000000000000" pitchFamily="2" charset="0"/>
              </a:rPr>
              <a:t>Raspbian</a:t>
            </a:r>
            <a:endParaRPr lang="es-MX" sz="4800" b="1" dirty="0"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sp>
        <p:nvSpPr>
          <p:cNvPr id="10" name="CuadroTexto 9"/>
          <p:cNvSpPr txBox="1"/>
          <p:nvPr/>
        </p:nvSpPr>
        <p:spPr>
          <a:xfrm>
            <a:off x="273465" y="1055278"/>
            <a:ext cx="1126581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3200" dirty="0">
                <a:solidFill>
                  <a:srgbClr val="C51A40"/>
                </a:solidFill>
                <a:latin typeface="Roboto Slab" pitchFamily="2" charset="0"/>
                <a:ea typeface="Roboto Slab" pitchFamily="2" charset="0"/>
              </a:rPr>
              <a:t>Sistema de archivos </a:t>
            </a:r>
            <a:r>
              <a:rPr lang="es-MX" sz="3200" dirty="0" smtClean="0">
                <a:solidFill>
                  <a:srgbClr val="C51A40"/>
                </a:solidFill>
                <a:latin typeface="Roboto Slab" pitchFamily="2" charset="0"/>
                <a:ea typeface="Roboto Slab" pitchFamily="2" charset="0"/>
              </a:rPr>
              <a:t>GNU/Linux.</a:t>
            </a:r>
            <a:endParaRPr lang="es-MX" sz="3200" dirty="0">
              <a:solidFill>
                <a:srgbClr val="C51A40"/>
              </a:solidFill>
              <a:latin typeface="Roboto Slab" pitchFamily="2" charset="0"/>
              <a:ea typeface="Roboto Slab" pitchFamily="2" charset="0"/>
            </a:endParaRPr>
          </a:p>
        </p:txBody>
      </p:sp>
      <p:sp>
        <p:nvSpPr>
          <p:cNvPr id="12" name="Rectángulo 11"/>
          <p:cNvSpPr/>
          <p:nvPr/>
        </p:nvSpPr>
        <p:spPr>
          <a:xfrm>
            <a:off x="7872000" y="0"/>
            <a:ext cx="4320000" cy="720000"/>
          </a:xfrm>
          <a:prstGeom prst="rect">
            <a:avLst/>
          </a:prstGeom>
          <a:solidFill>
            <a:srgbClr val="C51A4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fld id="{5990E14E-10C1-4AA8-B2C7-C55C8C3B1C4A}" type="slidenum">
              <a:rPr lang="es-MX" smtClean="0">
                <a:latin typeface="Roboto" panose="02000000000000000000" pitchFamily="2" charset="0"/>
                <a:ea typeface="Roboto" panose="02000000000000000000" pitchFamily="2" charset="0"/>
              </a:rPr>
              <a:t>3</a:t>
            </a:fld>
            <a:endParaRPr lang="es-MX" dirty="0"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sp>
        <p:nvSpPr>
          <p:cNvPr id="5" name="CuadroTexto 4"/>
          <p:cNvSpPr txBox="1"/>
          <p:nvPr/>
        </p:nvSpPr>
        <p:spPr>
          <a:xfrm>
            <a:off x="273465" y="1738648"/>
            <a:ext cx="1178116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s-MX" dirty="0">
                <a:latin typeface="Roboto" panose="02000000000000000000" pitchFamily="2" charset="0"/>
                <a:ea typeface="Roboto" panose="02000000000000000000" pitchFamily="2" charset="0"/>
              </a:rPr>
              <a:t>La estructura de los directorios el Linux, así como su contenido y funciones, viene definida en el denominado </a:t>
            </a:r>
            <a:r>
              <a:rPr lang="es-MX" dirty="0" err="1">
                <a:latin typeface="Roboto" panose="02000000000000000000" pitchFamily="2" charset="0"/>
                <a:ea typeface="Roboto" panose="02000000000000000000" pitchFamily="2" charset="0"/>
              </a:rPr>
              <a:t>Filesystem</a:t>
            </a:r>
            <a:r>
              <a:rPr lang="es-MX" dirty="0">
                <a:latin typeface="Roboto" panose="02000000000000000000" pitchFamily="2" charset="0"/>
                <a:ea typeface="Roboto" panose="02000000000000000000" pitchFamily="2" charset="0"/>
              </a:rPr>
              <a:t> </a:t>
            </a:r>
            <a:r>
              <a:rPr lang="es-MX" dirty="0" err="1">
                <a:latin typeface="Roboto" panose="02000000000000000000" pitchFamily="2" charset="0"/>
                <a:ea typeface="Roboto" panose="02000000000000000000" pitchFamily="2" charset="0"/>
              </a:rPr>
              <a:t>Hierarchy</a:t>
            </a:r>
            <a:r>
              <a:rPr lang="es-MX" dirty="0">
                <a:latin typeface="Roboto" panose="02000000000000000000" pitchFamily="2" charset="0"/>
                <a:ea typeface="Roboto" panose="02000000000000000000" pitchFamily="2" charset="0"/>
              </a:rPr>
              <a:t> Standard o FHS por sus siglas en inglés, que en otras palabras viene a ser el estándar de jerarquía para los sistemas de archivos en sistemas Linux y otros derivados de UNIX.</a:t>
            </a:r>
          </a:p>
        </p:txBody>
      </p:sp>
      <p:pic>
        <p:nvPicPr>
          <p:cNvPr id="11" name="Imagen 10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76445" y="6233400"/>
            <a:ext cx="3175200" cy="529200"/>
          </a:xfrm>
          <a:prstGeom prst="rect">
            <a:avLst/>
          </a:prstGeom>
        </p:spPr>
      </p:pic>
      <p:pic>
        <p:nvPicPr>
          <p:cNvPr id="9" name="Imagen 8" descr="Estructura de Directorios de Linux"/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42121" y="2638182"/>
            <a:ext cx="4714875" cy="3486785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34866029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ángulo 6"/>
          <p:cNvSpPr/>
          <p:nvPr/>
        </p:nvSpPr>
        <p:spPr>
          <a:xfrm>
            <a:off x="0" y="6138000"/>
            <a:ext cx="4320000" cy="720000"/>
          </a:xfrm>
          <a:prstGeom prst="rect">
            <a:avLst/>
          </a:prstGeom>
          <a:solidFill>
            <a:srgbClr val="C51A4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2" name="CuadroTexto 1"/>
          <p:cNvSpPr txBox="1"/>
          <p:nvPr/>
        </p:nvSpPr>
        <p:spPr>
          <a:xfrm>
            <a:off x="273465" y="212168"/>
            <a:ext cx="7598535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4800" b="1" dirty="0">
                <a:latin typeface="Roboto" panose="02000000000000000000" pitchFamily="2" charset="0"/>
                <a:ea typeface="Roboto" panose="02000000000000000000" pitchFamily="2" charset="0"/>
              </a:rPr>
              <a:t>Introducción a </a:t>
            </a:r>
            <a:r>
              <a:rPr lang="es-MX" sz="4800" b="1" dirty="0" err="1">
                <a:latin typeface="Roboto" panose="02000000000000000000" pitchFamily="2" charset="0"/>
                <a:ea typeface="Roboto" panose="02000000000000000000" pitchFamily="2" charset="0"/>
              </a:rPr>
              <a:t>Raspbian</a:t>
            </a:r>
            <a:endParaRPr lang="es-MX" sz="4800" b="1" dirty="0"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sp>
        <p:nvSpPr>
          <p:cNvPr id="10" name="CuadroTexto 9"/>
          <p:cNvSpPr txBox="1"/>
          <p:nvPr/>
        </p:nvSpPr>
        <p:spPr>
          <a:xfrm>
            <a:off x="273465" y="1055278"/>
            <a:ext cx="1126581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3200" dirty="0">
                <a:solidFill>
                  <a:srgbClr val="C51A40"/>
                </a:solidFill>
                <a:latin typeface="Roboto Slab" pitchFamily="2" charset="0"/>
                <a:ea typeface="Roboto Slab" pitchFamily="2" charset="0"/>
              </a:rPr>
              <a:t>Comando </a:t>
            </a:r>
            <a:r>
              <a:rPr lang="es-MX" sz="3200" dirty="0" err="1">
                <a:solidFill>
                  <a:srgbClr val="C51A40"/>
                </a:solidFill>
                <a:latin typeface="Roboto Slab" pitchFamily="2" charset="0"/>
                <a:ea typeface="Roboto Slab" pitchFamily="2" charset="0"/>
              </a:rPr>
              <a:t>pwd</a:t>
            </a:r>
            <a:r>
              <a:rPr lang="es-MX" sz="3200" dirty="0">
                <a:solidFill>
                  <a:srgbClr val="C51A40"/>
                </a:solidFill>
                <a:latin typeface="Roboto Slab" pitchFamily="2" charset="0"/>
                <a:ea typeface="Roboto Slab" pitchFamily="2" charset="0"/>
              </a:rPr>
              <a:t>.</a:t>
            </a:r>
          </a:p>
        </p:txBody>
      </p:sp>
      <p:sp>
        <p:nvSpPr>
          <p:cNvPr id="12" name="Rectángulo 11"/>
          <p:cNvSpPr/>
          <p:nvPr/>
        </p:nvSpPr>
        <p:spPr>
          <a:xfrm>
            <a:off x="7872000" y="0"/>
            <a:ext cx="4320000" cy="720000"/>
          </a:xfrm>
          <a:prstGeom prst="rect">
            <a:avLst/>
          </a:prstGeom>
          <a:solidFill>
            <a:srgbClr val="C51A4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fld id="{5990E14E-10C1-4AA8-B2C7-C55C8C3B1C4A}" type="slidenum">
              <a:rPr lang="es-MX" smtClean="0">
                <a:latin typeface="Roboto" panose="02000000000000000000" pitchFamily="2" charset="0"/>
                <a:ea typeface="Roboto" panose="02000000000000000000" pitchFamily="2" charset="0"/>
              </a:rPr>
              <a:t>4</a:t>
            </a:fld>
            <a:endParaRPr lang="es-MX" dirty="0"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sp>
        <p:nvSpPr>
          <p:cNvPr id="5" name="CuadroTexto 4"/>
          <p:cNvSpPr txBox="1"/>
          <p:nvPr/>
        </p:nvSpPr>
        <p:spPr>
          <a:xfrm>
            <a:off x="273465" y="1738648"/>
            <a:ext cx="117811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s-MX" dirty="0">
                <a:latin typeface="Roboto" panose="02000000000000000000" pitchFamily="2" charset="0"/>
                <a:ea typeface="Roboto" panose="02000000000000000000" pitchFamily="2" charset="0"/>
              </a:rPr>
              <a:t>La función del comando </a:t>
            </a:r>
            <a:r>
              <a:rPr lang="es-MX" dirty="0" err="1">
                <a:latin typeface="Roboto" panose="02000000000000000000" pitchFamily="2" charset="0"/>
                <a:ea typeface="Roboto" panose="02000000000000000000" pitchFamily="2" charset="0"/>
              </a:rPr>
              <a:t>pwd</a:t>
            </a:r>
            <a:r>
              <a:rPr lang="es-MX" dirty="0">
                <a:latin typeface="Roboto" panose="02000000000000000000" pitchFamily="2" charset="0"/>
                <a:ea typeface="Roboto" panose="02000000000000000000" pitchFamily="2" charset="0"/>
              </a:rPr>
              <a:t> es la de imprimir en pantalla el directorio donde el usuario está trabajando.</a:t>
            </a:r>
          </a:p>
        </p:txBody>
      </p:sp>
      <p:pic>
        <p:nvPicPr>
          <p:cNvPr id="11" name="Imagen 10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76445" y="6233400"/>
            <a:ext cx="3175200" cy="529200"/>
          </a:xfrm>
          <a:prstGeom prst="rect">
            <a:avLst/>
          </a:prstGeom>
        </p:spPr>
      </p:pic>
      <p:sp>
        <p:nvSpPr>
          <p:cNvPr id="13" name="CuadroTexto 12"/>
          <p:cNvSpPr txBox="1"/>
          <p:nvPr/>
        </p:nvSpPr>
        <p:spPr>
          <a:xfrm>
            <a:off x="224958" y="2365678"/>
            <a:ext cx="11781160" cy="646331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s-MX" dirty="0">
                <a:latin typeface="Courier New" panose="02070309020205020404" pitchFamily="49" charset="0"/>
                <a:ea typeface="Android Insomnia" pitchFamily="2" charset="-128"/>
                <a:cs typeface="Courier New" panose="02070309020205020404" pitchFamily="49" charset="0"/>
              </a:rPr>
              <a:t>pi@raspberrypi:~ $ </a:t>
            </a:r>
            <a:r>
              <a:rPr lang="es-MX" dirty="0" err="1">
                <a:latin typeface="Courier New" panose="02070309020205020404" pitchFamily="49" charset="0"/>
                <a:ea typeface="Android Insomnia" pitchFamily="2" charset="-128"/>
                <a:cs typeface="Courier New" panose="02070309020205020404" pitchFamily="49" charset="0"/>
              </a:rPr>
              <a:t>pwd</a:t>
            </a:r>
            <a:endParaRPr lang="es-MX" dirty="0">
              <a:latin typeface="Courier New" panose="02070309020205020404" pitchFamily="49" charset="0"/>
              <a:ea typeface="Android Insomnia" pitchFamily="2" charset="-128"/>
              <a:cs typeface="Courier New" panose="02070309020205020404" pitchFamily="49" charset="0"/>
            </a:endParaRPr>
          </a:p>
          <a:p>
            <a:r>
              <a:rPr lang="es-MX" dirty="0">
                <a:latin typeface="Courier New" panose="02070309020205020404" pitchFamily="49" charset="0"/>
                <a:ea typeface="Android Insomnia" pitchFamily="2" charset="-128"/>
                <a:cs typeface="Courier New" panose="02070309020205020404" pitchFamily="49" charset="0"/>
              </a:rPr>
              <a:t>/</a:t>
            </a:r>
            <a:r>
              <a:rPr lang="es-MX" dirty="0" smtClean="0">
                <a:latin typeface="Courier New" panose="02070309020205020404" pitchFamily="49" charset="0"/>
                <a:ea typeface="Android Insomnia" pitchFamily="2" charset="-128"/>
                <a:cs typeface="Courier New" panose="02070309020205020404" pitchFamily="49" charset="0"/>
              </a:rPr>
              <a:t>home/pi</a:t>
            </a:r>
            <a:endParaRPr lang="es-MX" dirty="0">
              <a:latin typeface="Courier New" panose="02070309020205020404" pitchFamily="49" charset="0"/>
              <a:ea typeface="Android Insomnia" pitchFamily="2" charset="-128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7693216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ángulo 6"/>
          <p:cNvSpPr/>
          <p:nvPr/>
        </p:nvSpPr>
        <p:spPr>
          <a:xfrm>
            <a:off x="0" y="6138000"/>
            <a:ext cx="4320000" cy="720000"/>
          </a:xfrm>
          <a:prstGeom prst="rect">
            <a:avLst/>
          </a:prstGeom>
          <a:solidFill>
            <a:srgbClr val="C51A4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2" name="CuadroTexto 1"/>
          <p:cNvSpPr txBox="1"/>
          <p:nvPr/>
        </p:nvSpPr>
        <p:spPr>
          <a:xfrm>
            <a:off x="273465" y="212168"/>
            <a:ext cx="7598535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4800" b="1" dirty="0">
                <a:latin typeface="Roboto" panose="02000000000000000000" pitchFamily="2" charset="0"/>
                <a:ea typeface="Roboto" panose="02000000000000000000" pitchFamily="2" charset="0"/>
              </a:rPr>
              <a:t>Introducción a </a:t>
            </a:r>
            <a:r>
              <a:rPr lang="es-MX" sz="4800" b="1" dirty="0" err="1">
                <a:latin typeface="Roboto" panose="02000000000000000000" pitchFamily="2" charset="0"/>
                <a:ea typeface="Roboto" panose="02000000000000000000" pitchFamily="2" charset="0"/>
              </a:rPr>
              <a:t>Raspbian</a:t>
            </a:r>
            <a:endParaRPr lang="es-MX" sz="4800" b="1" dirty="0"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sp>
        <p:nvSpPr>
          <p:cNvPr id="10" name="CuadroTexto 9"/>
          <p:cNvSpPr txBox="1"/>
          <p:nvPr/>
        </p:nvSpPr>
        <p:spPr>
          <a:xfrm>
            <a:off x="273465" y="1055278"/>
            <a:ext cx="1126581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3200" dirty="0">
                <a:solidFill>
                  <a:srgbClr val="C51A40"/>
                </a:solidFill>
                <a:latin typeface="Roboto Slab" pitchFamily="2" charset="0"/>
                <a:ea typeface="Roboto Slab" pitchFamily="2" charset="0"/>
              </a:rPr>
              <a:t>Comando </a:t>
            </a:r>
            <a:r>
              <a:rPr lang="es-MX" sz="3200" dirty="0" smtClean="0">
                <a:solidFill>
                  <a:srgbClr val="C51A40"/>
                </a:solidFill>
                <a:latin typeface="Roboto Slab" pitchFamily="2" charset="0"/>
                <a:ea typeface="Roboto Slab" pitchFamily="2" charset="0"/>
              </a:rPr>
              <a:t>cd.</a:t>
            </a:r>
            <a:endParaRPr lang="es-MX" sz="3200" dirty="0">
              <a:solidFill>
                <a:srgbClr val="C51A40"/>
              </a:solidFill>
              <a:latin typeface="Roboto Slab" pitchFamily="2" charset="0"/>
              <a:ea typeface="Roboto Slab" pitchFamily="2" charset="0"/>
            </a:endParaRPr>
          </a:p>
        </p:txBody>
      </p:sp>
      <p:sp>
        <p:nvSpPr>
          <p:cNvPr id="12" name="Rectángulo 11"/>
          <p:cNvSpPr/>
          <p:nvPr/>
        </p:nvSpPr>
        <p:spPr>
          <a:xfrm>
            <a:off x="7872000" y="0"/>
            <a:ext cx="4320000" cy="720000"/>
          </a:xfrm>
          <a:prstGeom prst="rect">
            <a:avLst/>
          </a:prstGeom>
          <a:solidFill>
            <a:srgbClr val="C51A4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fld id="{5990E14E-10C1-4AA8-B2C7-C55C8C3B1C4A}" type="slidenum">
              <a:rPr lang="es-MX" smtClean="0">
                <a:latin typeface="Roboto" panose="02000000000000000000" pitchFamily="2" charset="0"/>
                <a:ea typeface="Roboto" panose="02000000000000000000" pitchFamily="2" charset="0"/>
              </a:rPr>
              <a:t>5</a:t>
            </a:fld>
            <a:endParaRPr lang="es-MX" dirty="0"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sp>
        <p:nvSpPr>
          <p:cNvPr id="5" name="CuadroTexto 4"/>
          <p:cNvSpPr txBox="1"/>
          <p:nvPr/>
        </p:nvSpPr>
        <p:spPr>
          <a:xfrm>
            <a:off x="273465" y="1738648"/>
            <a:ext cx="1178116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s-MX" dirty="0">
                <a:latin typeface="Roboto" panose="02000000000000000000" pitchFamily="2" charset="0"/>
                <a:ea typeface="Roboto" panose="02000000000000000000" pitchFamily="2" charset="0"/>
              </a:rPr>
              <a:t>Este comando se usa para cambiar de directorio. Generalmente cuando el usuario inicia una sesión en GNU/Linux, el directorio donde comienza es su directorio personal. Desde ahí uno puede moverse a los diferentes directorios donde se tenga acceso usando este comando. Su sintaxis es la siguiente.</a:t>
            </a:r>
          </a:p>
        </p:txBody>
      </p:sp>
      <p:pic>
        <p:nvPicPr>
          <p:cNvPr id="11" name="Imagen 10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76445" y="6233400"/>
            <a:ext cx="3175200" cy="529200"/>
          </a:xfrm>
          <a:prstGeom prst="rect">
            <a:avLst/>
          </a:prstGeom>
        </p:spPr>
      </p:pic>
      <p:sp>
        <p:nvSpPr>
          <p:cNvPr id="13" name="CuadroTexto 12"/>
          <p:cNvSpPr txBox="1"/>
          <p:nvPr/>
        </p:nvSpPr>
        <p:spPr>
          <a:xfrm>
            <a:off x="224958" y="2803560"/>
            <a:ext cx="11781160" cy="369332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s-MX" dirty="0">
                <a:latin typeface="Courier New" panose="02070309020205020404" pitchFamily="49" charset="0"/>
                <a:ea typeface="Android Insomnia" pitchFamily="2" charset="-128"/>
                <a:cs typeface="Courier New" panose="02070309020205020404" pitchFamily="49" charset="0"/>
              </a:rPr>
              <a:t>pi@raspberrypi:~ $ </a:t>
            </a:r>
            <a:r>
              <a:rPr lang="es-MX" dirty="0" smtClean="0">
                <a:latin typeface="Courier New" panose="02070309020205020404" pitchFamily="49" charset="0"/>
                <a:ea typeface="Android Insomnia" pitchFamily="2" charset="-128"/>
                <a:cs typeface="Courier New" panose="02070309020205020404" pitchFamily="49" charset="0"/>
              </a:rPr>
              <a:t>cd directorio</a:t>
            </a:r>
            <a:endParaRPr lang="es-MX" dirty="0">
              <a:latin typeface="Courier New" panose="02070309020205020404" pitchFamily="49" charset="0"/>
              <a:ea typeface="Android Insomnia" pitchFamily="2" charset="-128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7638534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ángulo 6"/>
          <p:cNvSpPr/>
          <p:nvPr/>
        </p:nvSpPr>
        <p:spPr>
          <a:xfrm>
            <a:off x="0" y="6138000"/>
            <a:ext cx="4320000" cy="720000"/>
          </a:xfrm>
          <a:prstGeom prst="rect">
            <a:avLst/>
          </a:prstGeom>
          <a:solidFill>
            <a:srgbClr val="C51A4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2" name="CuadroTexto 1"/>
          <p:cNvSpPr txBox="1"/>
          <p:nvPr/>
        </p:nvSpPr>
        <p:spPr>
          <a:xfrm>
            <a:off x="273465" y="212168"/>
            <a:ext cx="7598535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4800" b="1" dirty="0">
                <a:latin typeface="Roboto" panose="02000000000000000000" pitchFamily="2" charset="0"/>
                <a:ea typeface="Roboto" panose="02000000000000000000" pitchFamily="2" charset="0"/>
              </a:rPr>
              <a:t>Introducción a </a:t>
            </a:r>
            <a:r>
              <a:rPr lang="es-MX" sz="4800" b="1" dirty="0" err="1">
                <a:latin typeface="Roboto" panose="02000000000000000000" pitchFamily="2" charset="0"/>
                <a:ea typeface="Roboto" panose="02000000000000000000" pitchFamily="2" charset="0"/>
              </a:rPr>
              <a:t>Raspbian</a:t>
            </a:r>
            <a:endParaRPr lang="es-MX" sz="4800" b="1" dirty="0"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sp>
        <p:nvSpPr>
          <p:cNvPr id="10" name="CuadroTexto 9"/>
          <p:cNvSpPr txBox="1"/>
          <p:nvPr/>
        </p:nvSpPr>
        <p:spPr>
          <a:xfrm>
            <a:off x="273465" y="1055278"/>
            <a:ext cx="1126581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3200" dirty="0">
                <a:solidFill>
                  <a:srgbClr val="C51A40"/>
                </a:solidFill>
                <a:latin typeface="Roboto Slab" pitchFamily="2" charset="0"/>
                <a:ea typeface="Roboto Slab" pitchFamily="2" charset="0"/>
              </a:rPr>
              <a:t>Comando </a:t>
            </a:r>
            <a:r>
              <a:rPr lang="es-MX" sz="3200" dirty="0" smtClean="0">
                <a:solidFill>
                  <a:srgbClr val="C51A40"/>
                </a:solidFill>
                <a:latin typeface="Roboto Slab" pitchFamily="2" charset="0"/>
                <a:ea typeface="Roboto Slab" pitchFamily="2" charset="0"/>
              </a:rPr>
              <a:t>ls.</a:t>
            </a:r>
            <a:endParaRPr lang="es-MX" sz="3200" dirty="0">
              <a:solidFill>
                <a:srgbClr val="C51A40"/>
              </a:solidFill>
              <a:latin typeface="Roboto Slab" pitchFamily="2" charset="0"/>
              <a:ea typeface="Roboto Slab" pitchFamily="2" charset="0"/>
            </a:endParaRPr>
          </a:p>
        </p:txBody>
      </p:sp>
      <p:sp>
        <p:nvSpPr>
          <p:cNvPr id="12" name="Rectángulo 11"/>
          <p:cNvSpPr/>
          <p:nvPr/>
        </p:nvSpPr>
        <p:spPr>
          <a:xfrm>
            <a:off x="7872000" y="0"/>
            <a:ext cx="4320000" cy="720000"/>
          </a:xfrm>
          <a:prstGeom prst="rect">
            <a:avLst/>
          </a:prstGeom>
          <a:solidFill>
            <a:srgbClr val="C51A4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fld id="{5990E14E-10C1-4AA8-B2C7-C55C8C3B1C4A}" type="slidenum">
              <a:rPr lang="es-MX" smtClean="0">
                <a:latin typeface="Roboto" panose="02000000000000000000" pitchFamily="2" charset="0"/>
                <a:ea typeface="Roboto" panose="02000000000000000000" pitchFamily="2" charset="0"/>
              </a:rPr>
              <a:t>6</a:t>
            </a:fld>
            <a:endParaRPr lang="es-MX" dirty="0"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sp>
        <p:nvSpPr>
          <p:cNvPr id="5" name="CuadroTexto 4"/>
          <p:cNvSpPr txBox="1"/>
          <p:nvPr/>
        </p:nvSpPr>
        <p:spPr>
          <a:xfrm>
            <a:off x="273465" y="1738648"/>
            <a:ext cx="1178116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s-MX" dirty="0">
                <a:latin typeface="Roboto" panose="02000000000000000000" pitchFamily="2" charset="0"/>
                <a:ea typeface="Roboto" panose="02000000000000000000" pitchFamily="2" charset="0"/>
              </a:rPr>
              <a:t>Su función es mostrar el contenido de una carpeta. Se realiza con la orden ls (</a:t>
            </a:r>
            <a:r>
              <a:rPr lang="es-MX" dirty="0" err="1">
                <a:latin typeface="Roboto" panose="02000000000000000000" pitchFamily="2" charset="0"/>
                <a:ea typeface="Roboto" panose="02000000000000000000" pitchFamily="2" charset="0"/>
              </a:rPr>
              <a:t>list</a:t>
            </a:r>
            <a:r>
              <a:rPr lang="es-MX" dirty="0">
                <a:latin typeface="Roboto" panose="02000000000000000000" pitchFamily="2" charset="0"/>
                <a:ea typeface="Roboto" panose="02000000000000000000" pitchFamily="2" charset="0"/>
              </a:rPr>
              <a:t>). Sin más argumentos muestra el contenido de la carpeta de trabajo (la que aparece en el </a:t>
            </a:r>
            <a:r>
              <a:rPr lang="es-MX" dirty="0" err="1">
                <a:latin typeface="Roboto" panose="02000000000000000000" pitchFamily="2" charset="0"/>
                <a:ea typeface="Roboto" panose="02000000000000000000" pitchFamily="2" charset="0"/>
              </a:rPr>
              <a:t>prompt</a:t>
            </a:r>
            <a:r>
              <a:rPr lang="es-MX" dirty="0">
                <a:latin typeface="Roboto" panose="02000000000000000000" pitchFamily="2" charset="0"/>
                <a:ea typeface="Roboto" panose="02000000000000000000" pitchFamily="2" charset="0"/>
              </a:rPr>
              <a:t>). Su sintaxis es la siguiente:</a:t>
            </a:r>
          </a:p>
        </p:txBody>
      </p:sp>
      <p:pic>
        <p:nvPicPr>
          <p:cNvPr id="11" name="Imagen 10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76445" y="6233400"/>
            <a:ext cx="3175200" cy="529200"/>
          </a:xfrm>
          <a:prstGeom prst="rect">
            <a:avLst/>
          </a:prstGeom>
        </p:spPr>
      </p:pic>
      <p:sp>
        <p:nvSpPr>
          <p:cNvPr id="13" name="CuadroTexto 12"/>
          <p:cNvSpPr txBox="1"/>
          <p:nvPr/>
        </p:nvSpPr>
        <p:spPr>
          <a:xfrm>
            <a:off x="205420" y="2483574"/>
            <a:ext cx="11781160" cy="369332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s-MX" dirty="0">
                <a:latin typeface="Courier New" panose="02070309020205020404" pitchFamily="49" charset="0"/>
                <a:ea typeface="Android Insomnia" pitchFamily="2" charset="-128"/>
                <a:cs typeface="Courier New" panose="02070309020205020404" pitchFamily="49" charset="0"/>
              </a:rPr>
              <a:t>pi@raspberrypi:~ $ ls [opciones] [archivo...]</a:t>
            </a:r>
          </a:p>
        </p:txBody>
      </p:sp>
      <p:graphicFrame>
        <p:nvGraphicFramePr>
          <p:cNvPr id="3" name="Tabla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88283972"/>
              </p:ext>
            </p:extLst>
          </p:nvPr>
        </p:nvGraphicFramePr>
        <p:xfrm>
          <a:off x="544885" y="3026078"/>
          <a:ext cx="11102230" cy="2739395"/>
        </p:xfrm>
        <a:graphic>
          <a:graphicData uri="http://schemas.openxmlformats.org/drawingml/2006/table">
            <a:tbl>
              <a:tblPr firstRow="1" firstCol="1" bandRow="1">
                <a:tableStyleId>{2D5ABB26-0587-4C30-8999-92F81FD0307C}</a:tableStyleId>
              </a:tblPr>
              <a:tblGrid>
                <a:gridCol w="953678"/>
                <a:gridCol w="10148552"/>
              </a:tblGrid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MX" sz="1400" dirty="0">
                          <a:solidFill>
                            <a:schemeClr val="bg1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Opción </a:t>
                      </a:r>
                      <a:endParaRPr lang="es-MX" sz="1400" dirty="0">
                        <a:solidFill>
                          <a:schemeClr val="bg1"/>
                        </a:solidFill>
                        <a:effectLst/>
                        <a:latin typeface="Roboto" panose="02000000000000000000" pitchFamily="2" charset="0"/>
                        <a:ea typeface="Roboto" panose="02000000000000000000" pitchFamily="2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rgbClr val="3737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MX" sz="1400" dirty="0">
                          <a:solidFill>
                            <a:schemeClr val="bg1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Descripción</a:t>
                      </a:r>
                      <a:endParaRPr lang="es-MX" sz="1400" dirty="0">
                        <a:solidFill>
                          <a:schemeClr val="bg1"/>
                        </a:solidFill>
                        <a:effectLst/>
                        <a:latin typeface="Roboto" panose="02000000000000000000" pitchFamily="2" charset="0"/>
                        <a:ea typeface="Roboto" panose="02000000000000000000" pitchFamily="2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rgbClr val="37373B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MX" sz="1400" dirty="0"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-a</a:t>
                      </a:r>
                      <a:endParaRPr lang="es-MX" sz="1400" dirty="0">
                        <a:effectLst/>
                        <a:latin typeface="Roboto" panose="02000000000000000000" pitchFamily="2" charset="0"/>
                        <a:ea typeface="Roboto" panose="02000000000000000000" pitchFamily="2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MX" sz="1400" dirty="0"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Lista todos los archivos, incluyendo los ocultos, aquellos que comienzan con un  “.”</a:t>
                      </a:r>
                      <a:endParaRPr lang="es-MX" sz="1400" dirty="0">
                        <a:effectLst/>
                        <a:latin typeface="Roboto" panose="02000000000000000000" pitchFamily="2" charset="0"/>
                        <a:ea typeface="Roboto" panose="02000000000000000000" pitchFamily="2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MX" sz="1400" dirty="0"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-d</a:t>
                      </a:r>
                      <a:endParaRPr lang="es-MX" sz="1400" dirty="0">
                        <a:effectLst/>
                        <a:latin typeface="Roboto" panose="02000000000000000000" pitchFamily="2" charset="0"/>
                        <a:ea typeface="Roboto" panose="02000000000000000000" pitchFamily="2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MX" sz="1400" dirty="0"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Lista el nombre del directorio en vez de los archivos contenidos en él.</a:t>
                      </a:r>
                      <a:endParaRPr lang="es-MX" sz="1400" dirty="0">
                        <a:effectLst/>
                        <a:latin typeface="Roboto" panose="02000000000000000000" pitchFamily="2" charset="0"/>
                        <a:ea typeface="Roboto" panose="02000000000000000000" pitchFamily="2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MX" sz="1400" dirty="0"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-l</a:t>
                      </a:r>
                      <a:endParaRPr lang="es-MX" sz="1400" dirty="0">
                        <a:effectLst/>
                        <a:latin typeface="Roboto" panose="02000000000000000000" pitchFamily="2" charset="0"/>
                        <a:ea typeface="Roboto" panose="02000000000000000000" pitchFamily="2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MX" sz="1400" dirty="0"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Lista los archivos con más detalle, especificando para cada archivo sus permisos, el número de enlaces rígidos, el nombre del propietario, el grupo al que pertenece, el tamaño en bytes y la fecha de la última modificación.</a:t>
                      </a:r>
                      <a:endParaRPr lang="es-MX" sz="1400" dirty="0">
                        <a:effectLst/>
                        <a:latin typeface="Roboto" panose="02000000000000000000" pitchFamily="2" charset="0"/>
                        <a:ea typeface="Roboto" panose="02000000000000000000" pitchFamily="2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MX" sz="1400" dirty="0"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-r</a:t>
                      </a:r>
                      <a:endParaRPr lang="es-MX" sz="1400" dirty="0">
                        <a:effectLst/>
                        <a:latin typeface="Roboto" panose="02000000000000000000" pitchFamily="2" charset="0"/>
                        <a:ea typeface="Roboto" panose="02000000000000000000" pitchFamily="2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MX" sz="1400" dirty="0"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Invierte el orden de listado de los archivos.</a:t>
                      </a:r>
                      <a:endParaRPr lang="es-MX" sz="1400" dirty="0">
                        <a:effectLst/>
                        <a:latin typeface="Roboto" panose="02000000000000000000" pitchFamily="2" charset="0"/>
                        <a:ea typeface="Roboto" panose="02000000000000000000" pitchFamily="2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MX" sz="1400" dirty="0"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-s</a:t>
                      </a:r>
                      <a:endParaRPr lang="es-MX" sz="1400" dirty="0">
                        <a:effectLst/>
                        <a:latin typeface="Roboto" panose="02000000000000000000" pitchFamily="2" charset="0"/>
                        <a:ea typeface="Roboto" panose="02000000000000000000" pitchFamily="2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MX" sz="1400" dirty="0"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Muestra el tamaño de cada archivo en bloques de 1024 bytes a la izquierda del nombre.</a:t>
                      </a:r>
                      <a:endParaRPr lang="es-MX" sz="1400" dirty="0">
                        <a:effectLst/>
                        <a:latin typeface="Roboto" panose="02000000000000000000" pitchFamily="2" charset="0"/>
                        <a:ea typeface="Roboto" panose="02000000000000000000" pitchFamily="2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MX" sz="1400" dirty="0"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-h</a:t>
                      </a:r>
                      <a:endParaRPr lang="es-MX" sz="1400" dirty="0">
                        <a:effectLst/>
                        <a:latin typeface="Roboto" panose="02000000000000000000" pitchFamily="2" charset="0"/>
                        <a:ea typeface="Roboto" panose="02000000000000000000" pitchFamily="2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MX" sz="1400" dirty="0"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Muestra los tamaños de archivo en términos de kilobytes, megabytes, etc.</a:t>
                      </a:r>
                      <a:endParaRPr lang="es-MX" sz="1400" dirty="0">
                        <a:effectLst/>
                        <a:latin typeface="Roboto" panose="02000000000000000000" pitchFamily="2" charset="0"/>
                        <a:ea typeface="Roboto" panose="02000000000000000000" pitchFamily="2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MX" sz="1400" dirty="0"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-t</a:t>
                      </a:r>
                      <a:endParaRPr lang="es-MX" sz="1400" dirty="0">
                        <a:effectLst/>
                        <a:latin typeface="Roboto" panose="02000000000000000000" pitchFamily="2" charset="0"/>
                        <a:ea typeface="Roboto" panose="02000000000000000000" pitchFamily="2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MX" sz="1400" dirty="0"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Lista los archivos ordenados por el tiempo de modificación en vez de ordenarlos alfabéticamente.</a:t>
                      </a:r>
                      <a:endParaRPr lang="es-MX" sz="1400" dirty="0">
                        <a:effectLst/>
                        <a:latin typeface="Roboto" panose="02000000000000000000" pitchFamily="2" charset="0"/>
                        <a:ea typeface="Roboto" panose="02000000000000000000" pitchFamily="2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MX" sz="1400" dirty="0"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-A</a:t>
                      </a:r>
                      <a:endParaRPr lang="es-MX" sz="1400" dirty="0">
                        <a:effectLst/>
                        <a:latin typeface="Roboto" panose="02000000000000000000" pitchFamily="2" charset="0"/>
                        <a:ea typeface="Roboto" panose="02000000000000000000" pitchFamily="2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MX" sz="1400" dirty="0"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Lista todos los archivos excepto el “.” y el “..”</a:t>
                      </a:r>
                      <a:endParaRPr lang="es-MX" sz="1400" dirty="0">
                        <a:effectLst/>
                        <a:latin typeface="Roboto" panose="02000000000000000000" pitchFamily="2" charset="0"/>
                        <a:ea typeface="Roboto" panose="02000000000000000000" pitchFamily="2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MX" sz="1400" dirty="0"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-R</a:t>
                      </a:r>
                      <a:endParaRPr lang="es-MX" sz="1400" dirty="0">
                        <a:effectLst/>
                        <a:latin typeface="Roboto" panose="02000000000000000000" pitchFamily="2" charset="0"/>
                        <a:ea typeface="Roboto" panose="02000000000000000000" pitchFamily="2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MX" sz="1400" dirty="0"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Lista los contenidos de todos los directorios recursivamente.</a:t>
                      </a:r>
                      <a:endParaRPr lang="es-MX" sz="1400" dirty="0">
                        <a:effectLst/>
                        <a:latin typeface="Roboto" panose="02000000000000000000" pitchFamily="2" charset="0"/>
                        <a:ea typeface="Roboto" panose="02000000000000000000" pitchFamily="2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MX" sz="1400" dirty="0"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-S</a:t>
                      </a:r>
                      <a:endParaRPr lang="es-MX" sz="1400" dirty="0">
                        <a:effectLst/>
                        <a:latin typeface="Roboto" panose="02000000000000000000" pitchFamily="2" charset="0"/>
                        <a:ea typeface="Roboto" panose="02000000000000000000" pitchFamily="2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MX" sz="1400" dirty="0"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Ordena el listado por el tamaño de los archivos.</a:t>
                      </a:r>
                      <a:endParaRPr lang="es-MX" sz="1400" dirty="0">
                        <a:effectLst/>
                        <a:latin typeface="Roboto" panose="02000000000000000000" pitchFamily="2" charset="0"/>
                        <a:ea typeface="Roboto" panose="02000000000000000000" pitchFamily="2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71092005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ángulo 6"/>
          <p:cNvSpPr/>
          <p:nvPr/>
        </p:nvSpPr>
        <p:spPr>
          <a:xfrm>
            <a:off x="0" y="6138000"/>
            <a:ext cx="4320000" cy="720000"/>
          </a:xfrm>
          <a:prstGeom prst="rect">
            <a:avLst/>
          </a:prstGeom>
          <a:solidFill>
            <a:srgbClr val="C51A4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2" name="CuadroTexto 1"/>
          <p:cNvSpPr txBox="1"/>
          <p:nvPr/>
        </p:nvSpPr>
        <p:spPr>
          <a:xfrm>
            <a:off x="273465" y="212168"/>
            <a:ext cx="7598535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4800" b="1" dirty="0">
                <a:latin typeface="Roboto" panose="02000000000000000000" pitchFamily="2" charset="0"/>
                <a:ea typeface="Roboto" panose="02000000000000000000" pitchFamily="2" charset="0"/>
              </a:rPr>
              <a:t>Introducción a </a:t>
            </a:r>
            <a:r>
              <a:rPr lang="es-MX" sz="4800" b="1" dirty="0" err="1">
                <a:latin typeface="Roboto" panose="02000000000000000000" pitchFamily="2" charset="0"/>
                <a:ea typeface="Roboto" panose="02000000000000000000" pitchFamily="2" charset="0"/>
              </a:rPr>
              <a:t>Raspbian</a:t>
            </a:r>
            <a:endParaRPr lang="es-MX" sz="4800" b="1" dirty="0"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sp>
        <p:nvSpPr>
          <p:cNvPr id="10" name="CuadroTexto 9"/>
          <p:cNvSpPr txBox="1"/>
          <p:nvPr/>
        </p:nvSpPr>
        <p:spPr>
          <a:xfrm>
            <a:off x="273465" y="1055278"/>
            <a:ext cx="1126581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3200" dirty="0">
                <a:solidFill>
                  <a:srgbClr val="C51A40"/>
                </a:solidFill>
                <a:latin typeface="Roboto Slab" pitchFamily="2" charset="0"/>
                <a:ea typeface="Roboto Slab" pitchFamily="2" charset="0"/>
              </a:rPr>
              <a:t>Comando mkdir.</a:t>
            </a:r>
          </a:p>
        </p:txBody>
      </p:sp>
      <p:sp>
        <p:nvSpPr>
          <p:cNvPr id="12" name="Rectángulo 11"/>
          <p:cNvSpPr/>
          <p:nvPr/>
        </p:nvSpPr>
        <p:spPr>
          <a:xfrm>
            <a:off x="7872000" y="0"/>
            <a:ext cx="4320000" cy="720000"/>
          </a:xfrm>
          <a:prstGeom prst="rect">
            <a:avLst/>
          </a:prstGeom>
          <a:solidFill>
            <a:srgbClr val="C51A4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fld id="{5990E14E-10C1-4AA8-B2C7-C55C8C3B1C4A}" type="slidenum">
              <a:rPr lang="es-MX" smtClean="0">
                <a:latin typeface="Roboto" panose="02000000000000000000" pitchFamily="2" charset="0"/>
                <a:ea typeface="Roboto" panose="02000000000000000000" pitchFamily="2" charset="0"/>
              </a:rPr>
              <a:t>7</a:t>
            </a:fld>
            <a:endParaRPr lang="es-MX" dirty="0"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sp>
        <p:nvSpPr>
          <p:cNvPr id="5" name="CuadroTexto 4"/>
          <p:cNvSpPr txBox="1"/>
          <p:nvPr/>
        </p:nvSpPr>
        <p:spPr>
          <a:xfrm>
            <a:off x="273465" y="1738648"/>
            <a:ext cx="117811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s-MX" dirty="0">
                <a:latin typeface="Roboto" panose="02000000000000000000" pitchFamily="2" charset="0"/>
                <a:ea typeface="Roboto" panose="02000000000000000000" pitchFamily="2" charset="0"/>
              </a:rPr>
              <a:t>Su finalidad es la creación de directorios, y su sintaxis es la siguiente:</a:t>
            </a:r>
          </a:p>
        </p:txBody>
      </p:sp>
      <p:pic>
        <p:nvPicPr>
          <p:cNvPr id="11" name="Imagen 10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76445" y="6233400"/>
            <a:ext cx="3175200" cy="529200"/>
          </a:xfrm>
          <a:prstGeom prst="rect">
            <a:avLst/>
          </a:prstGeom>
        </p:spPr>
      </p:pic>
      <p:sp>
        <p:nvSpPr>
          <p:cNvPr id="13" name="CuadroTexto 12"/>
          <p:cNvSpPr txBox="1"/>
          <p:nvPr/>
        </p:nvSpPr>
        <p:spPr>
          <a:xfrm>
            <a:off x="205420" y="2483574"/>
            <a:ext cx="11781160" cy="369332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s-MX" dirty="0">
                <a:latin typeface="Courier New" panose="02070309020205020404" pitchFamily="49" charset="0"/>
                <a:ea typeface="Android Insomnia" pitchFamily="2" charset="-128"/>
                <a:cs typeface="Courier New" panose="02070309020205020404" pitchFamily="49" charset="0"/>
              </a:rPr>
              <a:t>pi@raspberrypi:~ $ mkdir [opciones] directorio...</a:t>
            </a:r>
          </a:p>
        </p:txBody>
      </p:sp>
      <p:graphicFrame>
        <p:nvGraphicFramePr>
          <p:cNvPr id="3" name="Tabla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81638024"/>
              </p:ext>
            </p:extLst>
          </p:nvPr>
        </p:nvGraphicFramePr>
        <p:xfrm>
          <a:off x="544885" y="3283658"/>
          <a:ext cx="11102230" cy="880491"/>
        </p:xfrm>
        <a:graphic>
          <a:graphicData uri="http://schemas.openxmlformats.org/drawingml/2006/table">
            <a:tbl>
              <a:tblPr firstRow="1" firstCol="1" bandRow="1">
                <a:tableStyleId>{2D5ABB26-0587-4C30-8999-92F81FD0307C}</a:tableStyleId>
              </a:tblPr>
              <a:tblGrid>
                <a:gridCol w="1309673"/>
                <a:gridCol w="9792557"/>
              </a:tblGrid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MX" sz="1800" dirty="0">
                          <a:solidFill>
                            <a:schemeClr val="bg1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Opción </a:t>
                      </a:r>
                      <a:endParaRPr lang="es-MX" sz="1800" dirty="0">
                        <a:solidFill>
                          <a:schemeClr val="bg1"/>
                        </a:solidFill>
                        <a:effectLst/>
                        <a:latin typeface="Roboto" panose="02000000000000000000" pitchFamily="2" charset="0"/>
                        <a:ea typeface="Roboto" panose="02000000000000000000" pitchFamily="2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rgbClr val="3737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MX" sz="1800" dirty="0">
                          <a:solidFill>
                            <a:schemeClr val="bg1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Descripción</a:t>
                      </a:r>
                      <a:endParaRPr lang="es-MX" sz="1800" dirty="0">
                        <a:solidFill>
                          <a:schemeClr val="bg1"/>
                        </a:solidFill>
                        <a:effectLst/>
                        <a:latin typeface="Roboto" panose="02000000000000000000" pitchFamily="2" charset="0"/>
                        <a:ea typeface="Roboto" panose="02000000000000000000" pitchFamily="2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rgbClr val="37373B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MX" sz="1800" b="0" dirty="0">
                          <a:solidFill>
                            <a:srgbClr val="37373B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  <a:cs typeface="Times New Roman" panose="02020603050405020304" pitchFamily="18" charset="0"/>
                        </a:rPr>
                        <a:t>-m modo</a:t>
                      </a:r>
                    </a:p>
                  </a:txBody>
                  <a:tcPr marL="68580" marR="68580" marT="0" marB="0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MX" sz="1800" b="0">
                          <a:solidFill>
                            <a:srgbClr val="37373B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  <a:cs typeface="Times New Roman" panose="02020603050405020304" pitchFamily="18" charset="0"/>
                        </a:rPr>
                        <a:t>Establece los permisos de los directorios creados.</a:t>
                      </a:r>
                    </a:p>
                  </a:txBody>
                  <a:tcPr marL="68580" marR="68580" marT="0" marB="0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MX" sz="1800" b="0">
                          <a:solidFill>
                            <a:srgbClr val="37373B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  <a:cs typeface="Times New Roman" panose="02020603050405020304" pitchFamily="18" charset="0"/>
                        </a:rPr>
                        <a:t>-p</a:t>
                      </a:r>
                    </a:p>
                  </a:txBody>
                  <a:tcPr marL="68580" marR="68580" marT="0" marB="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MX" sz="1800" b="0" dirty="0">
                          <a:solidFill>
                            <a:srgbClr val="37373B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  <a:cs typeface="Times New Roman" panose="02020603050405020304" pitchFamily="18" charset="0"/>
                        </a:rPr>
                        <a:t>Crea los directorios padre que falten para cada argumento directorio</a:t>
                      </a:r>
                    </a:p>
                  </a:txBody>
                  <a:tcPr marL="68580" marR="68580" marT="0" marB="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89909674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ángulo 6"/>
          <p:cNvSpPr/>
          <p:nvPr/>
        </p:nvSpPr>
        <p:spPr>
          <a:xfrm>
            <a:off x="0" y="6138000"/>
            <a:ext cx="4320000" cy="720000"/>
          </a:xfrm>
          <a:prstGeom prst="rect">
            <a:avLst/>
          </a:prstGeom>
          <a:solidFill>
            <a:srgbClr val="C51A4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2" name="CuadroTexto 1"/>
          <p:cNvSpPr txBox="1"/>
          <p:nvPr/>
        </p:nvSpPr>
        <p:spPr>
          <a:xfrm>
            <a:off x="273465" y="212168"/>
            <a:ext cx="7598535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4800" b="1" dirty="0">
                <a:latin typeface="Roboto" panose="02000000000000000000" pitchFamily="2" charset="0"/>
                <a:ea typeface="Roboto" panose="02000000000000000000" pitchFamily="2" charset="0"/>
              </a:rPr>
              <a:t>Introducción a </a:t>
            </a:r>
            <a:r>
              <a:rPr lang="es-MX" sz="4800" b="1" dirty="0" err="1">
                <a:latin typeface="Roboto" panose="02000000000000000000" pitchFamily="2" charset="0"/>
                <a:ea typeface="Roboto" panose="02000000000000000000" pitchFamily="2" charset="0"/>
              </a:rPr>
              <a:t>Raspbian</a:t>
            </a:r>
            <a:endParaRPr lang="es-MX" sz="4800" b="1" dirty="0"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sp>
        <p:nvSpPr>
          <p:cNvPr id="10" name="CuadroTexto 9"/>
          <p:cNvSpPr txBox="1"/>
          <p:nvPr/>
        </p:nvSpPr>
        <p:spPr>
          <a:xfrm>
            <a:off x="273465" y="1055278"/>
            <a:ext cx="1126581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3200" dirty="0">
                <a:solidFill>
                  <a:srgbClr val="C51A40"/>
                </a:solidFill>
                <a:latin typeface="Roboto Slab" pitchFamily="2" charset="0"/>
                <a:ea typeface="Roboto Slab" pitchFamily="2" charset="0"/>
              </a:rPr>
              <a:t>Comando cp.</a:t>
            </a:r>
          </a:p>
        </p:txBody>
      </p:sp>
      <p:sp>
        <p:nvSpPr>
          <p:cNvPr id="12" name="Rectángulo 11"/>
          <p:cNvSpPr/>
          <p:nvPr/>
        </p:nvSpPr>
        <p:spPr>
          <a:xfrm>
            <a:off x="7872000" y="0"/>
            <a:ext cx="4320000" cy="720000"/>
          </a:xfrm>
          <a:prstGeom prst="rect">
            <a:avLst/>
          </a:prstGeom>
          <a:solidFill>
            <a:srgbClr val="C51A4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fld id="{5990E14E-10C1-4AA8-B2C7-C55C8C3B1C4A}" type="slidenum">
              <a:rPr lang="es-MX" smtClean="0">
                <a:latin typeface="Roboto" panose="02000000000000000000" pitchFamily="2" charset="0"/>
                <a:ea typeface="Roboto" panose="02000000000000000000" pitchFamily="2" charset="0"/>
              </a:rPr>
              <a:t>8</a:t>
            </a:fld>
            <a:endParaRPr lang="es-MX" dirty="0"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sp>
        <p:nvSpPr>
          <p:cNvPr id="5" name="CuadroTexto 4"/>
          <p:cNvSpPr txBox="1"/>
          <p:nvPr/>
        </p:nvSpPr>
        <p:spPr>
          <a:xfrm>
            <a:off x="273465" y="1738648"/>
            <a:ext cx="117811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s-MX" dirty="0">
                <a:latin typeface="Roboto" panose="02000000000000000000" pitchFamily="2" charset="0"/>
                <a:ea typeface="Roboto" panose="02000000000000000000" pitchFamily="2" charset="0"/>
              </a:rPr>
              <a:t>Se utiliza para copiar archivos, su sintaxis es la siguiente:</a:t>
            </a:r>
          </a:p>
        </p:txBody>
      </p:sp>
      <p:pic>
        <p:nvPicPr>
          <p:cNvPr id="11" name="Imagen 10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76445" y="6233400"/>
            <a:ext cx="3175200" cy="529200"/>
          </a:xfrm>
          <a:prstGeom prst="rect">
            <a:avLst/>
          </a:prstGeom>
        </p:spPr>
      </p:pic>
      <p:sp>
        <p:nvSpPr>
          <p:cNvPr id="13" name="CuadroTexto 12"/>
          <p:cNvSpPr txBox="1"/>
          <p:nvPr/>
        </p:nvSpPr>
        <p:spPr>
          <a:xfrm>
            <a:off x="205420" y="2483574"/>
            <a:ext cx="11781160" cy="646331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s-MX" dirty="0">
                <a:latin typeface="Courier New" panose="02070309020205020404" pitchFamily="49" charset="0"/>
                <a:ea typeface="Android Insomnia" pitchFamily="2" charset="-128"/>
                <a:cs typeface="Courier New" panose="02070309020205020404" pitchFamily="49" charset="0"/>
              </a:rPr>
              <a:t>pi@raspberrypi:~ $ cp [opciones] archivo-origen directorio-destino</a:t>
            </a:r>
          </a:p>
          <a:p>
            <a:r>
              <a:rPr lang="es-MX" dirty="0">
                <a:latin typeface="Courier New" panose="02070309020205020404" pitchFamily="49" charset="0"/>
                <a:ea typeface="Android Insomnia" pitchFamily="2" charset="-128"/>
                <a:cs typeface="Courier New" panose="02070309020205020404" pitchFamily="49" charset="0"/>
              </a:rPr>
              <a:t>pi@raspberrypi:~ $ </a:t>
            </a:r>
            <a:r>
              <a:rPr lang="es-MX" dirty="0" smtClean="0">
                <a:latin typeface="Courier New" panose="02070309020205020404" pitchFamily="49" charset="0"/>
                <a:ea typeface="Android Insomnia" pitchFamily="2" charset="-128"/>
                <a:cs typeface="Courier New" panose="02070309020205020404" pitchFamily="49" charset="0"/>
              </a:rPr>
              <a:t>cp </a:t>
            </a:r>
            <a:r>
              <a:rPr lang="es-MX" dirty="0">
                <a:latin typeface="Courier New" panose="02070309020205020404" pitchFamily="49" charset="0"/>
                <a:ea typeface="Android Insomnia" pitchFamily="2" charset="-128"/>
                <a:cs typeface="Courier New" panose="02070309020205020404" pitchFamily="49" charset="0"/>
              </a:rPr>
              <a:t>[opciones] archivos-origen </a:t>
            </a:r>
            <a:r>
              <a:rPr lang="es-MX" dirty="0" smtClean="0">
                <a:latin typeface="Courier New" panose="02070309020205020404" pitchFamily="49" charset="0"/>
                <a:ea typeface="Android Insomnia" pitchFamily="2" charset="-128"/>
                <a:cs typeface="Courier New" panose="02070309020205020404" pitchFamily="49" charset="0"/>
              </a:rPr>
              <a:t>directorio-destino</a:t>
            </a:r>
            <a:endParaRPr lang="es-MX" dirty="0">
              <a:latin typeface="Courier New" panose="02070309020205020404" pitchFamily="49" charset="0"/>
              <a:ea typeface="Android Insomnia" pitchFamily="2" charset="-128"/>
              <a:cs typeface="Courier New" panose="02070309020205020404" pitchFamily="49" charset="0"/>
            </a:endParaRPr>
          </a:p>
        </p:txBody>
      </p:sp>
      <p:graphicFrame>
        <p:nvGraphicFramePr>
          <p:cNvPr id="14" name="Tabla 1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16288564"/>
              </p:ext>
            </p:extLst>
          </p:nvPr>
        </p:nvGraphicFramePr>
        <p:xfrm>
          <a:off x="847858" y="3798487"/>
          <a:ext cx="10496283" cy="1826264"/>
        </p:xfrm>
        <a:graphic>
          <a:graphicData uri="http://schemas.openxmlformats.org/drawingml/2006/table">
            <a:tbl>
              <a:tblPr firstRow="1" firstCol="1" bandRow="1">
                <a:tableStyleId>{2D5ABB26-0587-4C30-8999-92F81FD0307C}</a:tableStyleId>
              </a:tblPr>
              <a:tblGrid>
                <a:gridCol w="1120463"/>
                <a:gridCol w="9375820"/>
              </a:tblGrid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MX" sz="1400" dirty="0">
                          <a:solidFill>
                            <a:schemeClr val="bg1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Opción </a:t>
                      </a:r>
                      <a:endParaRPr lang="es-MX" sz="1400" dirty="0">
                        <a:solidFill>
                          <a:schemeClr val="bg1"/>
                        </a:solidFill>
                        <a:effectLst/>
                        <a:latin typeface="Roboto" panose="02000000000000000000" pitchFamily="2" charset="0"/>
                        <a:ea typeface="Roboto" panose="02000000000000000000" pitchFamily="2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rgbClr val="3737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MX" sz="1400" dirty="0">
                          <a:solidFill>
                            <a:schemeClr val="bg1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Descripción</a:t>
                      </a:r>
                      <a:endParaRPr lang="es-MX" sz="1400" dirty="0">
                        <a:solidFill>
                          <a:schemeClr val="bg1"/>
                        </a:solidFill>
                        <a:effectLst/>
                        <a:latin typeface="Roboto" panose="02000000000000000000" pitchFamily="2" charset="0"/>
                        <a:ea typeface="Roboto" panose="02000000000000000000" pitchFamily="2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rgbClr val="37373B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MX" sz="1400" dirty="0"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-f</a:t>
                      </a:r>
                      <a:endParaRPr lang="es-MX" sz="1400" dirty="0">
                        <a:solidFill>
                          <a:srgbClr val="37373B"/>
                        </a:solidFill>
                        <a:effectLst/>
                        <a:latin typeface="Roboto" panose="02000000000000000000" pitchFamily="2" charset="0"/>
                        <a:ea typeface="Roboto" panose="02000000000000000000" pitchFamily="2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MX" sz="1400" dirty="0"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Borrar los archivos de destino ya existentes.</a:t>
                      </a:r>
                      <a:endParaRPr lang="es-MX" sz="1400" dirty="0">
                        <a:solidFill>
                          <a:srgbClr val="37373B"/>
                        </a:solidFill>
                        <a:effectLst/>
                        <a:latin typeface="Roboto" panose="02000000000000000000" pitchFamily="2" charset="0"/>
                        <a:ea typeface="Roboto" panose="02000000000000000000" pitchFamily="2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MX" sz="1400" dirty="0"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-d</a:t>
                      </a:r>
                      <a:endParaRPr lang="es-MX" sz="1400" dirty="0">
                        <a:solidFill>
                          <a:srgbClr val="37373B"/>
                        </a:solidFill>
                        <a:effectLst/>
                        <a:latin typeface="Roboto" panose="02000000000000000000" pitchFamily="2" charset="0"/>
                        <a:ea typeface="Roboto" panose="02000000000000000000" pitchFamily="2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MX" sz="1400" dirty="0"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Copiar los enlaces simbólicos tal cual son, en lugar de copiar los archivos a los que apuntan.</a:t>
                      </a:r>
                      <a:endParaRPr lang="es-MX" sz="1400" dirty="0">
                        <a:solidFill>
                          <a:srgbClr val="37373B"/>
                        </a:solidFill>
                        <a:effectLst/>
                        <a:latin typeface="Roboto" panose="02000000000000000000" pitchFamily="2" charset="0"/>
                        <a:ea typeface="Roboto" panose="02000000000000000000" pitchFamily="2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MX" sz="1400" dirty="0"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-p</a:t>
                      </a:r>
                      <a:endParaRPr lang="es-MX" sz="1400" dirty="0">
                        <a:solidFill>
                          <a:srgbClr val="37373B"/>
                        </a:solidFill>
                        <a:effectLst/>
                        <a:latin typeface="Roboto" panose="02000000000000000000" pitchFamily="2" charset="0"/>
                        <a:ea typeface="Roboto" panose="02000000000000000000" pitchFamily="2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MX" sz="1400" dirty="0"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Preservar los permisos, el usuario y el grupo del archivo a copiar.</a:t>
                      </a:r>
                      <a:endParaRPr lang="es-MX" sz="1400" dirty="0">
                        <a:solidFill>
                          <a:srgbClr val="37373B"/>
                        </a:solidFill>
                        <a:effectLst/>
                        <a:latin typeface="Roboto" panose="02000000000000000000" pitchFamily="2" charset="0"/>
                        <a:ea typeface="Roboto" panose="02000000000000000000" pitchFamily="2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MX" sz="1400" dirty="0"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-R</a:t>
                      </a:r>
                      <a:endParaRPr lang="es-MX" sz="1400" dirty="0">
                        <a:solidFill>
                          <a:srgbClr val="37373B"/>
                        </a:solidFill>
                        <a:effectLst/>
                        <a:latin typeface="Roboto" panose="02000000000000000000" pitchFamily="2" charset="0"/>
                        <a:ea typeface="Roboto" panose="02000000000000000000" pitchFamily="2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MX" sz="1400" dirty="0"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Copiar directorios recursivamente.</a:t>
                      </a:r>
                      <a:endParaRPr lang="es-MX" sz="1400" dirty="0">
                        <a:solidFill>
                          <a:srgbClr val="37373B"/>
                        </a:solidFill>
                        <a:effectLst/>
                        <a:latin typeface="Roboto" panose="02000000000000000000" pitchFamily="2" charset="0"/>
                        <a:ea typeface="Roboto" panose="02000000000000000000" pitchFamily="2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MX" sz="1400" dirty="0"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-a</a:t>
                      </a:r>
                      <a:endParaRPr lang="es-MX" sz="1400" dirty="0">
                        <a:solidFill>
                          <a:srgbClr val="37373B"/>
                        </a:solidFill>
                        <a:effectLst/>
                        <a:latin typeface="Roboto" panose="02000000000000000000" pitchFamily="2" charset="0"/>
                        <a:ea typeface="Roboto" panose="02000000000000000000" pitchFamily="2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MX" sz="1400" dirty="0"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Equivalente a utilizar las opciones -</a:t>
                      </a:r>
                      <a:r>
                        <a:rPr lang="es-MX" sz="1400" dirty="0" err="1"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dpR</a:t>
                      </a:r>
                      <a:r>
                        <a:rPr lang="es-MX" sz="1400" dirty="0"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.</a:t>
                      </a:r>
                      <a:endParaRPr lang="es-MX" sz="1400" dirty="0">
                        <a:solidFill>
                          <a:srgbClr val="37373B"/>
                        </a:solidFill>
                        <a:effectLst/>
                        <a:latin typeface="Roboto" panose="02000000000000000000" pitchFamily="2" charset="0"/>
                        <a:ea typeface="Roboto" panose="02000000000000000000" pitchFamily="2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MX" sz="1400" dirty="0"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-u</a:t>
                      </a:r>
                      <a:endParaRPr lang="es-MX" sz="1400" dirty="0">
                        <a:solidFill>
                          <a:srgbClr val="37373B"/>
                        </a:solidFill>
                        <a:effectLst/>
                        <a:latin typeface="Roboto" panose="02000000000000000000" pitchFamily="2" charset="0"/>
                        <a:ea typeface="Roboto" panose="02000000000000000000" pitchFamily="2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MX" sz="1400" dirty="0"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No copia un archivo si en el destino ya existe tal archivo, y éste tiene la fecha de modificación igual o más reciente.</a:t>
                      </a:r>
                      <a:endParaRPr lang="es-MX" sz="1400" dirty="0">
                        <a:solidFill>
                          <a:srgbClr val="37373B"/>
                        </a:solidFill>
                        <a:effectLst/>
                        <a:latin typeface="Roboto" panose="02000000000000000000" pitchFamily="2" charset="0"/>
                        <a:ea typeface="Roboto" panose="02000000000000000000" pitchFamily="2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MX" sz="1400" dirty="0"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-v</a:t>
                      </a:r>
                      <a:endParaRPr lang="es-MX" sz="1400" dirty="0">
                        <a:solidFill>
                          <a:srgbClr val="37373B"/>
                        </a:solidFill>
                        <a:effectLst/>
                        <a:latin typeface="Roboto" panose="02000000000000000000" pitchFamily="2" charset="0"/>
                        <a:ea typeface="Roboto" panose="02000000000000000000" pitchFamily="2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MX" sz="1400" dirty="0"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Da información en pantalla sobre los archivos que se van copiando.</a:t>
                      </a:r>
                      <a:endParaRPr lang="es-MX" sz="1400" dirty="0">
                        <a:solidFill>
                          <a:srgbClr val="37373B"/>
                        </a:solidFill>
                        <a:effectLst/>
                        <a:latin typeface="Roboto" panose="02000000000000000000" pitchFamily="2" charset="0"/>
                        <a:ea typeface="Roboto" panose="02000000000000000000" pitchFamily="2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23898938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ángulo 6"/>
          <p:cNvSpPr/>
          <p:nvPr/>
        </p:nvSpPr>
        <p:spPr>
          <a:xfrm>
            <a:off x="0" y="6138000"/>
            <a:ext cx="4320000" cy="720000"/>
          </a:xfrm>
          <a:prstGeom prst="rect">
            <a:avLst/>
          </a:prstGeom>
          <a:solidFill>
            <a:srgbClr val="C51A4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2" name="CuadroTexto 1"/>
          <p:cNvSpPr txBox="1"/>
          <p:nvPr/>
        </p:nvSpPr>
        <p:spPr>
          <a:xfrm>
            <a:off x="273465" y="212168"/>
            <a:ext cx="7598535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4800" b="1" dirty="0">
                <a:latin typeface="Roboto" panose="02000000000000000000" pitchFamily="2" charset="0"/>
                <a:ea typeface="Roboto" panose="02000000000000000000" pitchFamily="2" charset="0"/>
              </a:rPr>
              <a:t>Introducción a </a:t>
            </a:r>
            <a:r>
              <a:rPr lang="es-MX" sz="4800" b="1" dirty="0" err="1">
                <a:latin typeface="Roboto" panose="02000000000000000000" pitchFamily="2" charset="0"/>
                <a:ea typeface="Roboto" panose="02000000000000000000" pitchFamily="2" charset="0"/>
              </a:rPr>
              <a:t>Raspbian</a:t>
            </a:r>
            <a:endParaRPr lang="es-MX" sz="4800" b="1" dirty="0"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sp>
        <p:nvSpPr>
          <p:cNvPr id="10" name="CuadroTexto 9"/>
          <p:cNvSpPr txBox="1"/>
          <p:nvPr/>
        </p:nvSpPr>
        <p:spPr>
          <a:xfrm>
            <a:off x="273465" y="1055278"/>
            <a:ext cx="1126581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3200" dirty="0">
                <a:solidFill>
                  <a:srgbClr val="C51A40"/>
                </a:solidFill>
                <a:latin typeface="Roboto Slab" pitchFamily="2" charset="0"/>
                <a:ea typeface="Roboto Slab" pitchFamily="2" charset="0"/>
              </a:rPr>
              <a:t>Comando mv.</a:t>
            </a:r>
          </a:p>
        </p:txBody>
      </p:sp>
      <p:sp>
        <p:nvSpPr>
          <p:cNvPr id="12" name="Rectángulo 11"/>
          <p:cNvSpPr/>
          <p:nvPr/>
        </p:nvSpPr>
        <p:spPr>
          <a:xfrm>
            <a:off x="7872000" y="0"/>
            <a:ext cx="4320000" cy="720000"/>
          </a:xfrm>
          <a:prstGeom prst="rect">
            <a:avLst/>
          </a:prstGeom>
          <a:solidFill>
            <a:srgbClr val="C51A4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fld id="{5990E14E-10C1-4AA8-B2C7-C55C8C3B1C4A}" type="slidenum">
              <a:rPr lang="es-MX" smtClean="0">
                <a:latin typeface="Roboto" panose="02000000000000000000" pitchFamily="2" charset="0"/>
                <a:ea typeface="Roboto" panose="02000000000000000000" pitchFamily="2" charset="0"/>
              </a:rPr>
              <a:t>9</a:t>
            </a:fld>
            <a:endParaRPr lang="es-MX" dirty="0"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sp>
        <p:nvSpPr>
          <p:cNvPr id="5" name="CuadroTexto 4"/>
          <p:cNvSpPr txBox="1"/>
          <p:nvPr/>
        </p:nvSpPr>
        <p:spPr>
          <a:xfrm>
            <a:off x="273465" y="1738648"/>
            <a:ext cx="1178116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s-MX" dirty="0">
                <a:latin typeface="Roboto" panose="02000000000000000000" pitchFamily="2" charset="0"/>
                <a:ea typeface="Roboto" panose="02000000000000000000" pitchFamily="2" charset="0"/>
              </a:rPr>
              <a:t>Este comando se usa tanto para mover archivos, como para renombrarlos (que, al fin de cuentas, es una manera de mover archivos); su sintaxis es la siguiente:</a:t>
            </a:r>
          </a:p>
        </p:txBody>
      </p:sp>
      <p:pic>
        <p:nvPicPr>
          <p:cNvPr id="11" name="Imagen 10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76445" y="6233400"/>
            <a:ext cx="3175200" cy="529200"/>
          </a:xfrm>
          <a:prstGeom prst="rect">
            <a:avLst/>
          </a:prstGeom>
        </p:spPr>
      </p:pic>
      <p:sp>
        <p:nvSpPr>
          <p:cNvPr id="13" name="CuadroTexto 12"/>
          <p:cNvSpPr txBox="1"/>
          <p:nvPr/>
        </p:nvSpPr>
        <p:spPr>
          <a:xfrm>
            <a:off x="205420" y="2483574"/>
            <a:ext cx="11781160" cy="369332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s-MX" dirty="0">
                <a:latin typeface="Courier New" panose="02070309020205020404" pitchFamily="49" charset="0"/>
                <a:ea typeface="Android Insomnia" pitchFamily="2" charset="-128"/>
                <a:cs typeface="Courier New" panose="02070309020205020404" pitchFamily="49" charset="0"/>
              </a:rPr>
              <a:t>pi@raspberrypi:~ $ mv [opciones...] origen </a:t>
            </a:r>
            <a:r>
              <a:rPr lang="es-MX" dirty="0" smtClean="0">
                <a:latin typeface="Courier New" panose="02070309020205020404" pitchFamily="49" charset="0"/>
                <a:ea typeface="Android Insomnia" pitchFamily="2" charset="-128"/>
                <a:cs typeface="Courier New" panose="02070309020205020404" pitchFamily="49" charset="0"/>
              </a:rPr>
              <a:t>destino</a:t>
            </a:r>
          </a:p>
        </p:txBody>
      </p:sp>
      <p:graphicFrame>
        <p:nvGraphicFramePr>
          <p:cNvPr id="14" name="Tabla 1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42012864"/>
              </p:ext>
            </p:extLst>
          </p:nvPr>
        </p:nvGraphicFramePr>
        <p:xfrm>
          <a:off x="847858" y="3465513"/>
          <a:ext cx="10496283" cy="1173988"/>
        </p:xfrm>
        <a:graphic>
          <a:graphicData uri="http://schemas.openxmlformats.org/drawingml/2006/table">
            <a:tbl>
              <a:tblPr firstRow="1" firstCol="1" bandRow="1">
                <a:tableStyleId>{2D5ABB26-0587-4C30-8999-92F81FD0307C}</a:tableStyleId>
              </a:tblPr>
              <a:tblGrid>
                <a:gridCol w="1120463"/>
                <a:gridCol w="9375820"/>
              </a:tblGrid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MX" sz="1800" dirty="0">
                          <a:solidFill>
                            <a:schemeClr val="bg1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Opción </a:t>
                      </a:r>
                      <a:endParaRPr lang="es-MX" sz="1800" dirty="0">
                        <a:solidFill>
                          <a:schemeClr val="bg1"/>
                        </a:solidFill>
                        <a:effectLst/>
                        <a:latin typeface="Roboto" panose="02000000000000000000" pitchFamily="2" charset="0"/>
                        <a:ea typeface="Roboto" panose="02000000000000000000" pitchFamily="2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rgbClr val="3737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MX" sz="1800" dirty="0">
                          <a:solidFill>
                            <a:schemeClr val="bg1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Descripción</a:t>
                      </a:r>
                      <a:endParaRPr lang="es-MX" sz="1800" dirty="0">
                        <a:solidFill>
                          <a:schemeClr val="bg1"/>
                        </a:solidFill>
                        <a:effectLst/>
                        <a:latin typeface="Roboto" panose="02000000000000000000" pitchFamily="2" charset="0"/>
                        <a:ea typeface="Roboto" panose="02000000000000000000" pitchFamily="2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rgbClr val="37373B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MX" sz="1800" b="0">
                          <a:solidFill>
                            <a:schemeClr val="tx1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  <a:cs typeface="Times New Roman" panose="02020603050405020304" pitchFamily="18" charset="0"/>
                        </a:rPr>
                        <a:t>-f</a:t>
                      </a:r>
                    </a:p>
                  </a:txBody>
                  <a:tcPr marL="68580" marR="68580" marT="0" marB="0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MX" sz="1800" b="0" dirty="0">
                          <a:solidFill>
                            <a:schemeClr val="tx1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  <a:cs typeface="Times New Roman" panose="02020603050405020304" pitchFamily="18" charset="0"/>
                        </a:rPr>
                        <a:t>Borrar los archivos de destino existentes sin preguntar al usuario.</a:t>
                      </a:r>
                    </a:p>
                  </a:txBody>
                  <a:tcPr marL="68580" marR="68580" marT="0" marB="0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MX" sz="1800" b="0">
                          <a:solidFill>
                            <a:schemeClr val="tx1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  <a:cs typeface="Times New Roman" panose="02020603050405020304" pitchFamily="18" charset="0"/>
                        </a:rPr>
                        <a:t>-i</a:t>
                      </a:r>
                    </a:p>
                  </a:txBody>
                  <a:tcPr marL="68580" marR="68580" marT="0" marB="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MX" sz="1800" b="0">
                          <a:solidFill>
                            <a:schemeClr val="tx1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  <a:cs typeface="Times New Roman" panose="02020603050405020304" pitchFamily="18" charset="0"/>
                        </a:rPr>
                        <a:t>Lo contrario de -f; pregunta por cada archivo a sobrescribir antes de hacerlo.</a:t>
                      </a:r>
                    </a:p>
                  </a:txBody>
                  <a:tcPr marL="68580" marR="68580" marT="0" marB="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MX" sz="1800" b="0">
                          <a:solidFill>
                            <a:schemeClr val="tx1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  <a:cs typeface="Times New Roman" panose="02020603050405020304" pitchFamily="18" charset="0"/>
                        </a:rPr>
                        <a:t>-v</a:t>
                      </a:r>
                    </a:p>
                  </a:txBody>
                  <a:tcPr marL="68580" marR="68580" marT="0" marB="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MX" sz="1800" b="0" dirty="0">
                          <a:solidFill>
                            <a:schemeClr val="tx1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  <a:cs typeface="Times New Roman" panose="02020603050405020304" pitchFamily="18" charset="0"/>
                        </a:rPr>
                        <a:t>Muestra el nombre de cada archivo a ser movido.</a:t>
                      </a:r>
                    </a:p>
                  </a:txBody>
                  <a:tcPr marL="68580" marR="68580" marT="0" marB="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24852555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ángulo 6"/>
          <p:cNvSpPr/>
          <p:nvPr/>
        </p:nvSpPr>
        <p:spPr>
          <a:xfrm>
            <a:off x="0" y="6138000"/>
            <a:ext cx="4320000" cy="720000"/>
          </a:xfrm>
          <a:prstGeom prst="rect">
            <a:avLst/>
          </a:prstGeom>
          <a:solidFill>
            <a:srgbClr val="C51A4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2" name="CuadroTexto 1"/>
          <p:cNvSpPr txBox="1"/>
          <p:nvPr/>
        </p:nvSpPr>
        <p:spPr>
          <a:xfrm>
            <a:off x="273465" y="212168"/>
            <a:ext cx="7598535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4800" b="1" dirty="0">
                <a:latin typeface="Roboto" panose="02000000000000000000" pitchFamily="2" charset="0"/>
                <a:ea typeface="Roboto" panose="02000000000000000000" pitchFamily="2" charset="0"/>
              </a:rPr>
              <a:t>Introducción a </a:t>
            </a:r>
            <a:r>
              <a:rPr lang="es-MX" sz="4800" b="1" dirty="0" err="1">
                <a:latin typeface="Roboto" panose="02000000000000000000" pitchFamily="2" charset="0"/>
                <a:ea typeface="Roboto" panose="02000000000000000000" pitchFamily="2" charset="0"/>
              </a:rPr>
              <a:t>Raspbian</a:t>
            </a:r>
            <a:endParaRPr lang="es-MX" sz="4800" b="1" dirty="0"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sp>
        <p:nvSpPr>
          <p:cNvPr id="10" name="CuadroTexto 9"/>
          <p:cNvSpPr txBox="1"/>
          <p:nvPr/>
        </p:nvSpPr>
        <p:spPr>
          <a:xfrm>
            <a:off x="273465" y="1055278"/>
            <a:ext cx="1126581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3200" dirty="0">
                <a:solidFill>
                  <a:srgbClr val="C51A40"/>
                </a:solidFill>
                <a:latin typeface="Roboto Slab" pitchFamily="2" charset="0"/>
                <a:ea typeface="Roboto Slab" pitchFamily="2" charset="0"/>
              </a:rPr>
              <a:t>Comando rm.</a:t>
            </a:r>
          </a:p>
        </p:txBody>
      </p:sp>
      <p:sp>
        <p:nvSpPr>
          <p:cNvPr id="12" name="Rectángulo 11"/>
          <p:cNvSpPr/>
          <p:nvPr/>
        </p:nvSpPr>
        <p:spPr>
          <a:xfrm>
            <a:off x="7872000" y="0"/>
            <a:ext cx="4320000" cy="720000"/>
          </a:xfrm>
          <a:prstGeom prst="rect">
            <a:avLst/>
          </a:prstGeom>
          <a:solidFill>
            <a:srgbClr val="C51A4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fld id="{5990E14E-10C1-4AA8-B2C7-C55C8C3B1C4A}" type="slidenum">
              <a:rPr lang="es-MX" smtClean="0">
                <a:latin typeface="Roboto" panose="02000000000000000000" pitchFamily="2" charset="0"/>
                <a:ea typeface="Roboto" panose="02000000000000000000" pitchFamily="2" charset="0"/>
              </a:rPr>
              <a:t>10</a:t>
            </a:fld>
            <a:endParaRPr lang="es-MX" dirty="0"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sp>
        <p:nvSpPr>
          <p:cNvPr id="5" name="CuadroTexto 4"/>
          <p:cNvSpPr txBox="1"/>
          <p:nvPr/>
        </p:nvSpPr>
        <p:spPr>
          <a:xfrm>
            <a:off x="273465" y="1738648"/>
            <a:ext cx="117811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s-MX" dirty="0">
                <a:latin typeface="Roboto" panose="02000000000000000000" pitchFamily="2" charset="0"/>
                <a:ea typeface="Roboto" panose="02000000000000000000" pitchFamily="2" charset="0"/>
              </a:rPr>
              <a:t>Este se utiliza para borrar archivos o directorios, su sintaxis es:</a:t>
            </a:r>
          </a:p>
        </p:txBody>
      </p:sp>
      <p:pic>
        <p:nvPicPr>
          <p:cNvPr id="11" name="Imagen 10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76445" y="6233400"/>
            <a:ext cx="3175200" cy="529200"/>
          </a:xfrm>
          <a:prstGeom prst="rect">
            <a:avLst/>
          </a:prstGeom>
        </p:spPr>
      </p:pic>
      <p:sp>
        <p:nvSpPr>
          <p:cNvPr id="13" name="CuadroTexto 12"/>
          <p:cNvSpPr txBox="1"/>
          <p:nvPr/>
        </p:nvSpPr>
        <p:spPr>
          <a:xfrm>
            <a:off x="205420" y="2483574"/>
            <a:ext cx="11781160" cy="369332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s-MX" dirty="0">
                <a:latin typeface="Courier New" panose="02070309020205020404" pitchFamily="49" charset="0"/>
                <a:ea typeface="Android Insomnia" pitchFamily="2" charset="-128"/>
                <a:cs typeface="Courier New" panose="02070309020205020404" pitchFamily="49" charset="0"/>
              </a:rPr>
              <a:t>pi@raspberrypi:~ $ rm [opciones] archivo...</a:t>
            </a:r>
            <a:endParaRPr lang="es-MX" dirty="0" smtClean="0">
              <a:latin typeface="Courier New" panose="02070309020205020404" pitchFamily="49" charset="0"/>
              <a:ea typeface="Android Insomnia" pitchFamily="2" charset="-128"/>
              <a:cs typeface="Courier New" panose="02070309020205020404" pitchFamily="49" charset="0"/>
            </a:endParaRPr>
          </a:p>
        </p:txBody>
      </p:sp>
      <p:graphicFrame>
        <p:nvGraphicFramePr>
          <p:cNvPr id="14" name="Tabla 1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0623918"/>
              </p:ext>
            </p:extLst>
          </p:nvPr>
        </p:nvGraphicFramePr>
        <p:xfrm>
          <a:off x="847858" y="3465513"/>
          <a:ext cx="10496283" cy="1467485"/>
        </p:xfrm>
        <a:graphic>
          <a:graphicData uri="http://schemas.openxmlformats.org/drawingml/2006/table">
            <a:tbl>
              <a:tblPr firstRow="1" firstCol="1" bandRow="1">
                <a:tableStyleId>{2D5ABB26-0587-4C30-8999-92F81FD0307C}</a:tableStyleId>
              </a:tblPr>
              <a:tblGrid>
                <a:gridCol w="1120463"/>
                <a:gridCol w="9375820"/>
              </a:tblGrid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MX" sz="1800" dirty="0">
                          <a:solidFill>
                            <a:schemeClr val="bg1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Opción </a:t>
                      </a:r>
                      <a:endParaRPr lang="es-MX" sz="1800" dirty="0">
                        <a:solidFill>
                          <a:schemeClr val="bg1"/>
                        </a:solidFill>
                        <a:effectLst/>
                        <a:latin typeface="Roboto" panose="02000000000000000000" pitchFamily="2" charset="0"/>
                        <a:ea typeface="Roboto" panose="02000000000000000000" pitchFamily="2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rgbClr val="3737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MX" sz="1800" dirty="0">
                          <a:solidFill>
                            <a:schemeClr val="bg1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Descripción</a:t>
                      </a:r>
                      <a:endParaRPr lang="es-MX" sz="1800" dirty="0">
                        <a:solidFill>
                          <a:schemeClr val="bg1"/>
                        </a:solidFill>
                        <a:effectLst/>
                        <a:latin typeface="Roboto" panose="02000000000000000000" pitchFamily="2" charset="0"/>
                        <a:ea typeface="Roboto" panose="02000000000000000000" pitchFamily="2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rgbClr val="37373B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MX" sz="1800" b="0">
                          <a:solidFill>
                            <a:schemeClr val="tx1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  <a:cs typeface="Courier New" panose="02070309020205020404" pitchFamily="49" charset="0"/>
                        </a:rPr>
                        <a:t>-f</a:t>
                      </a:r>
                    </a:p>
                  </a:txBody>
                  <a:tcPr marL="68580" marR="68580" marT="0" marB="0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MX" sz="1800" b="0">
                          <a:solidFill>
                            <a:schemeClr val="tx1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  <a:cs typeface="Courier New" panose="02070309020205020404" pitchFamily="49" charset="0"/>
                        </a:rPr>
                        <a:t>No imprimir mensajes de error, ni pedir al usuario una confirmación por cada archivo que se vaya a borrar.</a:t>
                      </a:r>
                    </a:p>
                  </a:txBody>
                  <a:tcPr marL="68580" marR="68580" marT="0" marB="0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MX" sz="1800" b="0">
                          <a:solidFill>
                            <a:schemeClr val="tx1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  <a:cs typeface="Courier New" panose="02070309020205020404" pitchFamily="49" charset="0"/>
                        </a:rPr>
                        <a:t>-r</a:t>
                      </a:r>
                    </a:p>
                  </a:txBody>
                  <a:tcPr marL="68580" marR="68580" marT="0" marB="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MX" sz="1800" b="0">
                          <a:solidFill>
                            <a:schemeClr val="tx1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  <a:cs typeface="Courier New" panose="02070309020205020404" pitchFamily="49" charset="0"/>
                        </a:rPr>
                        <a:t>Borrar los contenidos de directorios recursivamente.</a:t>
                      </a:r>
                    </a:p>
                  </a:txBody>
                  <a:tcPr marL="68580" marR="68580" marT="0" marB="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MX" sz="1800" b="0">
                          <a:solidFill>
                            <a:schemeClr val="tx1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  <a:cs typeface="Courier New" panose="02070309020205020404" pitchFamily="49" charset="0"/>
                        </a:rPr>
                        <a:t>-v</a:t>
                      </a:r>
                    </a:p>
                  </a:txBody>
                  <a:tcPr marL="68580" marR="68580" marT="0" marB="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MX" sz="1800" b="0" dirty="0">
                          <a:solidFill>
                            <a:schemeClr val="tx1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  <a:cs typeface="Courier New" panose="02070309020205020404" pitchFamily="49" charset="0"/>
                        </a:rPr>
                        <a:t>Muestra el nombre de cada archivo eliminado.</a:t>
                      </a:r>
                    </a:p>
                  </a:txBody>
                  <a:tcPr marL="68580" marR="68580" marT="0" marB="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20450985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ángulo 6"/>
          <p:cNvSpPr/>
          <p:nvPr/>
        </p:nvSpPr>
        <p:spPr>
          <a:xfrm>
            <a:off x="0" y="6138000"/>
            <a:ext cx="4320000" cy="720000"/>
          </a:xfrm>
          <a:prstGeom prst="rect">
            <a:avLst/>
          </a:prstGeom>
          <a:solidFill>
            <a:srgbClr val="C51A4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2" name="CuadroTexto 1"/>
          <p:cNvSpPr txBox="1"/>
          <p:nvPr/>
        </p:nvSpPr>
        <p:spPr>
          <a:xfrm>
            <a:off x="273465" y="212168"/>
            <a:ext cx="7598535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4800" b="1" dirty="0">
                <a:latin typeface="Roboto" panose="02000000000000000000" pitchFamily="2" charset="0"/>
                <a:ea typeface="Roboto" panose="02000000000000000000" pitchFamily="2" charset="0"/>
              </a:rPr>
              <a:t>Introducción a </a:t>
            </a:r>
            <a:r>
              <a:rPr lang="es-MX" sz="4800" b="1" dirty="0" err="1">
                <a:latin typeface="Roboto" panose="02000000000000000000" pitchFamily="2" charset="0"/>
                <a:ea typeface="Roboto" panose="02000000000000000000" pitchFamily="2" charset="0"/>
              </a:rPr>
              <a:t>Raspbian</a:t>
            </a:r>
            <a:endParaRPr lang="es-MX" sz="4800" b="1" dirty="0"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sp>
        <p:nvSpPr>
          <p:cNvPr id="10" name="CuadroTexto 9"/>
          <p:cNvSpPr txBox="1"/>
          <p:nvPr/>
        </p:nvSpPr>
        <p:spPr>
          <a:xfrm>
            <a:off x="273465" y="1055278"/>
            <a:ext cx="1126581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3200" dirty="0">
                <a:solidFill>
                  <a:srgbClr val="C51A40"/>
                </a:solidFill>
                <a:latin typeface="Roboto Slab" pitchFamily="2" charset="0"/>
                <a:ea typeface="Roboto Slab" pitchFamily="2" charset="0"/>
              </a:rPr>
              <a:t>Comando clear.</a:t>
            </a:r>
          </a:p>
        </p:txBody>
      </p:sp>
      <p:sp>
        <p:nvSpPr>
          <p:cNvPr id="12" name="Rectángulo 11"/>
          <p:cNvSpPr/>
          <p:nvPr/>
        </p:nvSpPr>
        <p:spPr>
          <a:xfrm>
            <a:off x="7872000" y="0"/>
            <a:ext cx="4320000" cy="720000"/>
          </a:xfrm>
          <a:prstGeom prst="rect">
            <a:avLst/>
          </a:prstGeom>
          <a:solidFill>
            <a:srgbClr val="C51A4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fld id="{5990E14E-10C1-4AA8-B2C7-C55C8C3B1C4A}" type="slidenum">
              <a:rPr lang="es-MX" smtClean="0">
                <a:latin typeface="Roboto" panose="02000000000000000000" pitchFamily="2" charset="0"/>
                <a:ea typeface="Roboto" panose="02000000000000000000" pitchFamily="2" charset="0"/>
              </a:rPr>
              <a:t>11</a:t>
            </a:fld>
            <a:endParaRPr lang="es-MX" dirty="0"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sp>
        <p:nvSpPr>
          <p:cNvPr id="5" name="CuadroTexto 4"/>
          <p:cNvSpPr txBox="1"/>
          <p:nvPr/>
        </p:nvSpPr>
        <p:spPr>
          <a:xfrm>
            <a:off x="273465" y="1738648"/>
            <a:ext cx="117811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s-MX" dirty="0">
                <a:latin typeface="Roboto" panose="02000000000000000000" pitchFamily="2" charset="0"/>
                <a:ea typeface="Roboto" panose="02000000000000000000" pitchFamily="2" charset="0"/>
              </a:rPr>
              <a:t>Este comando limpia la pantalla del terminal, colocando el </a:t>
            </a:r>
            <a:r>
              <a:rPr lang="es-MX" dirty="0" err="1">
                <a:latin typeface="Roboto" panose="02000000000000000000" pitchFamily="2" charset="0"/>
                <a:ea typeface="Roboto" panose="02000000000000000000" pitchFamily="2" charset="0"/>
              </a:rPr>
              <a:t>prompt</a:t>
            </a:r>
            <a:r>
              <a:rPr lang="es-MX" dirty="0">
                <a:latin typeface="Roboto" panose="02000000000000000000" pitchFamily="2" charset="0"/>
                <a:ea typeface="Roboto" panose="02000000000000000000" pitchFamily="2" charset="0"/>
              </a:rPr>
              <a:t> al principio de la misma</a:t>
            </a:r>
            <a:r>
              <a:rPr lang="es-MX" dirty="0" smtClean="0">
                <a:latin typeface="Roboto" panose="02000000000000000000" pitchFamily="2" charset="0"/>
                <a:ea typeface="Roboto" panose="02000000000000000000" pitchFamily="2" charset="0"/>
              </a:rPr>
              <a:t>.</a:t>
            </a:r>
            <a:endParaRPr lang="es-MX" dirty="0"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pic>
        <p:nvPicPr>
          <p:cNvPr id="11" name="Imagen 10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76445" y="6233400"/>
            <a:ext cx="3175200" cy="529200"/>
          </a:xfrm>
          <a:prstGeom prst="rect">
            <a:avLst/>
          </a:prstGeom>
        </p:spPr>
      </p:pic>
      <p:sp>
        <p:nvSpPr>
          <p:cNvPr id="13" name="CuadroTexto 12"/>
          <p:cNvSpPr txBox="1"/>
          <p:nvPr/>
        </p:nvSpPr>
        <p:spPr>
          <a:xfrm>
            <a:off x="205420" y="2483574"/>
            <a:ext cx="11781160" cy="369332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s-MX" dirty="0">
                <a:latin typeface="Courier New" panose="02070309020205020404" pitchFamily="49" charset="0"/>
                <a:ea typeface="Android Insomnia" pitchFamily="2" charset="-128"/>
                <a:cs typeface="Courier New" panose="02070309020205020404" pitchFamily="49" charset="0"/>
              </a:rPr>
              <a:t>pi@raspberrypi:~ $ clear</a:t>
            </a:r>
            <a:endParaRPr lang="es-MX" dirty="0" smtClean="0">
              <a:latin typeface="Courier New" panose="02070309020205020404" pitchFamily="49" charset="0"/>
              <a:ea typeface="Android Insomnia" pitchFamily="2" charset="-128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9975361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ángulo 6"/>
          <p:cNvSpPr/>
          <p:nvPr/>
        </p:nvSpPr>
        <p:spPr>
          <a:xfrm>
            <a:off x="0" y="6138000"/>
            <a:ext cx="4320000" cy="720000"/>
          </a:xfrm>
          <a:prstGeom prst="rect">
            <a:avLst/>
          </a:prstGeom>
          <a:solidFill>
            <a:srgbClr val="C51A4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2" name="CuadroTexto 1"/>
          <p:cNvSpPr txBox="1"/>
          <p:nvPr/>
        </p:nvSpPr>
        <p:spPr>
          <a:xfrm>
            <a:off x="273465" y="212168"/>
            <a:ext cx="7598535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4800" b="1" dirty="0">
                <a:latin typeface="Roboto" panose="02000000000000000000" pitchFamily="2" charset="0"/>
                <a:ea typeface="Roboto" panose="02000000000000000000" pitchFamily="2" charset="0"/>
              </a:rPr>
              <a:t>Introducción a </a:t>
            </a:r>
            <a:r>
              <a:rPr lang="es-MX" sz="4800" b="1" dirty="0" err="1">
                <a:latin typeface="Roboto" panose="02000000000000000000" pitchFamily="2" charset="0"/>
                <a:ea typeface="Roboto" panose="02000000000000000000" pitchFamily="2" charset="0"/>
              </a:rPr>
              <a:t>Raspbian</a:t>
            </a:r>
            <a:endParaRPr lang="es-MX" sz="4800" b="1" dirty="0"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sp>
        <p:nvSpPr>
          <p:cNvPr id="10" name="CuadroTexto 9"/>
          <p:cNvSpPr txBox="1"/>
          <p:nvPr/>
        </p:nvSpPr>
        <p:spPr>
          <a:xfrm>
            <a:off x="273465" y="1055278"/>
            <a:ext cx="1126581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3200" dirty="0">
                <a:solidFill>
                  <a:srgbClr val="C51A40"/>
                </a:solidFill>
                <a:latin typeface="Roboto Slab" pitchFamily="2" charset="0"/>
                <a:ea typeface="Roboto Slab" pitchFamily="2" charset="0"/>
              </a:rPr>
              <a:t>Comando </a:t>
            </a:r>
            <a:r>
              <a:rPr lang="es-MX" sz="3200" dirty="0" err="1">
                <a:solidFill>
                  <a:srgbClr val="C51A40"/>
                </a:solidFill>
                <a:latin typeface="Roboto Slab" pitchFamily="2" charset="0"/>
                <a:ea typeface="Roboto Slab" pitchFamily="2" charset="0"/>
              </a:rPr>
              <a:t>chmod</a:t>
            </a:r>
            <a:r>
              <a:rPr lang="es-MX" sz="3200" dirty="0">
                <a:solidFill>
                  <a:srgbClr val="C51A40"/>
                </a:solidFill>
                <a:latin typeface="Roboto Slab" pitchFamily="2" charset="0"/>
                <a:ea typeface="Roboto Slab" pitchFamily="2" charset="0"/>
              </a:rPr>
              <a:t>.</a:t>
            </a:r>
          </a:p>
        </p:txBody>
      </p:sp>
      <p:sp>
        <p:nvSpPr>
          <p:cNvPr id="12" name="Rectángulo 11"/>
          <p:cNvSpPr/>
          <p:nvPr/>
        </p:nvSpPr>
        <p:spPr>
          <a:xfrm>
            <a:off x="7872000" y="0"/>
            <a:ext cx="4320000" cy="720000"/>
          </a:xfrm>
          <a:prstGeom prst="rect">
            <a:avLst/>
          </a:prstGeom>
          <a:solidFill>
            <a:srgbClr val="C51A4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fld id="{5990E14E-10C1-4AA8-B2C7-C55C8C3B1C4A}" type="slidenum">
              <a:rPr lang="es-MX" smtClean="0">
                <a:latin typeface="Roboto" panose="02000000000000000000" pitchFamily="2" charset="0"/>
                <a:ea typeface="Roboto" panose="02000000000000000000" pitchFamily="2" charset="0"/>
              </a:rPr>
              <a:t>12</a:t>
            </a:fld>
            <a:endParaRPr lang="es-MX" dirty="0"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sp>
        <p:nvSpPr>
          <p:cNvPr id="5" name="CuadroTexto 4"/>
          <p:cNvSpPr txBox="1"/>
          <p:nvPr/>
        </p:nvSpPr>
        <p:spPr>
          <a:xfrm>
            <a:off x="273465" y="1738648"/>
            <a:ext cx="117811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s-MX" dirty="0">
                <a:latin typeface="Roboto" panose="02000000000000000000" pitchFamily="2" charset="0"/>
                <a:ea typeface="Roboto" panose="02000000000000000000" pitchFamily="2" charset="0"/>
              </a:rPr>
              <a:t>Se utiliza para cambiar los permisos de los archivos. Su sintaxis es la siguiente:</a:t>
            </a:r>
          </a:p>
        </p:txBody>
      </p:sp>
      <p:pic>
        <p:nvPicPr>
          <p:cNvPr id="11" name="Imagen 10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76445" y="6233400"/>
            <a:ext cx="3175200" cy="529200"/>
          </a:xfrm>
          <a:prstGeom prst="rect">
            <a:avLst/>
          </a:prstGeom>
        </p:spPr>
      </p:pic>
      <p:sp>
        <p:nvSpPr>
          <p:cNvPr id="13" name="CuadroTexto 12"/>
          <p:cNvSpPr txBox="1"/>
          <p:nvPr/>
        </p:nvSpPr>
        <p:spPr>
          <a:xfrm>
            <a:off x="205420" y="2483574"/>
            <a:ext cx="11781160" cy="369332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s-MX" dirty="0">
                <a:latin typeface="Courier New" panose="02070309020205020404" pitchFamily="49" charset="0"/>
                <a:ea typeface="Android Insomnia" pitchFamily="2" charset="-128"/>
                <a:cs typeface="Courier New" panose="02070309020205020404" pitchFamily="49" charset="0"/>
              </a:rPr>
              <a:t>pi@raspberrypi:~ $ </a:t>
            </a:r>
            <a:r>
              <a:rPr lang="es-MX" dirty="0" err="1">
                <a:latin typeface="Courier New" panose="02070309020205020404" pitchFamily="49" charset="0"/>
                <a:ea typeface="Android Insomnia" pitchFamily="2" charset="-128"/>
                <a:cs typeface="Courier New" panose="02070309020205020404" pitchFamily="49" charset="0"/>
              </a:rPr>
              <a:t>chmod</a:t>
            </a:r>
            <a:r>
              <a:rPr lang="es-MX" dirty="0">
                <a:latin typeface="Courier New" panose="02070309020205020404" pitchFamily="49" charset="0"/>
                <a:ea typeface="Android Insomnia" pitchFamily="2" charset="-128"/>
                <a:cs typeface="Courier New" panose="02070309020205020404" pitchFamily="49" charset="0"/>
              </a:rPr>
              <a:t> [-R] modo archivo...</a:t>
            </a:r>
            <a:endParaRPr lang="es-MX" dirty="0" smtClean="0">
              <a:latin typeface="Courier New" panose="02070309020205020404" pitchFamily="49" charset="0"/>
              <a:ea typeface="Android Insomnia" pitchFamily="2" charset="-128"/>
              <a:cs typeface="Courier New" panose="02070309020205020404" pitchFamily="49" charset="0"/>
            </a:endParaRPr>
          </a:p>
        </p:txBody>
      </p:sp>
      <p:sp>
        <p:nvSpPr>
          <p:cNvPr id="9" name="CuadroTexto 8"/>
          <p:cNvSpPr txBox="1"/>
          <p:nvPr/>
        </p:nvSpPr>
        <p:spPr>
          <a:xfrm>
            <a:off x="271317" y="3101661"/>
            <a:ext cx="1178116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s-MX" dirty="0">
                <a:latin typeface="Roboto" panose="02000000000000000000" pitchFamily="2" charset="0"/>
                <a:ea typeface="Roboto" panose="02000000000000000000" pitchFamily="2" charset="0"/>
              </a:rPr>
              <a:t>El argumento modo está compuesto de la siguiente manera:</a:t>
            </a:r>
          </a:p>
          <a:p>
            <a:pPr algn="just"/>
            <a:r>
              <a:rPr lang="es-MX" dirty="0">
                <a:latin typeface="Roboto" panose="02000000000000000000" pitchFamily="2" charset="0"/>
                <a:ea typeface="Roboto" panose="02000000000000000000" pitchFamily="2" charset="0"/>
              </a:rPr>
              <a:t>El primer campo identifica al tipo de usuario al que se le ajustarán los permisos. </a:t>
            </a:r>
          </a:p>
        </p:txBody>
      </p:sp>
      <p:graphicFrame>
        <p:nvGraphicFramePr>
          <p:cNvPr id="3" name="Tabla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29940023"/>
              </p:ext>
            </p:extLst>
          </p:nvPr>
        </p:nvGraphicFramePr>
        <p:xfrm>
          <a:off x="1519709" y="4183833"/>
          <a:ext cx="9143999" cy="1467485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409590"/>
                <a:gridCol w="7734409"/>
              </a:tblGrid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MX" sz="1800" b="0" dirty="0">
                          <a:solidFill>
                            <a:schemeClr val="bg1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Modificador</a:t>
                      </a:r>
                      <a:endParaRPr lang="es-MX" sz="1800" b="0" dirty="0">
                        <a:solidFill>
                          <a:schemeClr val="bg1"/>
                        </a:solidFill>
                        <a:effectLst/>
                        <a:latin typeface="Roboto" panose="02000000000000000000" pitchFamily="2" charset="0"/>
                        <a:ea typeface="Roboto" panose="02000000000000000000" pitchFamily="2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rgbClr val="3737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MX" sz="1800" b="0" dirty="0">
                          <a:solidFill>
                            <a:schemeClr val="bg1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Descripción</a:t>
                      </a:r>
                      <a:endParaRPr lang="es-MX" sz="1800" b="0" dirty="0">
                        <a:solidFill>
                          <a:schemeClr val="bg1"/>
                        </a:solidFill>
                        <a:effectLst/>
                        <a:latin typeface="Roboto" panose="02000000000000000000" pitchFamily="2" charset="0"/>
                        <a:ea typeface="Roboto" panose="02000000000000000000" pitchFamily="2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rgbClr val="37373B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MX" sz="1800" b="0" dirty="0">
                          <a:solidFill>
                            <a:schemeClr val="tx1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U</a:t>
                      </a:r>
                      <a:endParaRPr lang="es-MX" sz="1800" b="0" dirty="0">
                        <a:solidFill>
                          <a:schemeClr val="tx1"/>
                        </a:solidFill>
                        <a:effectLst/>
                        <a:latin typeface="Roboto" panose="02000000000000000000" pitchFamily="2" charset="0"/>
                        <a:ea typeface="Roboto" panose="02000000000000000000" pitchFamily="2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MX" sz="1800" b="0" dirty="0">
                          <a:solidFill>
                            <a:schemeClr val="tx1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Usuario propietario del archivo.</a:t>
                      </a:r>
                      <a:endParaRPr lang="es-MX" sz="1800" b="0" dirty="0">
                        <a:solidFill>
                          <a:schemeClr val="tx1"/>
                        </a:solidFill>
                        <a:effectLst/>
                        <a:latin typeface="Roboto" panose="02000000000000000000" pitchFamily="2" charset="0"/>
                        <a:ea typeface="Roboto" panose="02000000000000000000" pitchFamily="2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MX" sz="1800" b="0" dirty="0">
                          <a:solidFill>
                            <a:schemeClr val="tx1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G</a:t>
                      </a:r>
                      <a:endParaRPr lang="es-MX" sz="1800" b="0" dirty="0">
                        <a:solidFill>
                          <a:schemeClr val="tx1"/>
                        </a:solidFill>
                        <a:effectLst/>
                        <a:latin typeface="Roboto" panose="02000000000000000000" pitchFamily="2" charset="0"/>
                        <a:ea typeface="Roboto" panose="02000000000000000000" pitchFamily="2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MX" sz="1800" b="0" dirty="0">
                          <a:solidFill>
                            <a:schemeClr val="tx1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Grupo propietario del archivo.</a:t>
                      </a:r>
                      <a:endParaRPr lang="es-MX" sz="1800" b="0" dirty="0">
                        <a:solidFill>
                          <a:schemeClr val="tx1"/>
                        </a:solidFill>
                        <a:effectLst/>
                        <a:latin typeface="Roboto" panose="02000000000000000000" pitchFamily="2" charset="0"/>
                        <a:ea typeface="Roboto" panose="02000000000000000000" pitchFamily="2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MX" sz="1800" b="0" dirty="0">
                          <a:solidFill>
                            <a:schemeClr val="tx1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O</a:t>
                      </a:r>
                      <a:endParaRPr lang="es-MX" sz="1800" b="0" dirty="0">
                        <a:solidFill>
                          <a:schemeClr val="tx1"/>
                        </a:solidFill>
                        <a:effectLst/>
                        <a:latin typeface="Roboto" panose="02000000000000000000" pitchFamily="2" charset="0"/>
                        <a:ea typeface="Roboto" panose="02000000000000000000" pitchFamily="2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MX" sz="1800" b="0" dirty="0">
                          <a:solidFill>
                            <a:schemeClr val="tx1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Otros usuarios.</a:t>
                      </a:r>
                      <a:endParaRPr lang="es-MX" sz="1800" b="0" dirty="0">
                        <a:solidFill>
                          <a:schemeClr val="tx1"/>
                        </a:solidFill>
                        <a:effectLst/>
                        <a:latin typeface="Roboto" panose="02000000000000000000" pitchFamily="2" charset="0"/>
                        <a:ea typeface="Roboto" panose="02000000000000000000" pitchFamily="2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MX" sz="1800" b="0" dirty="0">
                          <a:solidFill>
                            <a:schemeClr val="tx1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A</a:t>
                      </a:r>
                      <a:endParaRPr lang="es-MX" sz="1800" b="0" dirty="0">
                        <a:solidFill>
                          <a:schemeClr val="tx1"/>
                        </a:solidFill>
                        <a:effectLst/>
                        <a:latin typeface="Roboto" panose="02000000000000000000" pitchFamily="2" charset="0"/>
                        <a:ea typeface="Roboto" panose="02000000000000000000" pitchFamily="2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MX" sz="1800" b="0" dirty="0">
                          <a:solidFill>
                            <a:schemeClr val="tx1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Todos los usuarios.</a:t>
                      </a:r>
                      <a:endParaRPr lang="es-MX" sz="1800" b="0" dirty="0">
                        <a:solidFill>
                          <a:schemeClr val="tx1"/>
                        </a:solidFill>
                        <a:effectLst/>
                        <a:latin typeface="Roboto" panose="02000000000000000000" pitchFamily="2" charset="0"/>
                        <a:ea typeface="Roboto" panose="02000000000000000000" pitchFamily="2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27834548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ángulo 6"/>
          <p:cNvSpPr/>
          <p:nvPr/>
        </p:nvSpPr>
        <p:spPr>
          <a:xfrm>
            <a:off x="0" y="6138000"/>
            <a:ext cx="4320000" cy="720000"/>
          </a:xfrm>
          <a:prstGeom prst="rect">
            <a:avLst/>
          </a:prstGeom>
          <a:solidFill>
            <a:srgbClr val="C51A4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2" name="CuadroTexto 1"/>
          <p:cNvSpPr txBox="1"/>
          <p:nvPr/>
        </p:nvSpPr>
        <p:spPr>
          <a:xfrm>
            <a:off x="273465" y="212168"/>
            <a:ext cx="7598535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4800" b="1" dirty="0">
                <a:latin typeface="Roboto" panose="02000000000000000000" pitchFamily="2" charset="0"/>
                <a:ea typeface="Roboto" panose="02000000000000000000" pitchFamily="2" charset="0"/>
              </a:rPr>
              <a:t>Introducción a </a:t>
            </a:r>
            <a:r>
              <a:rPr lang="es-MX" sz="4800" b="1" dirty="0" err="1">
                <a:latin typeface="Roboto" panose="02000000000000000000" pitchFamily="2" charset="0"/>
                <a:ea typeface="Roboto" panose="02000000000000000000" pitchFamily="2" charset="0"/>
              </a:rPr>
              <a:t>Raspbian</a:t>
            </a:r>
            <a:endParaRPr lang="es-MX" sz="4800" b="1" dirty="0"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sp>
        <p:nvSpPr>
          <p:cNvPr id="10" name="CuadroTexto 9"/>
          <p:cNvSpPr txBox="1"/>
          <p:nvPr/>
        </p:nvSpPr>
        <p:spPr>
          <a:xfrm>
            <a:off x="273465" y="1055278"/>
            <a:ext cx="1126581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3200" dirty="0">
                <a:solidFill>
                  <a:srgbClr val="C51A40"/>
                </a:solidFill>
                <a:latin typeface="Roboto Slab" pitchFamily="2" charset="0"/>
                <a:ea typeface="Roboto Slab" pitchFamily="2" charset="0"/>
              </a:rPr>
              <a:t>Comando </a:t>
            </a:r>
            <a:r>
              <a:rPr lang="es-MX" sz="3200" dirty="0" err="1">
                <a:solidFill>
                  <a:srgbClr val="C51A40"/>
                </a:solidFill>
                <a:latin typeface="Roboto Slab" pitchFamily="2" charset="0"/>
                <a:ea typeface="Roboto Slab" pitchFamily="2" charset="0"/>
              </a:rPr>
              <a:t>chmod</a:t>
            </a:r>
            <a:r>
              <a:rPr lang="es-MX" sz="3200" dirty="0">
                <a:solidFill>
                  <a:srgbClr val="C51A40"/>
                </a:solidFill>
                <a:latin typeface="Roboto Slab" pitchFamily="2" charset="0"/>
                <a:ea typeface="Roboto Slab" pitchFamily="2" charset="0"/>
              </a:rPr>
              <a:t>.</a:t>
            </a:r>
          </a:p>
        </p:txBody>
      </p:sp>
      <p:sp>
        <p:nvSpPr>
          <p:cNvPr id="12" name="Rectángulo 11"/>
          <p:cNvSpPr/>
          <p:nvPr/>
        </p:nvSpPr>
        <p:spPr>
          <a:xfrm>
            <a:off x="7872000" y="0"/>
            <a:ext cx="4320000" cy="720000"/>
          </a:xfrm>
          <a:prstGeom prst="rect">
            <a:avLst/>
          </a:prstGeom>
          <a:solidFill>
            <a:srgbClr val="C51A4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fld id="{5990E14E-10C1-4AA8-B2C7-C55C8C3B1C4A}" type="slidenum">
              <a:rPr lang="es-MX" smtClean="0">
                <a:latin typeface="Roboto" panose="02000000000000000000" pitchFamily="2" charset="0"/>
                <a:ea typeface="Roboto" panose="02000000000000000000" pitchFamily="2" charset="0"/>
              </a:rPr>
              <a:t>13</a:t>
            </a:fld>
            <a:endParaRPr lang="es-MX" dirty="0"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sp>
        <p:nvSpPr>
          <p:cNvPr id="5" name="CuadroTexto 4"/>
          <p:cNvSpPr txBox="1"/>
          <p:nvPr/>
        </p:nvSpPr>
        <p:spPr>
          <a:xfrm>
            <a:off x="273465" y="1738648"/>
            <a:ext cx="117811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s-MX" dirty="0">
                <a:latin typeface="Roboto" panose="02000000000000000000" pitchFamily="2" charset="0"/>
                <a:ea typeface="Roboto" panose="02000000000000000000" pitchFamily="2" charset="0"/>
              </a:rPr>
              <a:t>El segundo es el  operador identifica de qué manera se cambiarán los permisos</a:t>
            </a:r>
          </a:p>
        </p:txBody>
      </p:sp>
      <p:pic>
        <p:nvPicPr>
          <p:cNvPr id="11" name="Imagen 10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76445" y="6233400"/>
            <a:ext cx="3175200" cy="529200"/>
          </a:xfrm>
          <a:prstGeom prst="rect">
            <a:avLst/>
          </a:prstGeom>
        </p:spPr>
      </p:pic>
      <p:sp>
        <p:nvSpPr>
          <p:cNvPr id="9" name="CuadroTexto 8"/>
          <p:cNvSpPr txBox="1"/>
          <p:nvPr/>
        </p:nvSpPr>
        <p:spPr>
          <a:xfrm>
            <a:off x="206922" y="3706964"/>
            <a:ext cx="117811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s-MX">
                <a:latin typeface="Roboto" panose="02000000000000000000" pitchFamily="2" charset="0"/>
                <a:ea typeface="Roboto" panose="02000000000000000000" pitchFamily="2" charset="0"/>
              </a:rPr>
              <a:t>El último campo identifica el permiso asignado al usuario.</a:t>
            </a:r>
            <a:endParaRPr lang="es-MX" dirty="0"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graphicFrame>
        <p:nvGraphicFramePr>
          <p:cNvPr id="3" name="Tabla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08499693"/>
              </p:ext>
            </p:extLst>
          </p:nvPr>
        </p:nvGraphicFramePr>
        <p:xfrm>
          <a:off x="1519710" y="2236770"/>
          <a:ext cx="9143999" cy="1173988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409590"/>
                <a:gridCol w="7734409"/>
              </a:tblGrid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MX" sz="1800" b="0" dirty="0">
                          <a:solidFill>
                            <a:schemeClr val="bg1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Modificador</a:t>
                      </a:r>
                      <a:endParaRPr lang="es-MX" sz="1800" b="0" dirty="0">
                        <a:solidFill>
                          <a:schemeClr val="bg1"/>
                        </a:solidFill>
                        <a:effectLst/>
                        <a:latin typeface="Roboto" panose="02000000000000000000" pitchFamily="2" charset="0"/>
                        <a:ea typeface="Roboto" panose="02000000000000000000" pitchFamily="2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rgbClr val="3737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MX" sz="1800" b="0" dirty="0">
                          <a:solidFill>
                            <a:schemeClr val="bg1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Descripción</a:t>
                      </a:r>
                      <a:endParaRPr lang="es-MX" sz="1800" b="0" dirty="0">
                        <a:solidFill>
                          <a:schemeClr val="bg1"/>
                        </a:solidFill>
                        <a:effectLst/>
                        <a:latin typeface="Roboto" panose="02000000000000000000" pitchFamily="2" charset="0"/>
                        <a:ea typeface="Roboto" panose="02000000000000000000" pitchFamily="2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rgbClr val="37373B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MX" sz="1800" b="0">
                          <a:solidFill>
                            <a:schemeClr val="tx1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  <a:cs typeface="Times New Roman" panose="02020603050405020304" pitchFamily="18" charset="0"/>
                        </a:rPr>
                        <a:t>+</a:t>
                      </a:r>
                    </a:p>
                  </a:txBody>
                  <a:tcPr marL="68580" marR="68580" marT="0" marB="0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MX" sz="1800" b="0">
                          <a:solidFill>
                            <a:schemeClr val="tx1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  <a:cs typeface="Times New Roman" panose="02020603050405020304" pitchFamily="18" charset="0"/>
                        </a:rPr>
                        <a:t>Añadir un permiso</a:t>
                      </a:r>
                    </a:p>
                  </a:txBody>
                  <a:tcPr marL="68580" marR="68580" marT="0" marB="0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MX" sz="1800" b="0">
                          <a:solidFill>
                            <a:schemeClr val="tx1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  <a:cs typeface="Times New Roman" panose="02020603050405020304" pitchFamily="18" charset="0"/>
                        </a:rPr>
                        <a:t>-</a:t>
                      </a:r>
                    </a:p>
                  </a:txBody>
                  <a:tcPr marL="68580" marR="68580" marT="0" marB="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MX" sz="1800" b="0">
                          <a:solidFill>
                            <a:schemeClr val="tx1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  <a:cs typeface="Times New Roman" panose="02020603050405020304" pitchFamily="18" charset="0"/>
                        </a:rPr>
                        <a:t>Remover un permiso</a:t>
                      </a:r>
                    </a:p>
                  </a:txBody>
                  <a:tcPr marL="68580" marR="68580" marT="0" marB="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MX" sz="1800" b="0">
                          <a:solidFill>
                            <a:schemeClr val="tx1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  <a:cs typeface="Times New Roman" panose="02020603050405020304" pitchFamily="18" charset="0"/>
                        </a:rPr>
                        <a:t>=</a:t>
                      </a:r>
                    </a:p>
                  </a:txBody>
                  <a:tcPr marL="68580" marR="68580" marT="0" marB="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MX" sz="1800" b="0" dirty="0">
                          <a:solidFill>
                            <a:schemeClr val="tx1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  <a:cs typeface="Times New Roman" panose="02020603050405020304" pitchFamily="18" charset="0"/>
                        </a:rPr>
                        <a:t>Establecer un permiso único </a:t>
                      </a:r>
                    </a:p>
                  </a:txBody>
                  <a:tcPr marL="68580" marR="68580" marT="0" marB="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</a:tbl>
          </a:graphicData>
        </a:graphic>
      </p:graphicFrame>
      <p:graphicFrame>
        <p:nvGraphicFramePr>
          <p:cNvPr id="14" name="Tabla 1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62033528"/>
              </p:ext>
            </p:extLst>
          </p:nvPr>
        </p:nvGraphicFramePr>
        <p:xfrm>
          <a:off x="1530441" y="4217970"/>
          <a:ext cx="9143999" cy="1173988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409590"/>
                <a:gridCol w="7734409"/>
              </a:tblGrid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MX" sz="1800" b="0" dirty="0">
                          <a:solidFill>
                            <a:schemeClr val="bg1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Modificador</a:t>
                      </a:r>
                      <a:endParaRPr lang="es-MX" sz="1800" b="0" dirty="0">
                        <a:solidFill>
                          <a:schemeClr val="bg1"/>
                        </a:solidFill>
                        <a:effectLst/>
                        <a:latin typeface="Roboto" panose="02000000000000000000" pitchFamily="2" charset="0"/>
                        <a:ea typeface="Roboto" panose="02000000000000000000" pitchFamily="2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rgbClr val="3737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MX" sz="1800" b="0" dirty="0">
                          <a:solidFill>
                            <a:schemeClr val="bg1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Descripción</a:t>
                      </a:r>
                      <a:endParaRPr lang="es-MX" sz="1800" b="0" dirty="0">
                        <a:solidFill>
                          <a:schemeClr val="bg1"/>
                        </a:solidFill>
                        <a:effectLst/>
                        <a:latin typeface="Roboto" panose="02000000000000000000" pitchFamily="2" charset="0"/>
                        <a:ea typeface="Roboto" panose="02000000000000000000" pitchFamily="2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rgbClr val="37373B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MX" sz="1800" b="0">
                          <a:solidFill>
                            <a:schemeClr val="tx1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  <a:cs typeface="Times New Roman" panose="02020603050405020304" pitchFamily="18" charset="0"/>
                        </a:rPr>
                        <a:t>R</a:t>
                      </a:r>
                    </a:p>
                  </a:txBody>
                  <a:tcPr marL="68580" marR="68580" marT="0" marB="0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MX" sz="1800" b="0">
                          <a:solidFill>
                            <a:schemeClr val="tx1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  <a:cs typeface="Times New Roman" panose="02020603050405020304" pitchFamily="18" charset="0"/>
                        </a:rPr>
                        <a:t>Permiso de  Lectura</a:t>
                      </a:r>
                    </a:p>
                  </a:txBody>
                  <a:tcPr marL="68580" marR="68580" marT="0" marB="0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MX" sz="1800" b="0">
                          <a:solidFill>
                            <a:schemeClr val="tx1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  <a:cs typeface="Times New Roman" panose="02020603050405020304" pitchFamily="18" charset="0"/>
                        </a:rPr>
                        <a:t>W</a:t>
                      </a:r>
                    </a:p>
                  </a:txBody>
                  <a:tcPr marL="68580" marR="68580" marT="0" marB="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MX" sz="1800" b="0">
                          <a:solidFill>
                            <a:schemeClr val="tx1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  <a:cs typeface="Times New Roman" panose="02020603050405020304" pitchFamily="18" charset="0"/>
                        </a:rPr>
                        <a:t>Permiso de escritura</a:t>
                      </a:r>
                    </a:p>
                  </a:txBody>
                  <a:tcPr marL="68580" marR="68580" marT="0" marB="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MX" sz="1800" b="0">
                          <a:solidFill>
                            <a:schemeClr val="tx1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  <a:cs typeface="Times New Roman" panose="02020603050405020304" pitchFamily="18" charset="0"/>
                        </a:rPr>
                        <a:t>X</a:t>
                      </a:r>
                    </a:p>
                  </a:txBody>
                  <a:tcPr marL="68580" marR="68580" marT="0" marB="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MX" sz="1800" b="0" dirty="0">
                          <a:solidFill>
                            <a:schemeClr val="tx1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  <a:cs typeface="Times New Roman" panose="02020603050405020304" pitchFamily="18" charset="0"/>
                        </a:rPr>
                        <a:t>Permiso de Ejecución</a:t>
                      </a:r>
                    </a:p>
                  </a:txBody>
                  <a:tcPr marL="68580" marR="68580" marT="0" marB="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96101132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ángulo 6"/>
          <p:cNvSpPr/>
          <p:nvPr/>
        </p:nvSpPr>
        <p:spPr>
          <a:xfrm>
            <a:off x="0" y="6138000"/>
            <a:ext cx="4320000" cy="720000"/>
          </a:xfrm>
          <a:prstGeom prst="rect">
            <a:avLst/>
          </a:prstGeom>
          <a:solidFill>
            <a:srgbClr val="C51A4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2" name="CuadroTexto 1"/>
          <p:cNvSpPr txBox="1"/>
          <p:nvPr/>
        </p:nvSpPr>
        <p:spPr>
          <a:xfrm>
            <a:off x="273465" y="212168"/>
            <a:ext cx="7598535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4800" b="1" dirty="0">
                <a:latin typeface="Roboto" panose="02000000000000000000" pitchFamily="2" charset="0"/>
                <a:ea typeface="Roboto" panose="02000000000000000000" pitchFamily="2" charset="0"/>
              </a:rPr>
              <a:t>Introducción a </a:t>
            </a:r>
            <a:r>
              <a:rPr lang="es-MX" sz="4800" b="1" dirty="0" err="1">
                <a:latin typeface="Roboto" panose="02000000000000000000" pitchFamily="2" charset="0"/>
                <a:ea typeface="Roboto" panose="02000000000000000000" pitchFamily="2" charset="0"/>
              </a:rPr>
              <a:t>Raspbian</a:t>
            </a:r>
            <a:endParaRPr lang="es-MX" sz="4800" b="1" dirty="0"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sp>
        <p:nvSpPr>
          <p:cNvPr id="10" name="CuadroTexto 9"/>
          <p:cNvSpPr txBox="1"/>
          <p:nvPr/>
        </p:nvSpPr>
        <p:spPr>
          <a:xfrm>
            <a:off x="273465" y="1055278"/>
            <a:ext cx="1126581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3200" dirty="0">
                <a:solidFill>
                  <a:srgbClr val="C51A40"/>
                </a:solidFill>
                <a:latin typeface="Roboto Slab" pitchFamily="2" charset="0"/>
                <a:ea typeface="Roboto Slab" pitchFamily="2" charset="0"/>
              </a:rPr>
              <a:t>Comando </a:t>
            </a:r>
            <a:r>
              <a:rPr lang="es-MX" sz="3200" dirty="0" err="1">
                <a:solidFill>
                  <a:srgbClr val="C51A40"/>
                </a:solidFill>
                <a:latin typeface="Roboto Slab" pitchFamily="2" charset="0"/>
                <a:ea typeface="Roboto Slab" pitchFamily="2" charset="0"/>
              </a:rPr>
              <a:t>chmod</a:t>
            </a:r>
            <a:r>
              <a:rPr lang="es-MX" sz="3200" dirty="0">
                <a:solidFill>
                  <a:srgbClr val="C51A40"/>
                </a:solidFill>
                <a:latin typeface="Roboto Slab" pitchFamily="2" charset="0"/>
                <a:ea typeface="Roboto Slab" pitchFamily="2" charset="0"/>
              </a:rPr>
              <a:t>.</a:t>
            </a:r>
          </a:p>
        </p:txBody>
      </p:sp>
      <p:sp>
        <p:nvSpPr>
          <p:cNvPr id="12" name="Rectángulo 11"/>
          <p:cNvSpPr/>
          <p:nvPr/>
        </p:nvSpPr>
        <p:spPr>
          <a:xfrm>
            <a:off x="7872000" y="0"/>
            <a:ext cx="4320000" cy="720000"/>
          </a:xfrm>
          <a:prstGeom prst="rect">
            <a:avLst/>
          </a:prstGeom>
          <a:solidFill>
            <a:srgbClr val="C51A4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fld id="{5990E14E-10C1-4AA8-B2C7-C55C8C3B1C4A}" type="slidenum">
              <a:rPr lang="es-MX" smtClean="0">
                <a:latin typeface="Roboto" panose="02000000000000000000" pitchFamily="2" charset="0"/>
                <a:ea typeface="Roboto" panose="02000000000000000000" pitchFamily="2" charset="0"/>
              </a:rPr>
              <a:t>14</a:t>
            </a:fld>
            <a:endParaRPr lang="es-MX" dirty="0"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sp>
        <p:nvSpPr>
          <p:cNvPr id="5" name="CuadroTexto 4"/>
          <p:cNvSpPr txBox="1"/>
          <p:nvPr/>
        </p:nvSpPr>
        <p:spPr>
          <a:xfrm>
            <a:off x="273465" y="1738648"/>
            <a:ext cx="117811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s-MX" dirty="0">
                <a:latin typeface="Roboto" panose="02000000000000000000" pitchFamily="2" charset="0"/>
                <a:ea typeface="Roboto" panose="02000000000000000000" pitchFamily="2" charset="0"/>
              </a:rPr>
              <a:t>De igual forma, todo permiso puede ser representado de una manera </a:t>
            </a:r>
            <a:r>
              <a:rPr lang="es-MX" dirty="0" smtClean="0">
                <a:latin typeface="Roboto" panose="02000000000000000000" pitchFamily="2" charset="0"/>
                <a:ea typeface="Roboto" panose="02000000000000000000" pitchFamily="2" charset="0"/>
              </a:rPr>
              <a:t>octal.</a:t>
            </a:r>
            <a:endParaRPr lang="es-MX" dirty="0"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pic>
        <p:nvPicPr>
          <p:cNvPr id="11" name="Imagen 10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76445" y="6233400"/>
            <a:ext cx="3175200" cy="529200"/>
          </a:xfrm>
          <a:prstGeom prst="rect">
            <a:avLst/>
          </a:prstGeom>
        </p:spPr>
      </p:pic>
      <p:graphicFrame>
        <p:nvGraphicFramePr>
          <p:cNvPr id="4" name="Tabla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18777234"/>
              </p:ext>
            </p:extLst>
          </p:nvPr>
        </p:nvGraphicFramePr>
        <p:xfrm>
          <a:off x="1944711" y="2897832"/>
          <a:ext cx="8281115" cy="2641473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2562810"/>
                <a:gridCol w="3370434"/>
                <a:gridCol w="2347871"/>
              </a:tblGrid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MX" sz="1800" b="0" dirty="0">
                          <a:solidFill>
                            <a:schemeClr val="bg1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Representación Octal</a:t>
                      </a:r>
                      <a:endParaRPr lang="es-MX" sz="1800" b="0" dirty="0">
                        <a:solidFill>
                          <a:schemeClr val="bg1"/>
                        </a:solidFill>
                        <a:effectLst/>
                        <a:latin typeface="Roboto" panose="02000000000000000000" pitchFamily="2" charset="0"/>
                        <a:ea typeface="Roboto" panose="02000000000000000000" pitchFamily="2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rgbClr val="3737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MX" sz="1800" b="0" dirty="0">
                          <a:solidFill>
                            <a:schemeClr val="bg1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Equivalencia</a:t>
                      </a:r>
                      <a:endParaRPr lang="es-MX" sz="1800" b="0" dirty="0">
                        <a:solidFill>
                          <a:schemeClr val="bg1"/>
                        </a:solidFill>
                        <a:effectLst/>
                        <a:latin typeface="Roboto" panose="02000000000000000000" pitchFamily="2" charset="0"/>
                        <a:ea typeface="Roboto" panose="02000000000000000000" pitchFamily="2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rgbClr val="3737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MX" sz="1800" b="0" dirty="0">
                          <a:solidFill>
                            <a:schemeClr val="bg1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Valor Binario</a:t>
                      </a:r>
                      <a:endParaRPr lang="es-MX" sz="1800" b="0" dirty="0">
                        <a:solidFill>
                          <a:schemeClr val="bg1"/>
                        </a:solidFill>
                        <a:effectLst/>
                        <a:latin typeface="Roboto" panose="02000000000000000000" pitchFamily="2" charset="0"/>
                        <a:ea typeface="Roboto" panose="02000000000000000000" pitchFamily="2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rgbClr val="37373B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MX" sz="1800" b="0" dirty="0">
                          <a:solidFill>
                            <a:schemeClr val="tx1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0</a:t>
                      </a:r>
                      <a:endParaRPr lang="es-MX" sz="1800" b="0" dirty="0">
                        <a:solidFill>
                          <a:schemeClr val="tx1"/>
                        </a:solidFill>
                        <a:effectLst/>
                        <a:latin typeface="Roboto" panose="02000000000000000000" pitchFamily="2" charset="0"/>
                        <a:ea typeface="Roboto" panose="02000000000000000000" pitchFamily="2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MX" sz="1800" b="0" dirty="0">
                          <a:solidFill>
                            <a:schemeClr val="tx1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---</a:t>
                      </a:r>
                      <a:endParaRPr lang="es-MX" sz="1800" b="0" dirty="0">
                        <a:solidFill>
                          <a:schemeClr val="tx1"/>
                        </a:solidFill>
                        <a:effectLst/>
                        <a:latin typeface="Roboto" panose="02000000000000000000" pitchFamily="2" charset="0"/>
                        <a:ea typeface="Roboto" panose="02000000000000000000" pitchFamily="2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MX" sz="1800" b="0" dirty="0">
                          <a:solidFill>
                            <a:schemeClr val="tx1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000</a:t>
                      </a:r>
                      <a:endParaRPr lang="es-MX" sz="1800" b="0" dirty="0">
                        <a:solidFill>
                          <a:schemeClr val="tx1"/>
                        </a:solidFill>
                        <a:effectLst/>
                        <a:latin typeface="Roboto" panose="02000000000000000000" pitchFamily="2" charset="0"/>
                        <a:ea typeface="Roboto" panose="02000000000000000000" pitchFamily="2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MX" sz="1800" b="0" dirty="0">
                          <a:solidFill>
                            <a:schemeClr val="tx1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1</a:t>
                      </a:r>
                      <a:endParaRPr lang="es-MX" sz="1800" b="0" dirty="0">
                        <a:solidFill>
                          <a:schemeClr val="tx1"/>
                        </a:solidFill>
                        <a:effectLst/>
                        <a:latin typeface="Roboto" panose="02000000000000000000" pitchFamily="2" charset="0"/>
                        <a:ea typeface="Roboto" panose="02000000000000000000" pitchFamily="2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MX" sz="1800" b="0" dirty="0">
                          <a:solidFill>
                            <a:schemeClr val="tx1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--x</a:t>
                      </a:r>
                      <a:endParaRPr lang="es-MX" sz="1800" b="0" dirty="0">
                        <a:solidFill>
                          <a:schemeClr val="tx1"/>
                        </a:solidFill>
                        <a:effectLst/>
                        <a:latin typeface="Roboto" panose="02000000000000000000" pitchFamily="2" charset="0"/>
                        <a:ea typeface="Roboto" panose="02000000000000000000" pitchFamily="2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MX" sz="1800" b="0" dirty="0">
                          <a:solidFill>
                            <a:schemeClr val="tx1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001</a:t>
                      </a:r>
                      <a:endParaRPr lang="es-MX" sz="1800" b="0" dirty="0">
                        <a:solidFill>
                          <a:schemeClr val="tx1"/>
                        </a:solidFill>
                        <a:effectLst/>
                        <a:latin typeface="Roboto" panose="02000000000000000000" pitchFamily="2" charset="0"/>
                        <a:ea typeface="Roboto" panose="02000000000000000000" pitchFamily="2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MX" sz="1800" b="0" dirty="0">
                          <a:solidFill>
                            <a:schemeClr val="tx1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2</a:t>
                      </a:r>
                      <a:endParaRPr lang="es-MX" sz="1800" b="0" dirty="0">
                        <a:solidFill>
                          <a:schemeClr val="tx1"/>
                        </a:solidFill>
                        <a:effectLst/>
                        <a:latin typeface="Roboto" panose="02000000000000000000" pitchFamily="2" charset="0"/>
                        <a:ea typeface="Roboto" panose="02000000000000000000" pitchFamily="2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MX" sz="1800" b="0" dirty="0">
                          <a:solidFill>
                            <a:schemeClr val="tx1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-w-</a:t>
                      </a:r>
                      <a:endParaRPr lang="es-MX" sz="1800" b="0" dirty="0">
                        <a:solidFill>
                          <a:schemeClr val="tx1"/>
                        </a:solidFill>
                        <a:effectLst/>
                        <a:latin typeface="Roboto" panose="02000000000000000000" pitchFamily="2" charset="0"/>
                        <a:ea typeface="Roboto" panose="02000000000000000000" pitchFamily="2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MX" sz="1800" b="0" dirty="0">
                          <a:solidFill>
                            <a:schemeClr val="tx1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010</a:t>
                      </a:r>
                      <a:endParaRPr lang="es-MX" sz="1800" b="0" dirty="0">
                        <a:solidFill>
                          <a:schemeClr val="tx1"/>
                        </a:solidFill>
                        <a:effectLst/>
                        <a:latin typeface="Roboto" panose="02000000000000000000" pitchFamily="2" charset="0"/>
                        <a:ea typeface="Roboto" panose="02000000000000000000" pitchFamily="2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MX" sz="1800" b="0" dirty="0">
                          <a:solidFill>
                            <a:schemeClr val="tx1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3</a:t>
                      </a:r>
                      <a:endParaRPr lang="es-MX" sz="1800" b="0" dirty="0">
                        <a:solidFill>
                          <a:schemeClr val="tx1"/>
                        </a:solidFill>
                        <a:effectLst/>
                        <a:latin typeface="Roboto" panose="02000000000000000000" pitchFamily="2" charset="0"/>
                        <a:ea typeface="Roboto" panose="02000000000000000000" pitchFamily="2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MX" sz="1800" b="0" dirty="0">
                          <a:solidFill>
                            <a:schemeClr val="tx1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-</a:t>
                      </a:r>
                      <a:r>
                        <a:rPr lang="es-MX" sz="1800" b="0" dirty="0" err="1">
                          <a:solidFill>
                            <a:schemeClr val="tx1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wx</a:t>
                      </a:r>
                      <a:endParaRPr lang="es-MX" sz="1800" b="0" dirty="0">
                        <a:solidFill>
                          <a:schemeClr val="tx1"/>
                        </a:solidFill>
                        <a:effectLst/>
                        <a:latin typeface="Roboto" panose="02000000000000000000" pitchFamily="2" charset="0"/>
                        <a:ea typeface="Roboto" panose="02000000000000000000" pitchFamily="2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MX" sz="1800" b="0" dirty="0">
                          <a:solidFill>
                            <a:schemeClr val="tx1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011</a:t>
                      </a:r>
                      <a:endParaRPr lang="es-MX" sz="1800" b="0" dirty="0">
                        <a:solidFill>
                          <a:schemeClr val="tx1"/>
                        </a:solidFill>
                        <a:effectLst/>
                        <a:latin typeface="Roboto" panose="02000000000000000000" pitchFamily="2" charset="0"/>
                        <a:ea typeface="Roboto" panose="02000000000000000000" pitchFamily="2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MX" sz="1800" b="0" dirty="0">
                          <a:solidFill>
                            <a:schemeClr val="tx1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4</a:t>
                      </a:r>
                      <a:endParaRPr lang="es-MX" sz="1800" b="0" dirty="0">
                        <a:solidFill>
                          <a:schemeClr val="tx1"/>
                        </a:solidFill>
                        <a:effectLst/>
                        <a:latin typeface="Roboto" panose="02000000000000000000" pitchFamily="2" charset="0"/>
                        <a:ea typeface="Roboto" panose="02000000000000000000" pitchFamily="2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MX" sz="1800" b="0" dirty="0">
                          <a:solidFill>
                            <a:schemeClr val="tx1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r--</a:t>
                      </a:r>
                      <a:endParaRPr lang="es-MX" sz="1800" b="0" dirty="0">
                        <a:solidFill>
                          <a:schemeClr val="tx1"/>
                        </a:solidFill>
                        <a:effectLst/>
                        <a:latin typeface="Roboto" panose="02000000000000000000" pitchFamily="2" charset="0"/>
                        <a:ea typeface="Roboto" panose="02000000000000000000" pitchFamily="2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MX" sz="1800" b="0" dirty="0">
                          <a:solidFill>
                            <a:schemeClr val="tx1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100</a:t>
                      </a:r>
                      <a:endParaRPr lang="es-MX" sz="1800" b="0" dirty="0">
                        <a:solidFill>
                          <a:schemeClr val="tx1"/>
                        </a:solidFill>
                        <a:effectLst/>
                        <a:latin typeface="Roboto" panose="02000000000000000000" pitchFamily="2" charset="0"/>
                        <a:ea typeface="Roboto" panose="02000000000000000000" pitchFamily="2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MX" sz="1800" b="0" dirty="0">
                          <a:solidFill>
                            <a:schemeClr val="tx1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5</a:t>
                      </a:r>
                      <a:endParaRPr lang="es-MX" sz="1800" b="0" dirty="0">
                        <a:solidFill>
                          <a:schemeClr val="tx1"/>
                        </a:solidFill>
                        <a:effectLst/>
                        <a:latin typeface="Roboto" panose="02000000000000000000" pitchFamily="2" charset="0"/>
                        <a:ea typeface="Roboto" panose="02000000000000000000" pitchFamily="2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MX" sz="1800" b="0" dirty="0">
                          <a:solidFill>
                            <a:schemeClr val="tx1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r-x</a:t>
                      </a:r>
                      <a:endParaRPr lang="es-MX" sz="1800" b="0" dirty="0">
                        <a:solidFill>
                          <a:schemeClr val="tx1"/>
                        </a:solidFill>
                        <a:effectLst/>
                        <a:latin typeface="Roboto" panose="02000000000000000000" pitchFamily="2" charset="0"/>
                        <a:ea typeface="Roboto" panose="02000000000000000000" pitchFamily="2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MX" sz="1800" b="0" dirty="0">
                          <a:solidFill>
                            <a:schemeClr val="tx1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101</a:t>
                      </a:r>
                      <a:endParaRPr lang="es-MX" sz="1800" b="0" dirty="0">
                        <a:solidFill>
                          <a:schemeClr val="tx1"/>
                        </a:solidFill>
                        <a:effectLst/>
                        <a:latin typeface="Roboto" panose="02000000000000000000" pitchFamily="2" charset="0"/>
                        <a:ea typeface="Roboto" panose="02000000000000000000" pitchFamily="2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MX" sz="1800" b="0" dirty="0">
                          <a:solidFill>
                            <a:schemeClr val="tx1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6</a:t>
                      </a:r>
                      <a:endParaRPr lang="es-MX" sz="1800" b="0" dirty="0">
                        <a:solidFill>
                          <a:schemeClr val="tx1"/>
                        </a:solidFill>
                        <a:effectLst/>
                        <a:latin typeface="Roboto" panose="02000000000000000000" pitchFamily="2" charset="0"/>
                        <a:ea typeface="Roboto" panose="02000000000000000000" pitchFamily="2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MX" sz="1800" b="0" dirty="0" err="1">
                          <a:solidFill>
                            <a:schemeClr val="tx1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rw</a:t>
                      </a:r>
                      <a:r>
                        <a:rPr lang="es-MX" sz="1800" b="0" dirty="0">
                          <a:solidFill>
                            <a:schemeClr val="tx1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-</a:t>
                      </a:r>
                      <a:endParaRPr lang="es-MX" sz="1800" b="0" dirty="0">
                        <a:solidFill>
                          <a:schemeClr val="tx1"/>
                        </a:solidFill>
                        <a:effectLst/>
                        <a:latin typeface="Roboto" panose="02000000000000000000" pitchFamily="2" charset="0"/>
                        <a:ea typeface="Roboto" panose="02000000000000000000" pitchFamily="2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MX" sz="1800" b="0" dirty="0">
                          <a:solidFill>
                            <a:schemeClr val="tx1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110</a:t>
                      </a:r>
                      <a:endParaRPr lang="es-MX" sz="1800" b="0" dirty="0">
                        <a:solidFill>
                          <a:schemeClr val="tx1"/>
                        </a:solidFill>
                        <a:effectLst/>
                        <a:latin typeface="Roboto" panose="02000000000000000000" pitchFamily="2" charset="0"/>
                        <a:ea typeface="Roboto" panose="02000000000000000000" pitchFamily="2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MX" sz="1800" b="0" dirty="0">
                          <a:solidFill>
                            <a:schemeClr val="tx1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7</a:t>
                      </a:r>
                      <a:endParaRPr lang="es-MX" sz="1800" b="0" dirty="0">
                        <a:solidFill>
                          <a:schemeClr val="tx1"/>
                        </a:solidFill>
                        <a:effectLst/>
                        <a:latin typeface="Roboto" panose="02000000000000000000" pitchFamily="2" charset="0"/>
                        <a:ea typeface="Roboto" panose="02000000000000000000" pitchFamily="2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MX" sz="1800" b="0" dirty="0" err="1">
                          <a:solidFill>
                            <a:schemeClr val="tx1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rwx</a:t>
                      </a:r>
                      <a:endParaRPr lang="es-MX" sz="1800" b="0" dirty="0">
                        <a:solidFill>
                          <a:schemeClr val="tx1"/>
                        </a:solidFill>
                        <a:effectLst/>
                        <a:latin typeface="Roboto" panose="02000000000000000000" pitchFamily="2" charset="0"/>
                        <a:ea typeface="Roboto" panose="02000000000000000000" pitchFamily="2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MX" sz="1800" b="0" dirty="0">
                          <a:solidFill>
                            <a:schemeClr val="tx1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111</a:t>
                      </a:r>
                      <a:endParaRPr lang="es-MX" sz="1800" b="0" dirty="0">
                        <a:solidFill>
                          <a:schemeClr val="tx1"/>
                        </a:solidFill>
                        <a:effectLst/>
                        <a:latin typeface="Roboto" panose="02000000000000000000" pitchFamily="2" charset="0"/>
                        <a:ea typeface="Roboto" panose="02000000000000000000" pitchFamily="2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65957847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ángulo 6"/>
          <p:cNvSpPr/>
          <p:nvPr/>
        </p:nvSpPr>
        <p:spPr>
          <a:xfrm>
            <a:off x="0" y="6138000"/>
            <a:ext cx="4320000" cy="720000"/>
          </a:xfrm>
          <a:prstGeom prst="rect">
            <a:avLst/>
          </a:prstGeom>
          <a:solidFill>
            <a:srgbClr val="C51A4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2" name="CuadroTexto 1"/>
          <p:cNvSpPr txBox="1"/>
          <p:nvPr/>
        </p:nvSpPr>
        <p:spPr>
          <a:xfrm>
            <a:off x="273465" y="212168"/>
            <a:ext cx="7598535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4800" b="1" dirty="0">
                <a:latin typeface="Roboto" panose="02000000000000000000" pitchFamily="2" charset="0"/>
                <a:ea typeface="Roboto" panose="02000000000000000000" pitchFamily="2" charset="0"/>
              </a:rPr>
              <a:t>Introducción a </a:t>
            </a:r>
            <a:r>
              <a:rPr lang="es-MX" sz="4800" b="1" dirty="0" err="1">
                <a:latin typeface="Roboto" panose="02000000000000000000" pitchFamily="2" charset="0"/>
                <a:ea typeface="Roboto" panose="02000000000000000000" pitchFamily="2" charset="0"/>
              </a:rPr>
              <a:t>Raspbian</a:t>
            </a:r>
            <a:endParaRPr lang="es-MX" sz="4800" b="1" dirty="0"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sp>
        <p:nvSpPr>
          <p:cNvPr id="10" name="CuadroTexto 9"/>
          <p:cNvSpPr txBox="1"/>
          <p:nvPr/>
        </p:nvSpPr>
        <p:spPr>
          <a:xfrm>
            <a:off x="273465" y="1055278"/>
            <a:ext cx="1126581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3200" dirty="0">
                <a:solidFill>
                  <a:srgbClr val="C51A40"/>
                </a:solidFill>
                <a:latin typeface="Roboto Slab" pitchFamily="2" charset="0"/>
                <a:ea typeface="Roboto Slab" pitchFamily="2" charset="0"/>
              </a:rPr>
              <a:t>Comando </a:t>
            </a:r>
            <a:r>
              <a:rPr lang="es-MX" sz="3200" dirty="0" err="1">
                <a:solidFill>
                  <a:srgbClr val="C51A40"/>
                </a:solidFill>
                <a:latin typeface="Roboto Slab" pitchFamily="2" charset="0"/>
                <a:ea typeface="Roboto Slab" pitchFamily="2" charset="0"/>
              </a:rPr>
              <a:t>chmod</a:t>
            </a:r>
            <a:r>
              <a:rPr lang="es-MX" sz="3200" dirty="0">
                <a:solidFill>
                  <a:srgbClr val="C51A40"/>
                </a:solidFill>
                <a:latin typeface="Roboto Slab" pitchFamily="2" charset="0"/>
                <a:ea typeface="Roboto Slab" pitchFamily="2" charset="0"/>
              </a:rPr>
              <a:t>.</a:t>
            </a:r>
          </a:p>
        </p:txBody>
      </p:sp>
      <p:sp>
        <p:nvSpPr>
          <p:cNvPr id="12" name="Rectángulo 11"/>
          <p:cNvSpPr/>
          <p:nvPr/>
        </p:nvSpPr>
        <p:spPr>
          <a:xfrm>
            <a:off x="7872000" y="0"/>
            <a:ext cx="4320000" cy="720000"/>
          </a:xfrm>
          <a:prstGeom prst="rect">
            <a:avLst/>
          </a:prstGeom>
          <a:solidFill>
            <a:srgbClr val="C51A4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fld id="{5990E14E-10C1-4AA8-B2C7-C55C8C3B1C4A}" type="slidenum">
              <a:rPr lang="es-MX" smtClean="0">
                <a:latin typeface="Roboto" panose="02000000000000000000" pitchFamily="2" charset="0"/>
                <a:ea typeface="Roboto" panose="02000000000000000000" pitchFamily="2" charset="0"/>
              </a:rPr>
              <a:t>15</a:t>
            </a:fld>
            <a:endParaRPr lang="es-MX" dirty="0"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sp>
        <p:nvSpPr>
          <p:cNvPr id="5" name="CuadroTexto 4"/>
          <p:cNvSpPr txBox="1"/>
          <p:nvPr/>
        </p:nvSpPr>
        <p:spPr>
          <a:xfrm>
            <a:off x="273465" y="1738648"/>
            <a:ext cx="117811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s-MX" dirty="0">
                <a:latin typeface="Roboto" panose="02000000000000000000" pitchFamily="2" charset="0"/>
                <a:ea typeface="Roboto" panose="02000000000000000000" pitchFamily="2" charset="0"/>
              </a:rPr>
              <a:t>A continuación  mostramos unos ejemplos del uso del comando </a:t>
            </a:r>
            <a:r>
              <a:rPr lang="es-MX" dirty="0" err="1">
                <a:latin typeface="Roboto" panose="02000000000000000000" pitchFamily="2" charset="0"/>
                <a:ea typeface="Roboto" panose="02000000000000000000" pitchFamily="2" charset="0"/>
              </a:rPr>
              <a:t>chmod</a:t>
            </a:r>
            <a:r>
              <a:rPr lang="es-MX" dirty="0">
                <a:latin typeface="Roboto" panose="02000000000000000000" pitchFamily="2" charset="0"/>
                <a:ea typeface="Roboto" panose="02000000000000000000" pitchFamily="2" charset="0"/>
              </a:rPr>
              <a:t>.</a:t>
            </a:r>
          </a:p>
        </p:txBody>
      </p:sp>
      <p:pic>
        <p:nvPicPr>
          <p:cNvPr id="11" name="Imagen 10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76445" y="6233400"/>
            <a:ext cx="3175200" cy="529200"/>
          </a:xfrm>
          <a:prstGeom prst="rect">
            <a:avLst/>
          </a:prstGeom>
        </p:spPr>
      </p:pic>
      <p:sp>
        <p:nvSpPr>
          <p:cNvPr id="9" name="CuadroTexto 8"/>
          <p:cNvSpPr txBox="1"/>
          <p:nvPr/>
        </p:nvSpPr>
        <p:spPr>
          <a:xfrm>
            <a:off x="205420" y="2200236"/>
            <a:ext cx="11781160" cy="3647152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s-MX" sz="1100" dirty="0">
                <a:latin typeface="Courier New" panose="02070309020205020404" pitchFamily="49" charset="0"/>
                <a:ea typeface="Android Insomnia" pitchFamily="2" charset="-128"/>
                <a:cs typeface="Courier New" panose="02070309020205020404" pitchFamily="49" charset="0"/>
              </a:rPr>
              <a:t># Asigna todos los permisos a todos los usuarios</a:t>
            </a:r>
          </a:p>
          <a:p>
            <a:r>
              <a:rPr lang="es-MX" sz="1100" dirty="0" err="1">
                <a:latin typeface="Courier New" panose="02070309020205020404" pitchFamily="49" charset="0"/>
                <a:ea typeface="Android Insomnia" pitchFamily="2" charset="-128"/>
                <a:cs typeface="Courier New" panose="02070309020205020404" pitchFamily="49" charset="0"/>
              </a:rPr>
              <a:t>chmod</a:t>
            </a:r>
            <a:r>
              <a:rPr lang="es-MX" sz="1100" dirty="0">
                <a:latin typeface="Courier New" panose="02070309020205020404" pitchFamily="49" charset="0"/>
                <a:ea typeface="Android Insomnia" pitchFamily="2" charset="-128"/>
                <a:cs typeface="Courier New" panose="02070309020205020404" pitchFamily="49" charset="0"/>
              </a:rPr>
              <a:t> 777 archivo</a:t>
            </a:r>
          </a:p>
          <a:p>
            <a:endParaRPr lang="es-MX" sz="1100" dirty="0">
              <a:latin typeface="Courier New" panose="02070309020205020404" pitchFamily="49" charset="0"/>
              <a:ea typeface="Android Insomnia" pitchFamily="2" charset="-128"/>
              <a:cs typeface="Courier New" panose="02070309020205020404" pitchFamily="49" charset="0"/>
            </a:endParaRPr>
          </a:p>
          <a:p>
            <a:r>
              <a:rPr lang="es-MX" sz="1100" dirty="0">
                <a:latin typeface="Courier New" panose="02070309020205020404" pitchFamily="49" charset="0"/>
                <a:ea typeface="Android Insomnia" pitchFamily="2" charset="-128"/>
                <a:cs typeface="Courier New" panose="02070309020205020404" pitchFamily="49" charset="0"/>
              </a:rPr>
              <a:t>#Asigna todo los permisos al propietario y permisos lectura al #resto</a:t>
            </a:r>
          </a:p>
          <a:p>
            <a:r>
              <a:rPr lang="es-MX" sz="1100" dirty="0" err="1">
                <a:latin typeface="Courier New" panose="02070309020205020404" pitchFamily="49" charset="0"/>
                <a:ea typeface="Android Insomnia" pitchFamily="2" charset="-128"/>
                <a:cs typeface="Courier New" panose="02070309020205020404" pitchFamily="49" charset="0"/>
              </a:rPr>
              <a:t>chmod</a:t>
            </a:r>
            <a:r>
              <a:rPr lang="es-MX" sz="1100" dirty="0">
                <a:latin typeface="Courier New" panose="02070309020205020404" pitchFamily="49" charset="0"/>
                <a:ea typeface="Android Insomnia" pitchFamily="2" charset="-128"/>
                <a:cs typeface="Courier New" panose="02070309020205020404" pitchFamily="49" charset="0"/>
              </a:rPr>
              <a:t> 744 archivo</a:t>
            </a:r>
          </a:p>
          <a:p>
            <a:endParaRPr lang="es-MX" sz="1100" dirty="0">
              <a:latin typeface="Courier New" panose="02070309020205020404" pitchFamily="49" charset="0"/>
              <a:ea typeface="Android Insomnia" pitchFamily="2" charset="-128"/>
              <a:cs typeface="Courier New" panose="02070309020205020404" pitchFamily="49" charset="0"/>
            </a:endParaRPr>
          </a:p>
          <a:p>
            <a:r>
              <a:rPr lang="es-MX" sz="1100" dirty="0">
                <a:latin typeface="Courier New" panose="02070309020205020404" pitchFamily="49" charset="0"/>
                <a:ea typeface="Android Insomnia" pitchFamily="2" charset="-128"/>
                <a:cs typeface="Courier New" panose="02070309020205020404" pitchFamily="49" charset="0"/>
              </a:rPr>
              <a:t>#Asigna permisos de lectura y ejecución a todos los usuarios</a:t>
            </a:r>
          </a:p>
          <a:p>
            <a:r>
              <a:rPr lang="es-MX" sz="1100" dirty="0" err="1">
                <a:latin typeface="Courier New" panose="02070309020205020404" pitchFamily="49" charset="0"/>
                <a:ea typeface="Android Insomnia" pitchFamily="2" charset="-128"/>
                <a:cs typeface="Courier New" panose="02070309020205020404" pitchFamily="49" charset="0"/>
              </a:rPr>
              <a:t>chmod</a:t>
            </a:r>
            <a:r>
              <a:rPr lang="es-MX" sz="1100" dirty="0">
                <a:latin typeface="Courier New" panose="02070309020205020404" pitchFamily="49" charset="0"/>
                <a:ea typeface="Android Insomnia" pitchFamily="2" charset="-128"/>
                <a:cs typeface="Courier New" panose="02070309020205020404" pitchFamily="49" charset="0"/>
              </a:rPr>
              <a:t> 555 archivo</a:t>
            </a:r>
          </a:p>
          <a:p>
            <a:endParaRPr lang="es-MX" sz="1100" dirty="0">
              <a:latin typeface="Courier New" panose="02070309020205020404" pitchFamily="49" charset="0"/>
              <a:ea typeface="Android Insomnia" pitchFamily="2" charset="-128"/>
              <a:cs typeface="Courier New" panose="02070309020205020404" pitchFamily="49" charset="0"/>
            </a:endParaRPr>
          </a:p>
          <a:p>
            <a:r>
              <a:rPr lang="es-MX" sz="1100" dirty="0">
                <a:latin typeface="Courier New" panose="02070309020205020404" pitchFamily="49" charset="0"/>
                <a:ea typeface="Android Insomnia" pitchFamily="2" charset="-128"/>
                <a:cs typeface="Courier New" panose="02070309020205020404" pitchFamily="49" charset="0"/>
              </a:rPr>
              <a:t>#Asigna permisos de lectura y escritura al propietario, permisos #de lectura y ejecución al grupo de propietarios y permisos de #ejecución a otros.</a:t>
            </a:r>
          </a:p>
          <a:p>
            <a:r>
              <a:rPr lang="es-MX" sz="1100" dirty="0" err="1">
                <a:latin typeface="Courier New" panose="02070309020205020404" pitchFamily="49" charset="0"/>
                <a:ea typeface="Android Insomnia" pitchFamily="2" charset="-128"/>
                <a:cs typeface="Courier New" panose="02070309020205020404" pitchFamily="49" charset="0"/>
              </a:rPr>
              <a:t>chmod</a:t>
            </a:r>
            <a:r>
              <a:rPr lang="es-MX" sz="1100" dirty="0">
                <a:latin typeface="Courier New" panose="02070309020205020404" pitchFamily="49" charset="0"/>
                <a:ea typeface="Android Insomnia" pitchFamily="2" charset="-128"/>
                <a:cs typeface="Courier New" panose="02070309020205020404" pitchFamily="49" charset="0"/>
              </a:rPr>
              <a:t> 651 archivo</a:t>
            </a:r>
          </a:p>
          <a:p>
            <a:endParaRPr lang="es-MX" sz="1100" dirty="0">
              <a:latin typeface="Courier New" panose="02070309020205020404" pitchFamily="49" charset="0"/>
              <a:ea typeface="Android Insomnia" pitchFamily="2" charset="-128"/>
              <a:cs typeface="Courier New" panose="02070309020205020404" pitchFamily="49" charset="0"/>
            </a:endParaRPr>
          </a:p>
          <a:p>
            <a:r>
              <a:rPr lang="es-MX" sz="1100" dirty="0">
                <a:latin typeface="Courier New" panose="02070309020205020404" pitchFamily="49" charset="0"/>
                <a:ea typeface="Android Insomnia" pitchFamily="2" charset="-128"/>
                <a:cs typeface="Courier New" panose="02070309020205020404" pitchFamily="49" charset="0"/>
              </a:rPr>
              <a:t># Asigna todos los permisos a todos los usuarios</a:t>
            </a:r>
          </a:p>
          <a:p>
            <a:r>
              <a:rPr lang="es-MX" sz="1100" dirty="0" err="1">
                <a:latin typeface="Courier New" panose="02070309020205020404" pitchFamily="49" charset="0"/>
                <a:ea typeface="Android Insomnia" pitchFamily="2" charset="-128"/>
                <a:cs typeface="Courier New" panose="02070309020205020404" pitchFamily="49" charset="0"/>
              </a:rPr>
              <a:t>chmod</a:t>
            </a:r>
            <a:r>
              <a:rPr lang="es-MX" sz="1100" dirty="0">
                <a:latin typeface="Courier New" panose="02070309020205020404" pitchFamily="49" charset="0"/>
                <a:ea typeface="Android Insomnia" pitchFamily="2" charset="-128"/>
                <a:cs typeface="Courier New" panose="02070309020205020404" pitchFamily="49" charset="0"/>
              </a:rPr>
              <a:t> </a:t>
            </a:r>
            <a:r>
              <a:rPr lang="es-MX" sz="1100" dirty="0" err="1">
                <a:latin typeface="Courier New" panose="02070309020205020404" pitchFamily="49" charset="0"/>
                <a:ea typeface="Android Insomnia" pitchFamily="2" charset="-128"/>
                <a:cs typeface="Courier New" panose="02070309020205020404" pitchFamily="49" charset="0"/>
              </a:rPr>
              <a:t>a+rwx</a:t>
            </a:r>
            <a:r>
              <a:rPr lang="es-MX" sz="1100" dirty="0">
                <a:latin typeface="Courier New" panose="02070309020205020404" pitchFamily="49" charset="0"/>
                <a:ea typeface="Android Insomnia" pitchFamily="2" charset="-128"/>
                <a:cs typeface="Courier New" panose="02070309020205020404" pitchFamily="49" charset="0"/>
              </a:rPr>
              <a:t> archivo</a:t>
            </a:r>
          </a:p>
          <a:p>
            <a:endParaRPr lang="es-MX" sz="1100" dirty="0">
              <a:latin typeface="Courier New" panose="02070309020205020404" pitchFamily="49" charset="0"/>
              <a:ea typeface="Android Insomnia" pitchFamily="2" charset="-128"/>
              <a:cs typeface="Courier New" panose="02070309020205020404" pitchFamily="49" charset="0"/>
            </a:endParaRPr>
          </a:p>
          <a:p>
            <a:r>
              <a:rPr lang="es-MX" sz="1100" dirty="0">
                <a:latin typeface="Courier New" panose="02070309020205020404" pitchFamily="49" charset="0"/>
                <a:ea typeface="Android Insomnia" pitchFamily="2" charset="-128"/>
                <a:cs typeface="Courier New" panose="02070309020205020404" pitchFamily="49" charset="0"/>
              </a:rPr>
              <a:t>#Asigna todo los permisos al propietario y permisos lectura al #resto</a:t>
            </a:r>
          </a:p>
          <a:p>
            <a:r>
              <a:rPr lang="es-MX" sz="1100" dirty="0" err="1">
                <a:latin typeface="Courier New" panose="02070309020205020404" pitchFamily="49" charset="0"/>
                <a:ea typeface="Android Insomnia" pitchFamily="2" charset="-128"/>
                <a:cs typeface="Courier New" panose="02070309020205020404" pitchFamily="49" charset="0"/>
              </a:rPr>
              <a:t>chmod</a:t>
            </a:r>
            <a:r>
              <a:rPr lang="es-MX" sz="1100" dirty="0">
                <a:latin typeface="Courier New" panose="02070309020205020404" pitchFamily="49" charset="0"/>
                <a:ea typeface="Android Insomnia" pitchFamily="2" charset="-128"/>
                <a:cs typeface="Courier New" panose="02070309020205020404" pitchFamily="49" charset="0"/>
              </a:rPr>
              <a:t> </a:t>
            </a:r>
            <a:r>
              <a:rPr lang="es-MX" sz="1100" dirty="0" err="1">
                <a:latin typeface="Courier New" panose="02070309020205020404" pitchFamily="49" charset="0"/>
                <a:ea typeface="Android Insomnia" pitchFamily="2" charset="-128"/>
                <a:cs typeface="Courier New" panose="02070309020205020404" pitchFamily="49" charset="0"/>
              </a:rPr>
              <a:t>a+r,u</a:t>
            </a:r>
            <a:r>
              <a:rPr lang="es-MX" sz="1100" dirty="0">
                <a:latin typeface="Courier New" panose="02070309020205020404" pitchFamily="49" charset="0"/>
                <a:ea typeface="Android Insomnia" pitchFamily="2" charset="-128"/>
                <a:cs typeface="Courier New" panose="02070309020205020404" pitchFamily="49" charset="0"/>
              </a:rPr>
              <a:t>=</a:t>
            </a:r>
            <a:r>
              <a:rPr lang="es-MX" sz="1100" dirty="0" err="1">
                <a:latin typeface="Courier New" panose="02070309020205020404" pitchFamily="49" charset="0"/>
                <a:ea typeface="Android Insomnia" pitchFamily="2" charset="-128"/>
                <a:cs typeface="Courier New" panose="02070309020205020404" pitchFamily="49" charset="0"/>
              </a:rPr>
              <a:t>wx</a:t>
            </a:r>
            <a:r>
              <a:rPr lang="es-MX" sz="1100" dirty="0">
                <a:latin typeface="Courier New" panose="02070309020205020404" pitchFamily="49" charset="0"/>
                <a:ea typeface="Android Insomnia" pitchFamily="2" charset="-128"/>
                <a:cs typeface="Courier New" panose="02070309020205020404" pitchFamily="49" charset="0"/>
              </a:rPr>
              <a:t> archivo</a:t>
            </a:r>
          </a:p>
          <a:p>
            <a:endParaRPr lang="es-MX" sz="1100" dirty="0">
              <a:latin typeface="Courier New" panose="02070309020205020404" pitchFamily="49" charset="0"/>
              <a:ea typeface="Android Insomnia" pitchFamily="2" charset="-128"/>
              <a:cs typeface="Courier New" panose="02070309020205020404" pitchFamily="49" charset="0"/>
            </a:endParaRPr>
          </a:p>
          <a:p>
            <a:r>
              <a:rPr lang="es-MX" sz="1100" dirty="0">
                <a:latin typeface="Courier New" panose="02070309020205020404" pitchFamily="49" charset="0"/>
                <a:ea typeface="Android Insomnia" pitchFamily="2" charset="-128"/>
                <a:cs typeface="Courier New" panose="02070309020205020404" pitchFamily="49" charset="0"/>
              </a:rPr>
              <a:t>#Asigna permisos de lectura y ejecución a todos los usuarios</a:t>
            </a:r>
          </a:p>
          <a:p>
            <a:r>
              <a:rPr lang="es-MX" sz="1100" dirty="0" err="1">
                <a:latin typeface="Courier New" panose="02070309020205020404" pitchFamily="49" charset="0"/>
                <a:ea typeface="Android Insomnia" pitchFamily="2" charset="-128"/>
                <a:cs typeface="Courier New" panose="02070309020205020404" pitchFamily="49" charset="0"/>
              </a:rPr>
              <a:t>chmod</a:t>
            </a:r>
            <a:r>
              <a:rPr lang="es-MX" sz="1100" dirty="0">
                <a:latin typeface="Courier New" panose="02070309020205020404" pitchFamily="49" charset="0"/>
                <a:ea typeface="Android Insomnia" pitchFamily="2" charset="-128"/>
                <a:cs typeface="Courier New" panose="02070309020205020404" pitchFamily="49" charset="0"/>
              </a:rPr>
              <a:t> </a:t>
            </a:r>
            <a:r>
              <a:rPr lang="es-MX" sz="1100" dirty="0" err="1">
                <a:latin typeface="Courier New" panose="02070309020205020404" pitchFamily="49" charset="0"/>
                <a:ea typeface="Android Insomnia" pitchFamily="2" charset="-128"/>
                <a:cs typeface="Courier New" panose="02070309020205020404" pitchFamily="49" charset="0"/>
              </a:rPr>
              <a:t>a+rx</a:t>
            </a:r>
            <a:r>
              <a:rPr lang="es-MX" sz="1100" dirty="0">
                <a:latin typeface="Courier New" panose="02070309020205020404" pitchFamily="49" charset="0"/>
                <a:ea typeface="Android Insomnia" pitchFamily="2" charset="-128"/>
                <a:cs typeface="Courier New" panose="02070309020205020404" pitchFamily="49" charset="0"/>
              </a:rPr>
              <a:t> archivo</a:t>
            </a:r>
          </a:p>
        </p:txBody>
      </p:sp>
    </p:spTree>
    <p:extLst>
      <p:ext uri="{BB962C8B-B14F-4D97-AF65-F5344CB8AC3E}">
        <p14:creationId xmlns:p14="http://schemas.microsoft.com/office/powerpoint/2010/main" val="317189814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ángulo 6"/>
          <p:cNvSpPr/>
          <p:nvPr/>
        </p:nvSpPr>
        <p:spPr>
          <a:xfrm>
            <a:off x="0" y="6138000"/>
            <a:ext cx="4320000" cy="720000"/>
          </a:xfrm>
          <a:prstGeom prst="rect">
            <a:avLst/>
          </a:prstGeom>
          <a:solidFill>
            <a:srgbClr val="C51A4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2" name="CuadroTexto 1"/>
          <p:cNvSpPr txBox="1"/>
          <p:nvPr/>
        </p:nvSpPr>
        <p:spPr>
          <a:xfrm>
            <a:off x="273465" y="212168"/>
            <a:ext cx="7598535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4800" b="1" dirty="0">
                <a:latin typeface="Roboto" panose="02000000000000000000" pitchFamily="2" charset="0"/>
                <a:ea typeface="Roboto" panose="02000000000000000000" pitchFamily="2" charset="0"/>
              </a:rPr>
              <a:t>Introducción a </a:t>
            </a:r>
            <a:r>
              <a:rPr lang="es-MX" sz="4800" b="1" dirty="0" err="1">
                <a:latin typeface="Roboto" panose="02000000000000000000" pitchFamily="2" charset="0"/>
                <a:ea typeface="Roboto" panose="02000000000000000000" pitchFamily="2" charset="0"/>
              </a:rPr>
              <a:t>Raspbian</a:t>
            </a:r>
            <a:endParaRPr lang="es-MX" sz="4800" b="1" dirty="0"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sp>
        <p:nvSpPr>
          <p:cNvPr id="10" name="CuadroTexto 9"/>
          <p:cNvSpPr txBox="1"/>
          <p:nvPr/>
        </p:nvSpPr>
        <p:spPr>
          <a:xfrm>
            <a:off x="273465" y="1055278"/>
            <a:ext cx="1126581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3200" dirty="0">
                <a:solidFill>
                  <a:srgbClr val="C51A40"/>
                </a:solidFill>
                <a:latin typeface="Roboto Slab" pitchFamily="2" charset="0"/>
                <a:ea typeface="Roboto Slab" pitchFamily="2" charset="0"/>
              </a:rPr>
              <a:t>Comando </a:t>
            </a:r>
            <a:r>
              <a:rPr lang="es-MX" sz="3200" dirty="0" smtClean="0">
                <a:solidFill>
                  <a:srgbClr val="C51A40"/>
                </a:solidFill>
                <a:latin typeface="Roboto Slab" pitchFamily="2" charset="0"/>
                <a:ea typeface="Roboto Slab" pitchFamily="2" charset="0"/>
              </a:rPr>
              <a:t>grep.</a:t>
            </a:r>
            <a:endParaRPr lang="es-MX" sz="3200" dirty="0">
              <a:solidFill>
                <a:srgbClr val="C51A40"/>
              </a:solidFill>
              <a:latin typeface="Roboto Slab" pitchFamily="2" charset="0"/>
              <a:ea typeface="Roboto Slab" pitchFamily="2" charset="0"/>
            </a:endParaRPr>
          </a:p>
        </p:txBody>
      </p:sp>
      <p:sp>
        <p:nvSpPr>
          <p:cNvPr id="12" name="Rectángulo 11"/>
          <p:cNvSpPr/>
          <p:nvPr/>
        </p:nvSpPr>
        <p:spPr>
          <a:xfrm>
            <a:off x="7872000" y="0"/>
            <a:ext cx="4320000" cy="720000"/>
          </a:xfrm>
          <a:prstGeom prst="rect">
            <a:avLst/>
          </a:prstGeom>
          <a:solidFill>
            <a:srgbClr val="C51A4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fld id="{5990E14E-10C1-4AA8-B2C7-C55C8C3B1C4A}" type="slidenum">
              <a:rPr lang="es-MX" smtClean="0">
                <a:latin typeface="Roboto" panose="02000000000000000000" pitchFamily="2" charset="0"/>
                <a:ea typeface="Roboto" panose="02000000000000000000" pitchFamily="2" charset="0"/>
              </a:rPr>
              <a:t>16</a:t>
            </a:fld>
            <a:endParaRPr lang="es-MX" dirty="0"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sp>
        <p:nvSpPr>
          <p:cNvPr id="5" name="CuadroTexto 4"/>
          <p:cNvSpPr txBox="1"/>
          <p:nvPr/>
        </p:nvSpPr>
        <p:spPr>
          <a:xfrm>
            <a:off x="273465" y="1738648"/>
            <a:ext cx="117811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s-MX" dirty="0">
                <a:latin typeface="Roboto" panose="02000000000000000000" pitchFamily="2" charset="0"/>
                <a:ea typeface="Roboto" panose="02000000000000000000" pitchFamily="2" charset="0"/>
              </a:rPr>
              <a:t>Su función es la de buscar cadenas de texto en archivos. Su sintaxis es como sigue:.</a:t>
            </a:r>
          </a:p>
        </p:txBody>
      </p:sp>
      <p:pic>
        <p:nvPicPr>
          <p:cNvPr id="11" name="Imagen 10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76445" y="6233400"/>
            <a:ext cx="3175200" cy="529200"/>
          </a:xfrm>
          <a:prstGeom prst="rect">
            <a:avLst/>
          </a:prstGeom>
        </p:spPr>
      </p:pic>
      <p:sp>
        <p:nvSpPr>
          <p:cNvPr id="13" name="CuadroTexto 12"/>
          <p:cNvSpPr txBox="1"/>
          <p:nvPr/>
        </p:nvSpPr>
        <p:spPr>
          <a:xfrm>
            <a:off x="205420" y="2483574"/>
            <a:ext cx="11781160" cy="646331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s-MX" dirty="0">
                <a:latin typeface="Courier New" panose="02070309020205020404" pitchFamily="49" charset="0"/>
                <a:ea typeface="Android Insomnia" pitchFamily="2" charset="-128"/>
                <a:cs typeface="Courier New" panose="02070309020205020404" pitchFamily="49" charset="0"/>
              </a:rPr>
              <a:t>pi@raspberrypi:~ $ grep [opciones] PATRÓN [ARCHIVO...]</a:t>
            </a:r>
          </a:p>
          <a:p>
            <a:r>
              <a:rPr lang="es-MX" dirty="0">
                <a:latin typeface="Courier New" panose="02070309020205020404" pitchFamily="49" charset="0"/>
                <a:ea typeface="Android Insomnia" pitchFamily="2" charset="-128"/>
                <a:cs typeface="Courier New" panose="02070309020205020404" pitchFamily="49" charset="0"/>
              </a:rPr>
              <a:t>pi@raspberrypi:~ $ </a:t>
            </a:r>
            <a:r>
              <a:rPr lang="es-MX" dirty="0" smtClean="0">
                <a:latin typeface="Courier New" panose="02070309020205020404" pitchFamily="49" charset="0"/>
                <a:ea typeface="Android Insomnia" pitchFamily="2" charset="-128"/>
                <a:cs typeface="Courier New" panose="02070309020205020404" pitchFamily="49" charset="0"/>
              </a:rPr>
              <a:t>grep </a:t>
            </a:r>
            <a:r>
              <a:rPr lang="es-MX" dirty="0">
                <a:latin typeface="Courier New" panose="02070309020205020404" pitchFamily="49" charset="0"/>
                <a:ea typeface="Android Insomnia" pitchFamily="2" charset="-128"/>
                <a:cs typeface="Courier New" panose="02070309020205020404" pitchFamily="49" charset="0"/>
              </a:rPr>
              <a:t>[opciones] [-e PATRÓN | -f ARCHIVO] [ARCHIVO...]</a:t>
            </a:r>
          </a:p>
        </p:txBody>
      </p:sp>
      <p:graphicFrame>
        <p:nvGraphicFramePr>
          <p:cNvPr id="3" name="Tabla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05670309"/>
              </p:ext>
            </p:extLst>
          </p:nvPr>
        </p:nvGraphicFramePr>
        <p:xfrm>
          <a:off x="579551" y="3529076"/>
          <a:ext cx="11011435" cy="2054479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697463"/>
                <a:gridCol w="9313972"/>
              </a:tblGrid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MX" sz="1800" b="0" dirty="0">
                          <a:solidFill>
                            <a:schemeClr val="bg1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Opción </a:t>
                      </a:r>
                      <a:endParaRPr lang="es-MX" sz="1800" b="0" dirty="0">
                        <a:solidFill>
                          <a:schemeClr val="bg1"/>
                        </a:solidFill>
                        <a:effectLst/>
                        <a:latin typeface="Roboto" panose="02000000000000000000" pitchFamily="2" charset="0"/>
                        <a:ea typeface="Roboto" panose="02000000000000000000" pitchFamily="2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rgbClr val="3737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MX" sz="1800" b="0" dirty="0">
                          <a:solidFill>
                            <a:schemeClr val="bg1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Descripción</a:t>
                      </a:r>
                      <a:endParaRPr lang="es-MX" sz="1800" b="0" dirty="0">
                        <a:solidFill>
                          <a:schemeClr val="bg1"/>
                        </a:solidFill>
                        <a:effectLst/>
                        <a:latin typeface="Roboto" panose="02000000000000000000" pitchFamily="2" charset="0"/>
                        <a:ea typeface="Roboto" panose="02000000000000000000" pitchFamily="2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rgbClr val="37373B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MX" sz="1800" b="0" dirty="0">
                          <a:solidFill>
                            <a:schemeClr val="tx1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-c</a:t>
                      </a:r>
                      <a:endParaRPr lang="es-MX" sz="1800" b="0" dirty="0">
                        <a:solidFill>
                          <a:schemeClr val="tx1"/>
                        </a:solidFill>
                        <a:effectLst/>
                        <a:latin typeface="Roboto" panose="02000000000000000000" pitchFamily="2" charset="0"/>
                        <a:ea typeface="Roboto" panose="02000000000000000000" pitchFamily="2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MX" sz="1800" b="0" dirty="0">
                          <a:solidFill>
                            <a:schemeClr val="tx1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 Muestra la cantidad de líneas que coincidieron en cada archivo.</a:t>
                      </a:r>
                      <a:endParaRPr lang="es-MX" sz="1800" b="0" dirty="0">
                        <a:solidFill>
                          <a:schemeClr val="tx1"/>
                        </a:solidFill>
                        <a:effectLst/>
                        <a:latin typeface="Roboto" panose="02000000000000000000" pitchFamily="2" charset="0"/>
                        <a:ea typeface="Roboto" panose="02000000000000000000" pitchFamily="2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MX" sz="1800" b="0" dirty="0">
                          <a:solidFill>
                            <a:schemeClr val="tx1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-e PATRÓN</a:t>
                      </a:r>
                      <a:endParaRPr lang="es-MX" sz="1800" b="0" dirty="0">
                        <a:solidFill>
                          <a:schemeClr val="tx1"/>
                        </a:solidFill>
                        <a:effectLst/>
                        <a:latin typeface="Roboto" panose="02000000000000000000" pitchFamily="2" charset="0"/>
                        <a:ea typeface="Roboto" panose="02000000000000000000" pitchFamily="2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MX" sz="1800" b="0" dirty="0">
                          <a:solidFill>
                            <a:schemeClr val="tx1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Usar PATRÓN como el patrón de búsqueda, muy útil para proteger aquellos patrones de búsqueda que comienzan con el signo “-“.</a:t>
                      </a:r>
                      <a:endParaRPr lang="es-MX" sz="1800" b="0" dirty="0">
                        <a:solidFill>
                          <a:schemeClr val="tx1"/>
                        </a:solidFill>
                        <a:effectLst/>
                        <a:latin typeface="Roboto" panose="02000000000000000000" pitchFamily="2" charset="0"/>
                        <a:ea typeface="Roboto" panose="02000000000000000000" pitchFamily="2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MX" sz="1800" b="0" dirty="0">
                          <a:solidFill>
                            <a:schemeClr val="tx1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-f ARCHIVO</a:t>
                      </a:r>
                      <a:endParaRPr lang="es-MX" sz="1800" b="0" dirty="0">
                        <a:solidFill>
                          <a:schemeClr val="tx1"/>
                        </a:solidFill>
                        <a:effectLst/>
                        <a:latin typeface="Roboto" panose="02000000000000000000" pitchFamily="2" charset="0"/>
                        <a:ea typeface="Roboto" panose="02000000000000000000" pitchFamily="2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MX" sz="1800" b="0" dirty="0">
                          <a:solidFill>
                            <a:schemeClr val="tx1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Archivo en donde se buscaran las cadenas de texto.</a:t>
                      </a:r>
                      <a:endParaRPr lang="es-MX" sz="1800" b="0" dirty="0">
                        <a:solidFill>
                          <a:schemeClr val="tx1"/>
                        </a:solidFill>
                        <a:effectLst/>
                        <a:latin typeface="Roboto" panose="02000000000000000000" pitchFamily="2" charset="0"/>
                        <a:ea typeface="Roboto" panose="02000000000000000000" pitchFamily="2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MX" sz="1800" b="0" dirty="0">
                          <a:solidFill>
                            <a:schemeClr val="tx1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-H</a:t>
                      </a:r>
                      <a:endParaRPr lang="es-MX" sz="1800" b="0" dirty="0">
                        <a:solidFill>
                          <a:schemeClr val="tx1"/>
                        </a:solidFill>
                        <a:effectLst/>
                        <a:latin typeface="Roboto" panose="02000000000000000000" pitchFamily="2" charset="0"/>
                        <a:ea typeface="Roboto" panose="02000000000000000000" pitchFamily="2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MX" sz="1800" b="0" dirty="0">
                          <a:solidFill>
                            <a:schemeClr val="tx1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Muestra  el nombre del archivo con cada coincidencia.</a:t>
                      </a:r>
                      <a:endParaRPr lang="es-MX" sz="1800" b="0" dirty="0">
                        <a:solidFill>
                          <a:schemeClr val="tx1"/>
                        </a:solidFill>
                        <a:effectLst/>
                        <a:latin typeface="Roboto" panose="02000000000000000000" pitchFamily="2" charset="0"/>
                        <a:ea typeface="Roboto" panose="02000000000000000000" pitchFamily="2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188243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MX" sz="1800" b="0" dirty="0">
                          <a:solidFill>
                            <a:schemeClr val="tx1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-r</a:t>
                      </a:r>
                      <a:endParaRPr lang="es-MX" sz="1800" b="0" dirty="0">
                        <a:solidFill>
                          <a:schemeClr val="tx1"/>
                        </a:solidFill>
                        <a:effectLst/>
                        <a:latin typeface="Roboto" panose="02000000000000000000" pitchFamily="2" charset="0"/>
                        <a:ea typeface="Roboto" panose="02000000000000000000" pitchFamily="2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MX" sz="1800" b="0" dirty="0">
                          <a:solidFill>
                            <a:schemeClr val="tx1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Buscar recursivamente dentro de todos los subdirectorios del directorio actual.</a:t>
                      </a:r>
                      <a:endParaRPr lang="es-MX" sz="1800" b="0" dirty="0">
                        <a:solidFill>
                          <a:schemeClr val="tx1"/>
                        </a:solidFill>
                        <a:effectLst/>
                        <a:latin typeface="Roboto" panose="02000000000000000000" pitchFamily="2" charset="0"/>
                        <a:ea typeface="Roboto" panose="02000000000000000000" pitchFamily="2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73622534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txDef>
      <a:spPr>
        <a:noFill/>
      </a:spPr>
      <a:bodyPr wrap="square" rtlCol="0">
        <a:spAutoFit/>
      </a:bodyPr>
      <a:lstStyle>
        <a:defPPr>
          <a:defRPr dirty="0"/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734</TotalTime>
  <Words>1326</Words>
  <Application>Microsoft Office PowerPoint</Application>
  <PresentationFormat>Panorámica</PresentationFormat>
  <Paragraphs>227</Paragraphs>
  <Slides>16</Slides>
  <Notes>1</Notes>
  <HiddenSlides>0</HiddenSlides>
  <MMClips>0</MMClips>
  <ScaleCrop>false</ScaleCrop>
  <HeadingPairs>
    <vt:vector size="6" baseType="variant">
      <vt:variant>
        <vt:lpstr>Fuentes usadas</vt:lpstr>
      </vt:variant>
      <vt:variant>
        <vt:i4>8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16</vt:i4>
      </vt:variant>
    </vt:vector>
  </HeadingPairs>
  <TitlesOfParts>
    <vt:vector size="25" baseType="lpstr">
      <vt:lpstr>Android Insomnia</vt:lpstr>
      <vt:lpstr>Arial</vt:lpstr>
      <vt:lpstr>Calibri</vt:lpstr>
      <vt:lpstr>Calibri Light</vt:lpstr>
      <vt:lpstr>Courier New</vt:lpstr>
      <vt:lpstr>Roboto</vt:lpstr>
      <vt:lpstr>Roboto Slab</vt:lpstr>
      <vt:lpstr>Times New Roman</vt:lpstr>
      <vt:lpstr>Tema de Office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Eder Carmona Armijo</dc:creator>
  <cp:lastModifiedBy>Eder Carmona Armijo</cp:lastModifiedBy>
  <cp:revision>99</cp:revision>
  <dcterms:created xsi:type="dcterms:W3CDTF">2017-09-11T16:28:37Z</dcterms:created>
  <dcterms:modified xsi:type="dcterms:W3CDTF">2017-09-25T20:03:59Z</dcterms:modified>
</cp:coreProperties>
</file>