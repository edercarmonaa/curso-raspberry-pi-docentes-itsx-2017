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275" r:id="rId3"/>
    <p:sldId id="276"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373B"/>
    <a:srgbClr val="C51A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4" d="100"/>
          <a:sy n="74" d="100"/>
        </p:scale>
        <p:origin x="576" y="72"/>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FAD595D-6ADA-47EC-8AFF-E42DEE086B53}" type="datetimeFigureOut">
              <a:rPr lang="es-MX" smtClean="0"/>
              <a:t>27/09/2017</a:t>
            </a:fld>
            <a:endParaRPr lang="es-MX"/>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BB111-9DC4-4281-85E0-A3EAC63B8C2D}" type="slidenum">
              <a:rPr lang="es-MX" smtClean="0"/>
              <a:t>‹Nº›</a:t>
            </a:fld>
            <a:endParaRPr lang="es-MX"/>
          </a:p>
        </p:txBody>
      </p:sp>
    </p:spTree>
    <p:extLst>
      <p:ext uri="{BB962C8B-B14F-4D97-AF65-F5344CB8AC3E}">
        <p14:creationId xmlns:p14="http://schemas.microsoft.com/office/powerpoint/2010/main" val="4167860464"/>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96A91E-C94D-49A9-9B2B-E0C2416869C8}" type="datetimeFigureOut">
              <a:rPr lang="es-MX" smtClean="0"/>
              <a:t>27/09/2017</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057BBA-5D9E-49F1-9D08-ED51D95EEB31}" type="slidenum">
              <a:rPr lang="es-MX" smtClean="0"/>
              <a:t>‹Nº›</a:t>
            </a:fld>
            <a:endParaRPr lang="es-MX"/>
          </a:p>
        </p:txBody>
      </p:sp>
    </p:spTree>
    <p:extLst>
      <p:ext uri="{BB962C8B-B14F-4D97-AF65-F5344CB8AC3E}">
        <p14:creationId xmlns:p14="http://schemas.microsoft.com/office/powerpoint/2010/main" val="266554694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encabezado 3"/>
          <p:cNvSpPr>
            <a:spLocks noGrp="1"/>
          </p:cNvSpPr>
          <p:nvPr>
            <p:ph type="hdr" sz="quarter" idx="10"/>
          </p:nvPr>
        </p:nvSpPr>
        <p:spPr/>
        <p:txBody>
          <a:bodyPr/>
          <a:lstStyle/>
          <a:p>
            <a:endParaRPr lang="es-MX"/>
          </a:p>
        </p:txBody>
      </p:sp>
      <p:sp>
        <p:nvSpPr>
          <p:cNvPr id="5" name="Marcador de número de diapositiva 4"/>
          <p:cNvSpPr>
            <a:spLocks noGrp="1"/>
          </p:cNvSpPr>
          <p:nvPr>
            <p:ph type="sldNum" sz="quarter" idx="11"/>
          </p:nvPr>
        </p:nvSpPr>
        <p:spPr/>
        <p:txBody>
          <a:bodyPr/>
          <a:lstStyle/>
          <a:p>
            <a:fld id="{29057BBA-5D9E-49F1-9D08-ED51D95EEB31}" type="slidenum">
              <a:rPr lang="es-MX" smtClean="0"/>
              <a:t>1</a:t>
            </a:fld>
            <a:endParaRPr lang="es-MX"/>
          </a:p>
        </p:txBody>
      </p:sp>
    </p:spTree>
    <p:extLst>
      <p:ext uri="{BB962C8B-B14F-4D97-AF65-F5344CB8AC3E}">
        <p14:creationId xmlns:p14="http://schemas.microsoft.com/office/powerpoint/2010/main" val="2641819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MX"/>
          </a:p>
        </p:txBody>
      </p:sp>
      <p:sp>
        <p:nvSpPr>
          <p:cNvPr id="4" name="Marcador de fecha 3"/>
          <p:cNvSpPr>
            <a:spLocks noGrp="1"/>
          </p:cNvSpPr>
          <p:nvPr>
            <p:ph type="dt" sz="half" idx="10"/>
          </p:nvPr>
        </p:nvSpPr>
        <p:spPr/>
        <p:txBody>
          <a:bodyPr/>
          <a:lstStyle/>
          <a:p>
            <a:fld id="{E539E36A-411C-47D8-ACCE-3C164CD9D6AA}" type="datetime1">
              <a:rPr lang="es-MX" smtClean="0"/>
              <a:t>27/09/2017</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534242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24420AD3-9CA8-416C-A5B1-ED9046883CFE}" type="datetime1">
              <a:rPr lang="es-MX" smtClean="0"/>
              <a:t>27/09/2017</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2711561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EE096DF2-A570-4A38-BB2D-BC3C65B33F9B}" type="datetime1">
              <a:rPr lang="es-MX" smtClean="0"/>
              <a:t>27/09/2017</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436281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B0A55884-5635-4B1E-A887-34B4E794DA22}" type="datetime1">
              <a:rPr lang="es-MX" smtClean="0"/>
              <a:t>27/09/2017</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3896504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0492F442-030F-459C-9563-0116AD35CEFF}" type="datetime1">
              <a:rPr lang="es-MX" smtClean="0"/>
              <a:t>27/09/2017</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247017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687311F3-FCC4-4DE7-B673-A5E2117FFF23}" type="datetime1">
              <a:rPr lang="es-MX" smtClean="0"/>
              <a:t>27/09/2017</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326446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1FFDF76-F74B-498A-8DC5-EE25277D9DA4}" type="datetime1">
              <a:rPr lang="es-MX" smtClean="0"/>
              <a:t>27/09/2017</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917143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D98E60DA-2C31-4493-A7ED-6E75817DA356}" type="datetime1">
              <a:rPr lang="es-MX" smtClean="0"/>
              <a:t>27/09/2017</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2612754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FCD57F4F-5B61-4FA5-A365-99ABB13024F5}" type="datetime1">
              <a:rPr lang="es-MX" smtClean="0"/>
              <a:t>27/09/2017</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1265328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BDDF864D-821F-42FA-835B-45DC17C68805}" type="datetime1">
              <a:rPr lang="es-MX" smtClean="0"/>
              <a:t>27/09/2017</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562613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E2E9A792-0025-4CF2-8934-47BE6364F86A}" type="datetime1">
              <a:rPr lang="es-MX" smtClean="0"/>
              <a:t>27/09/2017</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696436AF-5312-4EEF-92FF-CDEF81EDE116}" type="slidenum">
              <a:rPr lang="es-MX" smtClean="0"/>
              <a:t>‹Nº›</a:t>
            </a:fld>
            <a:endParaRPr lang="es-MX"/>
          </a:p>
        </p:txBody>
      </p:sp>
    </p:spTree>
    <p:extLst>
      <p:ext uri="{BB962C8B-B14F-4D97-AF65-F5344CB8AC3E}">
        <p14:creationId xmlns:p14="http://schemas.microsoft.com/office/powerpoint/2010/main" val="1220795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C31552-5C4C-415B-872B-81200BCFD054}" type="datetime1">
              <a:rPr lang="es-MX" smtClean="0"/>
              <a:t>27/09/2017</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6436AF-5312-4EEF-92FF-CDEF81EDE116}" type="slidenum">
              <a:rPr lang="es-MX" smtClean="0"/>
              <a:t>‹Nº›</a:t>
            </a:fld>
            <a:endParaRPr lang="es-MX"/>
          </a:p>
        </p:txBody>
      </p:sp>
    </p:spTree>
    <p:extLst>
      <p:ext uri="{BB962C8B-B14F-4D97-AF65-F5344CB8AC3E}">
        <p14:creationId xmlns:p14="http://schemas.microsoft.com/office/powerpoint/2010/main" val="221466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A7FA9133-ACFE-4DD5-9EEB-90E0F3C4BA55}" type="slidenum">
              <a:rPr lang="es-MX" smtClean="0">
                <a:latin typeface="Roboto" panose="02000000000000000000" pitchFamily="2" charset="0"/>
                <a:ea typeface="Roboto" panose="02000000000000000000" pitchFamily="2" charset="0"/>
              </a:rPr>
              <a:pPr algn="r"/>
              <a:t>1</a:t>
            </a:fld>
            <a:endParaRPr lang="es-MX" dirty="0">
              <a:latin typeface="Roboto" panose="02000000000000000000" pitchFamily="2" charset="0"/>
              <a:ea typeface="Roboto" panose="02000000000000000000" pitchFamily="2" charset="0"/>
            </a:endParaRPr>
          </a:p>
        </p:txBody>
      </p:sp>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8" name="Imagen 7"/>
          <p:cNvPicPr>
            <a:picLocks noChangeAspect="1"/>
          </p:cNvPicPr>
          <p:nvPr/>
        </p:nvPicPr>
        <p:blipFill>
          <a:blip r:embed="rId3"/>
          <a:stretch>
            <a:fillRect/>
          </a:stretch>
        </p:blipFill>
        <p:spPr>
          <a:xfrm>
            <a:off x="724413" y="1265168"/>
            <a:ext cx="1436458" cy="1656000"/>
          </a:xfrm>
          <a:prstGeom prst="rect">
            <a:avLst/>
          </a:prstGeom>
        </p:spPr>
      </p:pic>
      <p:sp>
        <p:nvSpPr>
          <p:cNvPr id="2" name="CuadroTexto 1"/>
          <p:cNvSpPr txBox="1"/>
          <p:nvPr/>
        </p:nvSpPr>
        <p:spPr>
          <a:xfrm>
            <a:off x="724413" y="2921168"/>
            <a:ext cx="7598535" cy="1015663"/>
          </a:xfrm>
          <a:prstGeom prst="rect">
            <a:avLst/>
          </a:prstGeom>
          <a:noFill/>
        </p:spPr>
        <p:txBody>
          <a:bodyPr wrap="square" rtlCol="0">
            <a:spAutoFit/>
          </a:bodyPr>
          <a:lstStyle/>
          <a:p>
            <a:r>
              <a:rPr lang="es-MX" sz="6000" b="1" dirty="0" err="1" smtClean="0">
                <a:latin typeface="Roboto" panose="02000000000000000000" pitchFamily="2" charset="0"/>
                <a:ea typeface="Roboto" panose="02000000000000000000" pitchFamily="2" charset="0"/>
              </a:rPr>
              <a:t>Raspberry</a:t>
            </a:r>
            <a:r>
              <a:rPr lang="es-MX" sz="6000" b="1" dirty="0" smtClean="0">
                <a:latin typeface="Roboto" panose="02000000000000000000" pitchFamily="2" charset="0"/>
                <a:ea typeface="Roboto" panose="02000000000000000000" pitchFamily="2" charset="0"/>
              </a:rPr>
              <a:t> Pi</a:t>
            </a:r>
            <a:endParaRPr lang="es-MX" sz="6000" b="1" dirty="0">
              <a:latin typeface="Roboto" panose="02000000000000000000" pitchFamily="2" charset="0"/>
              <a:ea typeface="Roboto" panose="02000000000000000000" pitchFamily="2" charset="0"/>
            </a:endParaRPr>
          </a:p>
        </p:txBody>
      </p:sp>
      <p:sp>
        <p:nvSpPr>
          <p:cNvPr id="9" name="CuadroTexto 8"/>
          <p:cNvSpPr txBox="1"/>
          <p:nvPr/>
        </p:nvSpPr>
        <p:spPr>
          <a:xfrm>
            <a:off x="724413" y="3786505"/>
            <a:ext cx="11265818" cy="769441"/>
          </a:xfrm>
          <a:prstGeom prst="rect">
            <a:avLst/>
          </a:prstGeom>
          <a:noFill/>
        </p:spPr>
        <p:txBody>
          <a:bodyPr wrap="square" rtlCol="0">
            <a:spAutoFit/>
          </a:bodyPr>
          <a:lstStyle/>
          <a:p>
            <a:r>
              <a:rPr lang="es-MX" sz="4400" dirty="0" smtClean="0">
                <a:solidFill>
                  <a:srgbClr val="C51A40"/>
                </a:solidFill>
                <a:latin typeface="Roboto Slab" pitchFamily="2" charset="0"/>
                <a:ea typeface="Roboto Slab" pitchFamily="2" charset="0"/>
              </a:rPr>
              <a:t>Programación en Python</a:t>
            </a:r>
            <a:endParaRPr lang="es-MX" sz="4400" dirty="0">
              <a:solidFill>
                <a:srgbClr val="C51A40"/>
              </a:solidFill>
              <a:latin typeface="Roboto Slab" pitchFamily="2" charset="0"/>
              <a:ea typeface="Roboto Slab" pitchFamily="2" charset="0"/>
            </a:endParaRPr>
          </a:p>
        </p:txBody>
      </p:sp>
    </p:spTree>
    <p:extLst>
      <p:ext uri="{BB962C8B-B14F-4D97-AF65-F5344CB8AC3E}">
        <p14:creationId xmlns:p14="http://schemas.microsoft.com/office/powerpoint/2010/main" val="2605464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smtClean="0">
                <a:solidFill>
                  <a:srgbClr val="C51A40"/>
                </a:solidFill>
                <a:latin typeface="Roboto Slab" pitchFamily="2" charset="0"/>
                <a:ea typeface="Roboto Slab" pitchFamily="2" charset="0"/>
              </a:rPr>
              <a:t>Comentarios</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1477328"/>
          </a:xfrm>
          <a:prstGeom prst="rect">
            <a:avLst/>
          </a:prstGeom>
          <a:noFill/>
        </p:spPr>
        <p:txBody>
          <a:bodyPr wrap="square" rtlCol="0">
            <a:spAutoFit/>
          </a:bodyPr>
          <a:lstStyle/>
          <a:p>
            <a:pPr marL="285750" indent="-285750" algn="just">
              <a:buFont typeface="Arial" panose="020B0604020202020204" pitchFamily="34" charset="0"/>
              <a:buChar char="•"/>
            </a:pPr>
            <a:r>
              <a:rPr lang="es-MX" dirty="0">
                <a:latin typeface="Roboto" panose="02000000000000000000" pitchFamily="2" charset="0"/>
                <a:ea typeface="Roboto" panose="02000000000000000000" pitchFamily="2" charset="0"/>
              </a:rPr>
              <a:t>Los comentarios en Python comienzan con el carácter numeral, </a:t>
            </a:r>
            <a:r>
              <a:rPr lang="es-MX" dirty="0" smtClean="0">
                <a:latin typeface="Roboto" panose="02000000000000000000" pitchFamily="2" charset="0"/>
                <a:ea typeface="Roboto" panose="02000000000000000000" pitchFamily="2" charset="0"/>
              </a:rPr>
              <a:t>#. </a:t>
            </a: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Se </a:t>
            </a:r>
            <a:r>
              <a:rPr lang="es-MX" dirty="0">
                <a:latin typeface="Roboto" panose="02000000000000000000" pitchFamily="2" charset="0"/>
                <a:ea typeface="Roboto" panose="02000000000000000000" pitchFamily="2" charset="0"/>
              </a:rPr>
              <a:t>extienden hasta el final de la línea. </a:t>
            </a:r>
            <a:endParaRPr lang="es-MX" dirty="0" smtClean="0">
              <a:latin typeface="Roboto" panose="02000000000000000000" pitchFamily="2" charset="0"/>
              <a:ea typeface="Roboto" panose="02000000000000000000" pitchFamily="2" charset="0"/>
            </a:endParaRP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Un </a:t>
            </a:r>
            <a:r>
              <a:rPr lang="es-MX" dirty="0">
                <a:latin typeface="Roboto" panose="02000000000000000000" pitchFamily="2" charset="0"/>
                <a:ea typeface="Roboto" panose="02000000000000000000" pitchFamily="2" charset="0"/>
              </a:rPr>
              <a:t>comentario puede aparecer  al comienzo de la </a:t>
            </a:r>
            <a:r>
              <a:rPr lang="es-MX" dirty="0" smtClean="0">
                <a:latin typeface="Roboto" panose="02000000000000000000" pitchFamily="2" charset="0"/>
                <a:ea typeface="Roboto" panose="02000000000000000000" pitchFamily="2" charset="0"/>
              </a:rPr>
              <a:t>línea.</a:t>
            </a: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Puede aparecer después  </a:t>
            </a:r>
            <a:r>
              <a:rPr lang="es-MX" dirty="0">
                <a:latin typeface="Roboto" panose="02000000000000000000" pitchFamily="2" charset="0"/>
                <a:ea typeface="Roboto" panose="02000000000000000000" pitchFamily="2" charset="0"/>
              </a:rPr>
              <a:t>de espacios blancos o </a:t>
            </a:r>
            <a:r>
              <a:rPr lang="es-MX" dirty="0" smtClean="0">
                <a:latin typeface="Roboto" panose="02000000000000000000" pitchFamily="2" charset="0"/>
                <a:ea typeface="Roboto" panose="02000000000000000000" pitchFamily="2" charset="0"/>
              </a:rPr>
              <a:t>código.</a:t>
            </a: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No pueden estar dentro </a:t>
            </a:r>
            <a:r>
              <a:rPr lang="es-MX" dirty="0">
                <a:latin typeface="Roboto" panose="02000000000000000000" pitchFamily="2" charset="0"/>
                <a:ea typeface="Roboto" panose="02000000000000000000" pitchFamily="2" charset="0"/>
              </a:rPr>
              <a:t>de una cadena de caracteres.</a:t>
            </a:r>
            <a:endParaRPr lang="es-MX" dirty="0" smtClean="0">
              <a:latin typeface="Roboto" panose="02000000000000000000" pitchFamily="2" charset="0"/>
              <a:ea typeface="Roboto" panose="02000000000000000000" pitchFamily="2" charset="0"/>
            </a:endParaRPr>
          </a:p>
        </p:txBody>
      </p:sp>
      <p:pic>
        <p:nvPicPr>
          <p:cNvPr id="9" name="Imagen 8"/>
          <p:cNvPicPr>
            <a:picLocks noChangeAspect="1"/>
          </p:cNvPicPr>
          <p:nvPr/>
        </p:nvPicPr>
        <p:blipFill>
          <a:blip r:embed="rId4"/>
          <a:srcRect b="69323"/>
          <a:stretch>
            <a:fillRect/>
          </a:stretch>
        </p:blipFill>
        <p:spPr bwMode="auto">
          <a:xfrm>
            <a:off x="517724" y="3649425"/>
            <a:ext cx="11156551" cy="1944000"/>
          </a:xfrm>
          <a:prstGeom prst="rect">
            <a:avLst/>
          </a:prstGeom>
          <a:noFill/>
          <a:ln w="9525">
            <a:noFill/>
            <a:miter lim="800000"/>
            <a:headEnd/>
            <a:tailEnd/>
          </a:ln>
        </p:spPr>
      </p:pic>
    </p:spTree>
    <p:extLst>
      <p:ext uri="{BB962C8B-B14F-4D97-AF65-F5344CB8AC3E}">
        <p14:creationId xmlns:p14="http://schemas.microsoft.com/office/powerpoint/2010/main" val="10559117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smtClean="0">
                <a:solidFill>
                  <a:srgbClr val="C51A40"/>
                </a:solidFill>
                <a:latin typeface="Roboto Slab" pitchFamily="2" charset="0"/>
                <a:ea typeface="Roboto Slab" pitchFamily="2" charset="0"/>
              </a:rPr>
              <a:t>Trabajando con números</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3</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Existen dos tipos de variables numéricas, las de tipo entero (</a:t>
            </a:r>
            <a:r>
              <a:rPr lang="es-MX" dirty="0" err="1">
                <a:latin typeface="Roboto" panose="02000000000000000000" pitchFamily="2" charset="0"/>
                <a:ea typeface="Roboto" panose="02000000000000000000" pitchFamily="2" charset="0"/>
              </a:rPr>
              <a:t>int</a:t>
            </a:r>
            <a:r>
              <a:rPr lang="es-MX" dirty="0">
                <a:latin typeface="Roboto" panose="02000000000000000000" pitchFamily="2" charset="0"/>
                <a:ea typeface="Roboto" panose="02000000000000000000" pitchFamily="2" charset="0"/>
              </a:rPr>
              <a:t>) y las de tipo flotante(</a:t>
            </a:r>
            <a:r>
              <a:rPr lang="es-MX" dirty="0" err="1">
                <a:latin typeface="Roboto" panose="02000000000000000000" pitchFamily="2" charset="0"/>
                <a:ea typeface="Roboto" panose="02000000000000000000" pitchFamily="2" charset="0"/>
              </a:rPr>
              <a:t>float</a:t>
            </a:r>
            <a:r>
              <a:rPr lang="es-MX" dirty="0" smtClean="0">
                <a:latin typeface="Roboto" panose="02000000000000000000" pitchFamily="2" charset="0"/>
                <a:ea typeface="Roboto" panose="02000000000000000000" pitchFamily="2" charset="0"/>
              </a:rPr>
              <a:t>)</a:t>
            </a:r>
          </a:p>
        </p:txBody>
      </p:sp>
      <p:graphicFrame>
        <p:nvGraphicFramePr>
          <p:cNvPr id="3" name="Tabla 2"/>
          <p:cNvGraphicFramePr>
            <a:graphicFrameLocks noGrp="1"/>
          </p:cNvGraphicFramePr>
          <p:nvPr>
            <p:extLst>
              <p:ext uri="{D42A27DB-BD31-4B8C-83A1-F6EECF244321}">
                <p14:modId xmlns:p14="http://schemas.microsoft.com/office/powerpoint/2010/main" val="2585712556"/>
              </p:ext>
            </p:extLst>
          </p:nvPr>
        </p:nvGraphicFramePr>
        <p:xfrm>
          <a:off x="2889672" y="2481854"/>
          <a:ext cx="6412656" cy="2885272"/>
        </p:xfrm>
        <a:graphic>
          <a:graphicData uri="http://schemas.openxmlformats.org/drawingml/2006/table">
            <a:tbl>
              <a:tblPr firstRow="1" firstCol="1" bandRow="1">
                <a:tableStyleId>{5940675A-B579-460E-94D1-54222C63F5DA}</a:tableStyleId>
              </a:tblPr>
              <a:tblGrid>
                <a:gridCol w="1216388"/>
                <a:gridCol w="5196268"/>
              </a:tblGrid>
              <a:tr h="360659">
                <a:tc>
                  <a:txBody>
                    <a:bodyPr/>
                    <a:lstStyle/>
                    <a:p>
                      <a:pPr algn="ctr">
                        <a:lnSpc>
                          <a:spcPct val="107000"/>
                        </a:lnSpc>
                        <a:spcAft>
                          <a:spcPts val="0"/>
                        </a:spcAft>
                      </a:pPr>
                      <a:r>
                        <a:rPr lang="es-MX" sz="1800" b="0" dirty="0">
                          <a:solidFill>
                            <a:schemeClr val="bg1"/>
                          </a:solidFill>
                          <a:effectLst/>
                          <a:latin typeface="Roboto" panose="02000000000000000000" pitchFamily="2" charset="0"/>
                          <a:ea typeface="Roboto" panose="02000000000000000000" pitchFamily="2" charset="0"/>
                        </a:rPr>
                        <a:t>Operador</a:t>
                      </a:r>
                      <a:endParaRPr lang="es-MX" sz="1800" b="0" dirty="0">
                        <a:solidFill>
                          <a:schemeClr val="bg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7373B"/>
                    </a:solidFill>
                  </a:tcPr>
                </a:tc>
                <a:tc>
                  <a:txBody>
                    <a:bodyPr/>
                    <a:lstStyle/>
                    <a:p>
                      <a:pPr algn="ctr">
                        <a:lnSpc>
                          <a:spcPct val="107000"/>
                        </a:lnSpc>
                        <a:spcAft>
                          <a:spcPts val="0"/>
                        </a:spcAft>
                      </a:pPr>
                      <a:r>
                        <a:rPr lang="es-MX" sz="1800" b="0" dirty="0">
                          <a:solidFill>
                            <a:schemeClr val="bg1"/>
                          </a:solidFill>
                          <a:effectLst/>
                          <a:latin typeface="Roboto" panose="02000000000000000000" pitchFamily="2" charset="0"/>
                          <a:ea typeface="Roboto" panose="02000000000000000000" pitchFamily="2" charset="0"/>
                        </a:rPr>
                        <a:t>Descripción</a:t>
                      </a:r>
                      <a:endParaRPr lang="es-MX" sz="1800" b="0" dirty="0">
                        <a:solidFill>
                          <a:schemeClr val="bg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7373B"/>
                    </a:solidFill>
                  </a:tcPr>
                </a:tc>
              </a:tr>
              <a:tr h="360659">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Suma de  números</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60659">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Resta de números</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60659">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Multiplicación de números </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60659">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División natural</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60659">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División de </a:t>
                      </a:r>
                      <a:r>
                        <a:rPr lang="es-MX" sz="1800" dirty="0" err="1">
                          <a:effectLst/>
                          <a:latin typeface="Roboto" panose="02000000000000000000" pitchFamily="2" charset="0"/>
                          <a:ea typeface="Roboto" panose="02000000000000000000" pitchFamily="2" charset="0"/>
                        </a:rPr>
                        <a:t>floor</a:t>
                      </a:r>
                      <a:r>
                        <a:rPr lang="es-MX" sz="1800" dirty="0">
                          <a:effectLst/>
                          <a:latin typeface="Roboto" panose="02000000000000000000" pitchFamily="2" charset="0"/>
                          <a:ea typeface="Roboto" panose="02000000000000000000" pitchFamily="2" charset="0"/>
                        </a:rPr>
                        <a:t> (piso)</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60659">
                <a:tc>
                  <a:txBody>
                    <a:bodyPr/>
                    <a:lstStyle/>
                    <a:p>
                      <a:pPr>
                        <a:lnSpc>
                          <a:spcPct val="107000"/>
                        </a:lnSpc>
                        <a:spcAft>
                          <a:spcPts val="0"/>
                        </a:spcAft>
                      </a:pPr>
                      <a:r>
                        <a:rPr lang="es-MX" sz="1800">
                          <a:effectLst/>
                          <a:latin typeface="Roboto" panose="02000000000000000000" pitchFamily="2" charset="0"/>
                          <a:ea typeface="Roboto" panose="02000000000000000000" pitchFamily="2" charset="0"/>
                        </a:rPr>
                        <a:t>%</a:t>
                      </a:r>
                      <a:endParaRPr lang="es-MX" sz="180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Modulo o residuo de una división</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60659">
                <a:tc>
                  <a:txBody>
                    <a:bodyPr/>
                    <a:lstStyle/>
                    <a:p>
                      <a:pPr>
                        <a:lnSpc>
                          <a:spcPct val="107000"/>
                        </a:lnSpc>
                        <a:spcAft>
                          <a:spcPts val="0"/>
                        </a:spcAft>
                      </a:pPr>
                      <a:r>
                        <a:rPr lang="es-MX" sz="1800">
                          <a:effectLst/>
                          <a:latin typeface="Roboto" panose="02000000000000000000" pitchFamily="2" charset="0"/>
                          <a:ea typeface="Roboto" panose="02000000000000000000" pitchFamily="2" charset="0"/>
                        </a:rPr>
                        <a:t>**</a:t>
                      </a:r>
                      <a:endParaRPr lang="es-MX" sz="180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s-MX" sz="1800" dirty="0">
                          <a:effectLst/>
                          <a:latin typeface="Roboto" panose="02000000000000000000" pitchFamily="2" charset="0"/>
                          <a:ea typeface="Roboto" panose="02000000000000000000" pitchFamily="2" charset="0"/>
                        </a:rPr>
                        <a:t>Exponencial eleva a una potencia </a:t>
                      </a:r>
                      <a:endParaRPr lang="es-MX" sz="180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35168813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smtClean="0">
                <a:solidFill>
                  <a:srgbClr val="C51A40"/>
                </a:solidFill>
                <a:latin typeface="Roboto Slab" pitchFamily="2" charset="0"/>
                <a:ea typeface="Roboto Slab" pitchFamily="2" charset="0"/>
              </a:rPr>
              <a:t>Trabajando con números</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4</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A continuación se  muestra una serie de ejemplos básico del uso de operadores aritméticos</a:t>
            </a:r>
            <a:r>
              <a:rPr lang="es-MX" dirty="0" smtClean="0">
                <a:latin typeface="Roboto" panose="02000000000000000000" pitchFamily="2" charset="0"/>
                <a:ea typeface="Roboto" panose="02000000000000000000" pitchFamily="2" charset="0"/>
              </a:rPr>
              <a:t>.</a:t>
            </a:r>
          </a:p>
        </p:txBody>
      </p:sp>
      <p:pic>
        <p:nvPicPr>
          <p:cNvPr id="11" name="Imagen 10"/>
          <p:cNvPicPr>
            <a:picLocks noChangeAspect="1"/>
          </p:cNvPicPr>
          <p:nvPr/>
        </p:nvPicPr>
        <p:blipFill rotWithShape="1">
          <a:blip r:embed="rId4"/>
          <a:srcRect b="29997"/>
          <a:stretch/>
        </p:blipFill>
        <p:spPr bwMode="auto">
          <a:xfrm>
            <a:off x="273465" y="2241450"/>
            <a:ext cx="11351790" cy="3204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160200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Operadores de Asignación</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5</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646331"/>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Los operadores de asignación se utilizan para básicamente asignar un valor a una variable, así como cuando utilizamos el “=”..</a:t>
            </a:r>
            <a:endParaRPr lang="es-MX" dirty="0" smtClean="0">
              <a:latin typeface="Roboto" panose="02000000000000000000" pitchFamily="2" charset="0"/>
              <a:ea typeface="Roboto" panose="02000000000000000000" pitchFamily="2" charset="0"/>
            </a:endParaRPr>
          </a:p>
        </p:txBody>
      </p:sp>
      <p:graphicFrame>
        <p:nvGraphicFramePr>
          <p:cNvPr id="3" name="Tabla 2"/>
          <p:cNvGraphicFramePr>
            <a:graphicFrameLocks noGrp="1"/>
          </p:cNvGraphicFramePr>
          <p:nvPr>
            <p:extLst>
              <p:ext uri="{D42A27DB-BD31-4B8C-83A1-F6EECF244321}">
                <p14:modId xmlns:p14="http://schemas.microsoft.com/office/powerpoint/2010/main" val="302930776"/>
              </p:ext>
            </p:extLst>
          </p:nvPr>
        </p:nvGraphicFramePr>
        <p:xfrm>
          <a:off x="1543318" y="3013038"/>
          <a:ext cx="9105363" cy="2054479"/>
        </p:xfrm>
        <a:graphic>
          <a:graphicData uri="http://schemas.openxmlformats.org/drawingml/2006/table">
            <a:tbl>
              <a:tblPr firstRow="1" firstCol="1" bandRow="1">
                <a:tableStyleId>{2D5ABB26-0587-4C30-8999-92F81FD0307C}</a:tableStyleId>
              </a:tblPr>
              <a:tblGrid>
                <a:gridCol w="1135592"/>
                <a:gridCol w="7969771"/>
              </a:tblGrid>
              <a:tr h="246147">
                <a:tc>
                  <a:txBody>
                    <a:bodyPr/>
                    <a:lstStyle/>
                    <a:p>
                      <a:pPr marL="0" algn="ctr" defTabSz="914400" rtl="0" eaLnBrk="1" latinLnBrk="0" hangingPunct="1">
                        <a:lnSpc>
                          <a:spcPct val="107000"/>
                        </a:lnSpc>
                        <a:spcAft>
                          <a:spcPts val="0"/>
                        </a:spcAft>
                      </a:pPr>
                      <a:r>
                        <a:rPr lang="es-MX" sz="1800" kern="1200" dirty="0">
                          <a:solidFill>
                            <a:schemeClr val="bg1"/>
                          </a:solidFill>
                          <a:effectLst/>
                        </a:rPr>
                        <a:t>Operador</a:t>
                      </a:r>
                      <a:endParaRPr lang="es-MX" sz="1800" kern="1200" dirty="0">
                        <a:solidFill>
                          <a:schemeClr val="bg1"/>
                        </a:solidFill>
                        <a:effectLst/>
                        <a:latin typeface="Roboto" panose="02000000000000000000" pitchFamily="2" charset="0"/>
                        <a:ea typeface="Roboto" panose="02000000000000000000" pitchFamily="2" charset="0"/>
                        <a:cs typeface="+mn-cs"/>
                      </a:endParaRPr>
                    </a:p>
                  </a:txBody>
                  <a:tcPr marL="68580" marR="68580" marT="0" marB="0">
                    <a:solidFill>
                      <a:srgbClr val="37373B"/>
                    </a:solidFill>
                  </a:tcPr>
                </a:tc>
                <a:tc>
                  <a:txBody>
                    <a:bodyPr/>
                    <a:lstStyle/>
                    <a:p>
                      <a:pPr marL="0" algn="ctr" defTabSz="914400" rtl="0" eaLnBrk="1" latinLnBrk="0" hangingPunct="1">
                        <a:lnSpc>
                          <a:spcPct val="107000"/>
                        </a:lnSpc>
                        <a:spcAft>
                          <a:spcPts val="0"/>
                        </a:spcAft>
                      </a:pPr>
                      <a:r>
                        <a:rPr lang="es-MX" sz="1800" kern="1200" dirty="0">
                          <a:solidFill>
                            <a:schemeClr val="bg1"/>
                          </a:solidFill>
                          <a:effectLst/>
                        </a:rPr>
                        <a:t>Descripción</a:t>
                      </a:r>
                      <a:endParaRPr lang="es-MX" sz="1800" kern="1200" dirty="0">
                        <a:solidFill>
                          <a:schemeClr val="bg1"/>
                        </a:solidFill>
                        <a:effectLst/>
                        <a:latin typeface="Roboto" panose="02000000000000000000" pitchFamily="2" charset="0"/>
                        <a:ea typeface="Roboto" panose="02000000000000000000" pitchFamily="2" charset="0"/>
                        <a:cs typeface="+mn-cs"/>
                      </a:endParaRPr>
                    </a:p>
                  </a:txBody>
                  <a:tcPr marL="68580" marR="68580" marT="0" marB="0">
                    <a:solidFill>
                      <a:srgbClr val="37373B"/>
                    </a:solidFill>
                  </a:tcPr>
                </a:tc>
              </a:tr>
              <a:tr h="0">
                <a:tc>
                  <a:txBody>
                    <a:bodyPr/>
                    <a:lstStyle/>
                    <a:p>
                      <a:pPr marL="0" algn="l" defTabSz="914400" rtl="0" eaLnBrk="1" latinLnBrk="0" hangingPunct="1">
                        <a:lnSpc>
                          <a:spcPct val="107000"/>
                        </a:lnSpc>
                        <a:spcAft>
                          <a:spcPts val="0"/>
                        </a:spcAft>
                      </a:pPr>
                      <a:r>
                        <a:rPr lang="es-MX" sz="1800" kern="1200" dirty="0">
                          <a:effectLst/>
                        </a:rPr>
                        <a:t>=</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ct val="107000"/>
                        </a:lnSpc>
                        <a:spcAft>
                          <a:spcPts val="0"/>
                        </a:spcAft>
                      </a:pPr>
                      <a:r>
                        <a:rPr lang="es-MX" sz="1800" kern="1200" dirty="0">
                          <a:effectLst/>
                        </a:rPr>
                        <a:t>Igual a, es el más simple de todos y asigna a la variable del lado izquierdo cualquier variable o resultado del lado derecho</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B w="12700" cap="flat" cmpd="sng" algn="ctr">
                      <a:solidFill>
                        <a:schemeClr val="tx1"/>
                      </a:solidFill>
                      <a:prstDash val="solid"/>
                      <a:round/>
                      <a:headEnd type="none" w="med" len="med"/>
                      <a:tailEnd type="none" w="med" len="med"/>
                    </a:lnB>
                  </a:tcPr>
                </a:tc>
              </a:tr>
              <a:tr h="0">
                <a:tc>
                  <a:txBody>
                    <a:bodyPr/>
                    <a:lstStyle/>
                    <a:p>
                      <a:pPr marL="0" algn="l" defTabSz="914400" rtl="0" eaLnBrk="1" latinLnBrk="0" hangingPunct="1">
                        <a:lnSpc>
                          <a:spcPct val="107000"/>
                        </a:lnSpc>
                        <a:spcAft>
                          <a:spcPts val="0"/>
                        </a:spcAft>
                      </a:pPr>
                      <a:r>
                        <a:rPr lang="es-MX" sz="1800" kern="1200" dirty="0">
                          <a:effectLst/>
                        </a:rPr>
                        <a:t>+=</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ct val="107000"/>
                        </a:lnSpc>
                        <a:spcAft>
                          <a:spcPts val="0"/>
                        </a:spcAft>
                      </a:pPr>
                      <a:r>
                        <a:rPr lang="es-MX" sz="1800" kern="1200" dirty="0">
                          <a:effectLst/>
                        </a:rPr>
                        <a:t>Suma a la variable del lado izquierdo el valor del lado derecho.</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marL="0" algn="l" defTabSz="914400" rtl="0" eaLnBrk="1" latinLnBrk="0" hangingPunct="1">
                        <a:lnSpc>
                          <a:spcPct val="107000"/>
                        </a:lnSpc>
                        <a:spcAft>
                          <a:spcPts val="0"/>
                        </a:spcAft>
                      </a:pPr>
                      <a:r>
                        <a:rPr lang="es-MX" sz="1800" kern="1200" dirty="0">
                          <a:effectLst/>
                        </a:rPr>
                        <a:t>-=</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ct val="107000"/>
                        </a:lnSpc>
                        <a:spcAft>
                          <a:spcPts val="0"/>
                        </a:spcAft>
                      </a:pPr>
                      <a:r>
                        <a:rPr lang="es-MX" sz="1800" kern="1200" dirty="0">
                          <a:effectLst/>
                        </a:rPr>
                        <a:t>Resta a la variable del lado izquierdo el valor del lado derecho.</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marL="0" algn="l" defTabSz="914400" rtl="0" eaLnBrk="1" latinLnBrk="0" hangingPunct="1">
                        <a:lnSpc>
                          <a:spcPct val="107000"/>
                        </a:lnSpc>
                        <a:spcAft>
                          <a:spcPts val="0"/>
                        </a:spcAft>
                      </a:pPr>
                      <a:r>
                        <a:rPr lang="es-MX" sz="1800" kern="1200" dirty="0">
                          <a:effectLst/>
                        </a:rPr>
                        <a:t>*=</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ct val="107000"/>
                        </a:lnSpc>
                        <a:spcAft>
                          <a:spcPts val="0"/>
                        </a:spcAft>
                      </a:pPr>
                      <a:r>
                        <a:rPr lang="es-MX" sz="1800" kern="1200" dirty="0">
                          <a:effectLst/>
                        </a:rPr>
                        <a:t>Multiplica  a la variable del lado izquierdo el valor del lado derecho.</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marL="0" algn="l" defTabSz="914400" rtl="0" eaLnBrk="1" latinLnBrk="0" hangingPunct="1">
                        <a:lnSpc>
                          <a:spcPct val="107000"/>
                        </a:lnSpc>
                        <a:spcAft>
                          <a:spcPts val="0"/>
                        </a:spcAft>
                      </a:pPr>
                      <a:r>
                        <a:rPr lang="es-MX" sz="1800" kern="1200">
                          <a:effectLst/>
                        </a:rPr>
                        <a:t>/=</a:t>
                      </a:r>
                      <a:endParaRPr lang="es-MX" sz="1800" kern="1200">
                        <a:solidFill>
                          <a:schemeClr val="tx1"/>
                        </a:solidFill>
                        <a:effectLst/>
                        <a:latin typeface="Roboto" panose="02000000000000000000" pitchFamily="2" charset="0"/>
                        <a:ea typeface="Roboto" panose="02000000000000000000" pitchFamily="2" charset="0"/>
                        <a:cs typeface="+mn-cs"/>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ct val="107000"/>
                        </a:lnSpc>
                        <a:spcAft>
                          <a:spcPts val="0"/>
                        </a:spcAft>
                      </a:pPr>
                      <a:r>
                        <a:rPr lang="es-MX" sz="1800" kern="1200" dirty="0">
                          <a:effectLst/>
                        </a:rPr>
                        <a:t>Divide a la variable del lado izquierdo el valor del lado derecho.</a:t>
                      </a:r>
                      <a:endParaRPr lang="es-MX" sz="1800" kern="1200" dirty="0">
                        <a:solidFill>
                          <a:schemeClr val="tx1"/>
                        </a:solidFill>
                        <a:effectLst/>
                        <a:latin typeface="Roboto" panose="02000000000000000000" pitchFamily="2" charset="0"/>
                        <a:ea typeface="Roboto" panose="02000000000000000000" pitchFamily="2" charset="0"/>
                        <a:cs typeface="+mn-cs"/>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3321497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Operadores de Asignación</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6</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A continuación se  muestra una serie de ejemplos básico del uso de operadores </a:t>
            </a:r>
            <a:r>
              <a:rPr lang="es-MX" dirty="0" smtClean="0">
                <a:latin typeface="Roboto" panose="02000000000000000000" pitchFamily="2" charset="0"/>
                <a:ea typeface="Roboto" panose="02000000000000000000" pitchFamily="2" charset="0"/>
              </a:rPr>
              <a:t>de asignación.</a:t>
            </a:r>
          </a:p>
        </p:txBody>
      </p:sp>
      <p:pic>
        <p:nvPicPr>
          <p:cNvPr id="14" name="Imagen 13"/>
          <p:cNvPicPr>
            <a:picLocks noChangeAspect="1"/>
          </p:cNvPicPr>
          <p:nvPr/>
        </p:nvPicPr>
        <p:blipFill rotWithShape="1">
          <a:blip r:embed="rId4"/>
          <a:srcRect b="40961"/>
          <a:stretch/>
        </p:blipFill>
        <p:spPr bwMode="auto">
          <a:xfrm>
            <a:off x="414420" y="2639036"/>
            <a:ext cx="11363159" cy="270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11494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Operadores lógicos.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7</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646331"/>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De la misma manera que se puede operar entre números mediante las operaciones de suma, resta, etc., también existen tres operadores lógicos para combinar expresiones booleanas: and (y), </a:t>
            </a:r>
            <a:r>
              <a:rPr lang="es-MX" dirty="0" err="1">
                <a:latin typeface="Roboto" panose="02000000000000000000" pitchFamily="2" charset="0"/>
                <a:ea typeface="Roboto" panose="02000000000000000000" pitchFamily="2" charset="0"/>
              </a:rPr>
              <a:t>or</a:t>
            </a:r>
            <a:r>
              <a:rPr lang="es-MX" dirty="0">
                <a:latin typeface="Roboto" panose="02000000000000000000" pitchFamily="2" charset="0"/>
                <a:ea typeface="Roboto" panose="02000000000000000000" pitchFamily="2" charset="0"/>
              </a:rPr>
              <a:t> (o) y </a:t>
            </a:r>
            <a:r>
              <a:rPr lang="es-MX" dirty="0" err="1">
                <a:latin typeface="Roboto" panose="02000000000000000000" pitchFamily="2" charset="0"/>
                <a:ea typeface="Roboto" panose="02000000000000000000" pitchFamily="2" charset="0"/>
              </a:rPr>
              <a:t>not</a:t>
            </a:r>
            <a:r>
              <a:rPr lang="es-MX" dirty="0">
                <a:latin typeface="Roboto" panose="02000000000000000000" pitchFamily="2" charset="0"/>
                <a:ea typeface="Roboto" panose="02000000000000000000" pitchFamily="2" charset="0"/>
              </a:rPr>
              <a:t> (no).</a:t>
            </a:r>
            <a:endParaRPr lang="es-MX" dirty="0" smtClean="0">
              <a:latin typeface="Roboto" panose="02000000000000000000" pitchFamily="2" charset="0"/>
              <a:ea typeface="Roboto" panose="02000000000000000000" pitchFamily="2" charset="0"/>
            </a:endParaRPr>
          </a:p>
        </p:txBody>
      </p:sp>
      <p:graphicFrame>
        <p:nvGraphicFramePr>
          <p:cNvPr id="3" name="Tabla 2"/>
          <p:cNvGraphicFramePr>
            <a:graphicFrameLocks noGrp="1"/>
          </p:cNvGraphicFramePr>
          <p:nvPr>
            <p:extLst>
              <p:ext uri="{D42A27DB-BD31-4B8C-83A1-F6EECF244321}">
                <p14:modId xmlns:p14="http://schemas.microsoft.com/office/powerpoint/2010/main" val="590233553"/>
              </p:ext>
            </p:extLst>
          </p:nvPr>
        </p:nvGraphicFramePr>
        <p:xfrm>
          <a:off x="1363014" y="2871162"/>
          <a:ext cx="9465972" cy="2054479"/>
        </p:xfrm>
        <a:graphic>
          <a:graphicData uri="http://schemas.openxmlformats.org/drawingml/2006/table">
            <a:tbl>
              <a:tblPr firstRow="1" firstCol="1" bandRow="1">
                <a:tableStyleId>{5C22544A-7EE6-4342-B048-85BDC9FD1C3A}</a:tableStyleId>
              </a:tblPr>
              <a:tblGrid>
                <a:gridCol w="1180566"/>
                <a:gridCol w="8285406"/>
              </a:tblGrid>
              <a:tr h="0">
                <a:tc>
                  <a:txBody>
                    <a:bodyPr/>
                    <a:lstStyle/>
                    <a:p>
                      <a:pPr algn="ctr">
                        <a:lnSpc>
                          <a:spcPct val="107000"/>
                        </a:lnSpc>
                        <a:spcAft>
                          <a:spcPts val="0"/>
                        </a:spcAft>
                      </a:pPr>
                      <a:r>
                        <a:rPr lang="es-MX" sz="1800" b="0" dirty="0">
                          <a:effectLst/>
                          <a:latin typeface="Roboto" panose="02000000000000000000" pitchFamily="2" charset="0"/>
                          <a:ea typeface="Roboto" panose="02000000000000000000" pitchFamily="2" charset="0"/>
                        </a:rPr>
                        <a:t>Operador </a:t>
                      </a:r>
                      <a:endParaRPr lang="es-MX" sz="1800" b="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37373B"/>
                    </a:solidFill>
                  </a:tcPr>
                </a:tc>
                <a:tc>
                  <a:txBody>
                    <a:bodyPr/>
                    <a:lstStyle/>
                    <a:p>
                      <a:pPr algn="ctr">
                        <a:lnSpc>
                          <a:spcPct val="107000"/>
                        </a:lnSpc>
                        <a:spcAft>
                          <a:spcPts val="0"/>
                        </a:spcAft>
                      </a:pPr>
                      <a:r>
                        <a:rPr lang="es-MX" sz="1800" b="0" dirty="0">
                          <a:effectLst/>
                          <a:latin typeface="Roboto" panose="02000000000000000000" pitchFamily="2" charset="0"/>
                          <a:ea typeface="Roboto" panose="02000000000000000000" pitchFamily="2" charset="0"/>
                        </a:rPr>
                        <a:t>Descripción </a:t>
                      </a:r>
                      <a:endParaRPr lang="es-MX" sz="1800" b="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37373B"/>
                    </a:solidFill>
                  </a:tcPr>
                </a:tc>
              </a:tr>
              <a:tr h="0">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And</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El operador and da como resultado el valor True si y sólo si son ciertos sus dos </a:t>
                      </a:r>
                      <a:r>
                        <a:rPr lang="es-MX" sz="1800" b="0" dirty="0" err="1">
                          <a:solidFill>
                            <a:schemeClr val="tx1"/>
                          </a:solidFill>
                          <a:effectLst/>
                          <a:latin typeface="Roboto" panose="02000000000000000000" pitchFamily="2" charset="0"/>
                          <a:ea typeface="Roboto" panose="02000000000000000000" pitchFamily="2" charset="0"/>
                        </a:rPr>
                        <a:t>operandos</a:t>
                      </a:r>
                      <a:r>
                        <a:rPr lang="es-MX" sz="1800" b="0" dirty="0">
                          <a:solidFill>
                            <a:schemeClr val="tx1"/>
                          </a:solidFill>
                          <a:effectLst/>
                          <a:latin typeface="Roboto" panose="02000000000000000000" pitchFamily="2" charset="0"/>
                          <a:ea typeface="Roboto" panose="02000000000000000000" pitchFamily="2" charset="0"/>
                        </a:rPr>
                        <a:t>.</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0">
                <a:tc>
                  <a:txBody>
                    <a:bodyPr/>
                    <a:lstStyle/>
                    <a:p>
                      <a:pPr>
                        <a:lnSpc>
                          <a:spcPct val="107000"/>
                        </a:lnSpc>
                        <a:spcAft>
                          <a:spcPts val="0"/>
                        </a:spcAft>
                      </a:pPr>
                      <a:r>
                        <a:rPr lang="es-MX" sz="1800" b="0" dirty="0" err="1">
                          <a:solidFill>
                            <a:schemeClr val="tx1"/>
                          </a:solidFill>
                          <a:effectLst/>
                          <a:latin typeface="Roboto" panose="02000000000000000000" pitchFamily="2" charset="0"/>
                          <a:ea typeface="Roboto" panose="02000000000000000000" pitchFamily="2" charset="0"/>
                        </a:rPr>
                        <a:t>Or</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El operador </a:t>
                      </a:r>
                      <a:r>
                        <a:rPr lang="es-MX" sz="1800" b="0" dirty="0" err="1">
                          <a:solidFill>
                            <a:schemeClr val="tx1"/>
                          </a:solidFill>
                          <a:effectLst/>
                          <a:latin typeface="Roboto" panose="02000000000000000000" pitchFamily="2" charset="0"/>
                          <a:ea typeface="Roboto" panose="02000000000000000000" pitchFamily="2" charset="0"/>
                        </a:rPr>
                        <a:t>or</a:t>
                      </a:r>
                      <a:r>
                        <a:rPr lang="es-MX" sz="1800" b="0" dirty="0">
                          <a:solidFill>
                            <a:schemeClr val="tx1"/>
                          </a:solidFill>
                          <a:effectLst/>
                          <a:latin typeface="Roboto" panose="02000000000000000000" pitchFamily="2" charset="0"/>
                          <a:ea typeface="Roboto" panose="02000000000000000000" pitchFamily="2" charset="0"/>
                        </a:rPr>
                        <a:t> proporciona True si cualquiera de sus </a:t>
                      </a:r>
                      <a:r>
                        <a:rPr lang="es-MX" sz="1800" b="0" dirty="0" err="1">
                          <a:solidFill>
                            <a:schemeClr val="tx1"/>
                          </a:solidFill>
                          <a:effectLst/>
                          <a:latin typeface="Roboto" panose="02000000000000000000" pitchFamily="2" charset="0"/>
                          <a:ea typeface="Roboto" panose="02000000000000000000" pitchFamily="2" charset="0"/>
                        </a:rPr>
                        <a:t>operandos</a:t>
                      </a:r>
                      <a:r>
                        <a:rPr lang="es-MX" sz="1800" b="0" dirty="0">
                          <a:solidFill>
                            <a:schemeClr val="tx1"/>
                          </a:solidFill>
                          <a:effectLst/>
                          <a:latin typeface="Roboto" panose="02000000000000000000" pitchFamily="2" charset="0"/>
                          <a:ea typeface="Roboto" panose="02000000000000000000" pitchFamily="2" charset="0"/>
                        </a:rPr>
                        <a:t> es True, y False sólo cuando ambos </a:t>
                      </a:r>
                      <a:r>
                        <a:rPr lang="es-MX" sz="1800" b="0" dirty="0" err="1">
                          <a:solidFill>
                            <a:schemeClr val="tx1"/>
                          </a:solidFill>
                          <a:effectLst/>
                          <a:latin typeface="Roboto" panose="02000000000000000000" pitchFamily="2" charset="0"/>
                          <a:ea typeface="Roboto" panose="02000000000000000000" pitchFamily="2" charset="0"/>
                        </a:rPr>
                        <a:t>operandos</a:t>
                      </a:r>
                      <a:r>
                        <a:rPr lang="es-MX" sz="1800" b="0" dirty="0">
                          <a:solidFill>
                            <a:schemeClr val="tx1"/>
                          </a:solidFill>
                          <a:effectLst/>
                          <a:latin typeface="Roboto" panose="02000000000000000000" pitchFamily="2" charset="0"/>
                          <a:ea typeface="Roboto" panose="02000000000000000000" pitchFamily="2" charset="0"/>
                        </a:rPr>
                        <a:t> son False.</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0">
                <a:tc>
                  <a:txBody>
                    <a:bodyPr/>
                    <a:lstStyle/>
                    <a:p>
                      <a:pPr>
                        <a:lnSpc>
                          <a:spcPct val="107000"/>
                        </a:lnSpc>
                        <a:spcAft>
                          <a:spcPts val="0"/>
                        </a:spcAft>
                      </a:pPr>
                      <a:r>
                        <a:rPr lang="es-MX" sz="1800" b="0" dirty="0" err="1">
                          <a:solidFill>
                            <a:schemeClr val="tx1"/>
                          </a:solidFill>
                          <a:effectLst/>
                          <a:latin typeface="Roboto" panose="02000000000000000000" pitchFamily="2" charset="0"/>
                          <a:ea typeface="Roboto" panose="02000000000000000000" pitchFamily="2" charset="0"/>
                        </a:rPr>
                        <a:t>Not</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El operador </a:t>
                      </a:r>
                      <a:r>
                        <a:rPr lang="es-MX" sz="1800" b="0" dirty="0" err="1">
                          <a:solidFill>
                            <a:schemeClr val="tx1"/>
                          </a:solidFill>
                          <a:effectLst/>
                          <a:latin typeface="Roboto" panose="02000000000000000000" pitchFamily="2" charset="0"/>
                          <a:ea typeface="Roboto" panose="02000000000000000000" pitchFamily="2" charset="0"/>
                        </a:rPr>
                        <a:t>not</a:t>
                      </a:r>
                      <a:r>
                        <a:rPr lang="es-MX" sz="1800" b="0" dirty="0">
                          <a:solidFill>
                            <a:schemeClr val="tx1"/>
                          </a:solidFill>
                          <a:effectLst/>
                          <a:latin typeface="Roboto" panose="02000000000000000000" pitchFamily="2" charset="0"/>
                          <a:ea typeface="Roboto" panose="02000000000000000000" pitchFamily="2" charset="0"/>
                        </a:rPr>
                        <a:t> es unario, y proporciona el valor Trae si su operando es False y viceversa.</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41246003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Operadores lógicos.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8</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A continuación se  muestra una serie de ejemplos básico del uso de operadores </a:t>
            </a:r>
            <a:r>
              <a:rPr lang="es-MX" dirty="0" smtClean="0">
                <a:latin typeface="Roboto" panose="02000000000000000000" pitchFamily="2" charset="0"/>
                <a:ea typeface="Roboto" panose="02000000000000000000" pitchFamily="2" charset="0"/>
              </a:rPr>
              <a:t>lógicos.</a:t>
            </a:r>
          </a:p>
        </p:txBody>
      </p:sp>
      <p:pic>
        <p:nvPicPr>
          <p:cNvPr id="11" name="Imagen 10"/>
          <p:cNvPicPr>
            <a:picLocks noChangeAspect="1"/>
          </p:cNvPicPr>
          <p:nvPr/>
        </p:nvPicPr>
        <p:blipFill rotWithShape="1">
          <a:blip r:embed="rId4"/>
          <a:srcRect b="54878"/>
          <a:stretch/>
        </p:blipFill>
        <p:spPr bwMode="auto">
          <a:xfrm>
            <a:off x="329737" y="2572336"/>
            <a:ext cx="11497674" cy="2088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675395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Operadores de comparación.</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9</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646331"/>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Los operadores de comparación se usan para evaluar expresiones que solo pueden tener 2 resultados, estos resultados son verdadero o falso (true o false) y son los siguientes.</a:t>
            </a:r>
            <a:endParaRPr lang="es-MX" dirty="0" smtClean="0">
              <a:latin typeface="Roboto" panose="02000000000000000000" pitchFamily="2" charset="0"/>
              <a:ea typeface="Roboto" panose="02000000000000000000" pitchFamily="2" charset="0"/>
            </a:endParaRPr>
          </a:p>
        </p:txBody>
      </p:sp>
      <p:graphicFrame>
        <p:nvGraphicFramePr>
          <p:cNvPr id="3" name="Tabla 2"/>
          <p:cNvGraphicFramePr>
            <a:graphicFrameLocks noGrp="1"/>
          </p:cNvGraphicFramePr>
          <p:nvPr>
            <p:extLst>
              <p:ext uri="{D42A27DB-BD31-4B8C-83A1-F6EECF244321}">
                <p14:modId xmlns:p14="http://schemas.microsoft.com/office/powerpoint/2010/main" val="3291510623"/>
              </p:ext>
            </p:extLst>
          </p:nvPr>
        </p:nvGraphicFramePr>
        <p:xfrm>
          <a:off x="1665668" y="2729492"/>
          <a:ext cx="8860664" cy="2054479"/>
        </p:xfrm>
        <a:graphic>
          <a:graphicData uri="http://schemas.openxmlformats.org/drawingml/2006/table">
            <a:tbl>
              <a:tblPr firstRow="1" firstCol="1" bandRow="1">
                <a:tableStyleId>{5C22544A-7EE6-4342-B048-85BDC9FD1C3A}</a:tableStyleId>
              </a:tblPr>
              <a:tblGrid>
                <a:gridCol w="1389121"/>
                <a:gridCol w="7471543"/>
              </a:tblGrid>
              <a:tr h="0">
                <a:tc>
                  <a:txBody>
                    <a:bodyPr/>
                    <a:lstStyle/>
                    <a:p>
                      <a:pPr algn="ctr">
                        <a:lnSpc>
                          <a:spcPct val="107000"/>
                        </a:lnSpc>
                        <a:spcAft>
                          <a:spcPts val="0"/>
                        </a:spcAft>
                      </a:pPr>
                      <a:r>
                        <a:rPr lang="es-MX" sz="1800" b="0" dirty="0">
                          <a:effectLst/>
                          <a:latin typeface="Roboto" panose="02000000000000000000" pitchFamily="2" charset="0"/>
                          <a:ea typeface="Roboto" panose="02000000000000000000" pitchFamily="2" charset="0"/>
                        </a:rPr>
                        <a:t>Operador</a:t>
                      </a:r>
                      <a:endParaRPr lang="es-MX" sz="1800" b="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37373B"/>
                    </a:solidFill>
                  </a:tcPr>
                </a:tc>
                <a:tc>
                  <a:txBody>
                    <a:bodyPr/>
                    <a:lstStyle/>
                    <a:p>
                      <a:pPr algn="ctr">
                        <a:lnSpc>
                          <a:spcPct val="107000"/>
                        </a:lnSpc>
                        <a:spcAft>
                          <a:spcPts val="0"/>
                        </a:spcAft>
                      </a:pPr>
                      <a:r>
                        <a:rPr lang="es-MX" sz="1800" b="0" dirty="0">
                          <a:effectLst/>
                          <a:latin typeface="Roboto" panose="02000000000000000000" pitchFamily="2" charset="0"/>
                          <a:ea typeface="Roboto" panose="02000000000000000000" pitchFamily="2" charset="0"/>
                        </a:rPr>
                        <a:t>Descripción</a:t>
                      </a:r>
                      <a:endParaRPr lang="es-MX" sz="1800" b="0" dirty="0">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37373B"/>
                    </a:solidFill>
                  </a:tcPr>
                </a:tc>
              </a:tr>
              <a:tr h="0">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Verdadero si 2 variables son iguales</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Verdadero si 2 variables son diferentes</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&gt; </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Verdadero si el operador a la izquierda es mayor que el de la derecha</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&lt; </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Verdadero si el operador a la izquierda es menor que el de la derecha</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&gt;=</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Verdadero si el operador a la izquierda es mayor o igual al de la derecha</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0">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&lt;=</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7000"/>
                        </a:lnSpc>
                        <a:spcAft>
                          <a:spcPts val="0"/>
                        </a:spcAft>
                      </a:pPr>
                      <a:r>
                        <a:rPr lang="es-MX" sz="1800" b="0" dirty="0">
                          <a:solidFill>
                            <a:schemeClr val="tx1"/>
                          </a:solidFill>
                          <a:effectLst/>
                          <a:latin typeface="Roboto" panose="02000000000000000000" pitchFamily="2" charset="0"/>
                          <a:ea typeface="Roboto" panose="02000000000000000000" pitchFamily="2" charset="0"/>
                        </a:rPr>
                        <a:t>Verdadero si el operador a la izquierda es menor o igual al de la derecha</a:t>
                      </a:r>
                      <a:endParaRPr lang="es-MX" sz="1800" b="0" dirty="0">
                        <a:solidFill>
                          <a:schemeClr val="tx1"/>
                        </a:solidFill>
                        <a:effectLst/>
                        <a:latin typeface="Roboto" panose="02000000000000000000" pitchFamily="2" charset="0"/>
                        <a:ea typeface="Roboto" panose="02000000000000000000" pitchFamily="2"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10050000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smtClean="0">
                <a:solidFill>
                  <a:srgbClr val="C51A40"/>
                </a:solidFill>
                <a:latin typeface="Roboto Slab" pitchFamily="2" charset="0"/>
                <a:ea typeface="Roboto Slab" pitchFamily="2" charset="0"/>
              </a:rPr>
              <a:t>Operadores de </a:t>
            </a:r>
            <a:r>
              <a:rPr lang="es-MX" sz="3200" dirty="0">
                <a:solidFill>
                  <a:srgbClr val="C51A40"/>
                </a:solidFill>
                <a:latin typeface="Roboto Slab" pitchFamily="2" charset="0"/>
                <a:ea typeface="Roboto Slab" pitchFamily="2" charset="0"/>
              </a:rPr>
              <a:t>comparación.</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10</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A continuación se  muestra una serie de ejemplos básico del uso de operadores </a:t>
            </a:r>
            <a:r>
              <a:rPr lang="es-MX" dirty="0" smtClean="0">
                <a:latin typeface="Roboto" panose="02000000000000000000" pitchFamily="2" charset="0"/>
                <a:ea typeface="Roboto" panose="02000000000000000000" pitchFamily="2" charset="0"/>
              </a:rPr>
              <a:t>de </a:t>
            </a:r>
            <a:r>
              <a:rPr lang="es-MX" dirty="0" err="1" smtClean="0">
                <a:latin typeface="Roboto" panose="02000000000000000000" pitchFamily="2" charset="0"/>
                <a:ea typeface="Roboto" panose="02000000000000000000" pitchFamily="2" charset="0"/>
              </a:rPr>
              <a:t>comparacion</a:t>
            </a:r>
            <a:r>
              <a:rPr lang="es-MX" dirty="0" smtClean="0">
                <a:latin typeface="Roboto" panose="02000000000000000000" pitchFamily="2" charset="0"/>
                <a:ea typeface="Roboto" panose="02000000000000000000" pitchFamily="2" charset="0"/>
              </a:rPr>
              <a:t>.</a:t>
            </a:r>
          </a:p>
        </p:txBody>
      </p:sp>
      <p:pic>
        <p:nvPicPr>
          <p:cNvPr id="14" name="Imagen 13"/>
          <p:cNvPicPr>
            <a:picLocks noChangeAspect="1"/>
          </p:cNvPicPr>
          <p:nvPr/>
        </p:nvPicPr>
        <p:blipFill rotWithShape="1">
          <a:blip r:embed="rId4"/>
          <a:srcRect b="39635"/>
          <a:stretch/>
        </p:blipFill>
        <p:spPr bwMode="auto">
          <a:xfrm>
            <a:off x="1234114" y="2266611"/>
            <a:ext cx="9705131" cy="3492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914935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Cadenas de Caracteres.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11</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646331"/>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Las cadenas de caracteres en Python pueden ser representadas de dos formas distintas con comillas dobles (“…”) o comillas simples (‘…’) el carácter \ sirve para imprimir las comillas..</a:t>
            </a:r>
            <a:endParaRPr lang="es-MX" dirty="0" smtClean="0">
              <a:latin typeface="Roboto" panose="02000000000000000000" pitchFamily="2" charset="0"/>
              <a:ea typeface="Roboto" panose="02000000000000000000" pitchFamily="2" charset="0"/>
            </a:endParaRPr>
          </a:p>
        </p:txBody>
      </p:sp>
      <p:pic>
        <p:nvPicPr>
          <p:cNvPr id="11" name="Imagen 10"/>
          <p:cNvPicPr>
            <a:picLocks noChangeAspect="1"/>
          </p:cNvPicPr>
          <p:nvPr/>
        </p:nvPicPr>
        <p:blipFill rotWithShape="1">
          <a:blip r:embed="rId4"/>
          <a:srcRect b="54878"/>
          <a:stretch/>
        </p:blipFill>
        <p:spPr bwMode="auto">
          <a:xfrm>
            <a:off x="636317" y="2702513"/>
            <a:ext cx="10902966" cy="198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770763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Cadenas de Caracteres.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12</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646331"/>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Para concatenar cadenas se utiliza el operador +, y para ser repetidas se utiliza el operador *, dos cadenas literales (las que están encerradas entre comillas), se pueden concatenar solo estando una al lado de la otra</a:t>
            </a:r>
            <a:endParaRPr lang="es-MX" dirty="0" smtClean="0">
              <a:latin typeface="Roboto" panose="02000000000000000000" pitchFamily="2" charset="0"/>
              <a:ea typeface="Roboto" panose="02000000000000000000" pitchFamily="2" charset="0"/>
            </a:endParaRPr>
          </a:p>
        </p:txBody>
      </p:sp>
      <p:pic>
        <p:nvPicPr>
          <p:cNvPr id="14" name="Imagen 13"/>
          <p:cNvPicPr>
            <a:picLocks noChangeAspect="1"/>
          </p:cNvPicPr>
          <p:nvPr/>
        </p:nvPicPr>
        <p:blipFill rotWithShape="1">
          <a:blip r:embed="rId4"/>
          <a:srcRect b="33792"/>
          <a:stretch/>
        </p:blipFill>
        <p:spPr bwMode="auto">
          <a:xfrm>
            <a:off x="826979" y="2622453"/>
            <a:ext cx="10538042" cy="2808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643570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Listas.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13</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1477328"/>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En Python existen tipos de datos compuestos, usados para agrupar valores, uno de ellos son las listas, </a:t>
            </a:r>
            <a:endParaRPr lang="es-MX" dirty="0" smtClean="0">
              <a:latin typeface="Roboto" panose="02000000000000000000" pitchFamily="2" charset="0"/>
              <a:ea typeface="Roboto" panose="02000000000000000000" pitchFamily="2" charset="0"/>
            </a:endParaRPr>
          </a:p>
          <a:p>
            <a:pPr marL="285750" indent="-285750" algn="just">
              <a:buFont typeface="Arial" panose="020B0604020202020204" pitchFamily="34" charset="0"/>
              <a:buChar char="•"/>
            </a:pPr>
            <a:r>
              <a:rPr lang="es-MX" dirty="0">
                <a:latin typeface="Roboto" panose="02000000000000000000" pitchFamily="2" charset="0"/>
                <a:ea typeface="Roboto" panose="02000000000000000000" pitchFamily="2" charset="0"/>
              </a:rPr>
              <a:t>U</a:t>
            </a:r>
            <a:r>
              <a:rPr lang="es-MX" dirty="0" smtClean="0">
                <a:latin typeface="Roboto" panose="02000000000000000000" pitchFamily="2" charset="0"/>
                <a:ea typeface="Roboto" panose="02000000000000000000" pitchFamily="2" charset="0"/>
              </a:rPr>
              <a:t>na </a:t>
            </a:r>
            <a:r>
              <a:rPr lang="es-MX" dirty="0">
                <a:latin typeface="Roboto" panose="02000000000000000000" pitchFamily="2" charset="0"/>
                <a:ea typeface="Roboto" panose="02000000000000000000" pitchFamily="2" charset="0"/>
              </a:rPr>
              <a:t>serie de valores separados por coma y se encuentran entre corchetes, </a:t>
            </a:r>
            <a:endParaRPr lang="es-MX" dirty="0" smtClean="0">
              <a:latin typeface="Roboto" panose="02000000000000000000" pitchFamily="2" charset="0"/>
              <a:ea typeface="Roboto" panose="02000000000000000000" pitchFamily="2" charset="0"/>
            </a:endParaRP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Por </a:t>
            </a:r>
            <a:r>
              <a:rPr lang="es-MX" dirty="0">
                <a:latin typeface="Roboto" panose="02000000000000000000" pitchFamily="2" charset="0"/>
                <a:ea typeface="Roboto" panose="02000000000000000000" pitchFamily="2" charset="0"/>
              </a:rPr>
              <a:t>lo general son del mismo tipo pero pueden existir listas con ítems de diferentes tipos.</a:t>
            </a:r>
          </a:p>
          <a:p>
            <a:pPr marL="285750" indent="-285750" algn="just">
              <a:buFont typeface="Arial" panose="020B0604020202020204" pitchFamily="34" charset="0"/>
              <a:buChar char="•"/>
            </a:pPr>
            <a:r>
              <a:rPr lang="es-MX" dirty="0">
                <a:latin typeface="Roboto" panose="02000000000000000000" pitchFamily="2" charset="0"/>
                <a:ea typeface="Roboto" panose="02000000000000000000" pitchFamily="2" charset="0"/>
              </a:rPr>
              <a:t>Se puede acceder a un elemento </a:t>
            </a:r>
            <a:r>
              <a:rPr lang="es-MX" dirty="0" smtClean="0">
                <a:latin typeface="Roboto" panose="02000000000000000000" pitchFamily="2" charset="0"/>
                <a:ea typeface="Roboto" panose="02000000000000000000" pitchFamily="2" charset="0"/>
              </a:rPr>
              <a:t>especifico mediante </a:t>
            </a:r>
            <a:r>
              <a:rPr lang="es-MX" dirty="0">
                <a:latin typeface="Roboto" panose="02000000000000000000" pitchFamily="2" charset="0"/>
                <a:ea typeface="Roboto" panose="02000000000000000000" pitchFamily="2" charset="0"/>
              </a:rPr>
              <a:t>su índice lista[</a:t>
            </a:r>
            <a:r>
              <a:rPr lang="es-MX" dirty="0" err="1">
                <a:latin typeface="Roboto" panose="02000000000000000000" pitchFamily="2" charset="0"/>
                <a:ea typeface="Roboto" panose="02000000000000000000" pitchFamily="2" charset="0"/>
              </a:rPr>
              <a:t>indice</a:t>
            </a:r>
            <a:r>
              <a:rPr lang="es-MX" dirty="0">
                <a:latin typeface="Roboto" panose="02000000000000000000" pitchFamily="2" charset="0"/>
                <a:ea typeface="Roboto" panose="02000000000000000000" pitchFamily="2" charset="0"/>
              </a:rPr>
              <a:t>] </a:t>
            </a:r>
            <a:endParaRPr lang="es-MX" dirty="0" smtClean="0">
              <a:latin typeface="Roboto" panose="02000000000000000000" pitchFamily="2" charset="0"/>
              <a:ea typeface="Roboto" panose="02000000000000000000" pitchFamily="2" charset="0"/>
            </a:endParaRP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U obtener </a:t>
            </a:r>
            <a:r>
              <a:rPr lang="es-MX" dirty="0">
                <a:latin typeface="Roboto" panose="02000000000000000000" pitchFamily="2" charset="0"/>
                <a:ea typeface="Roboto" panose="02000000000000000000" pitchFamily="2" charset="0"/>
              </a:rPr>
              <a:t>un conjunto de elementos de la lista indicando la posición inicial y final separada por : lista[3:5</a:t>
            </a:r>
            <a:r>
              <a:rPr lang="es-MX" dirty="0" smtClean="0">
                <a:latin typeface="Roboto" panose="02000000000000000000" pitchFamily="2" charset="0"/>
                <a:ea typeface="Roboto" panose="02000000000000000000" pitchFamily="2" charset="0"/>
              </a:rPr>
              <a:t>].</a:t>
            </a:r>
            <a:endParaRPr lang="es-MX" dirty="0">
              <a:latin typeface="Roboto" panose="02000000000000000000" pitchFamily="2" charset="0"/>
              <a:ea typeface="Roboto" panose="02000000000000000000" pitchFamily="2" charset="0"/>
            </a:endParaRPr>
          </a:p>
        </p:txBody>
      </p:sp>
      <p:pic>
        <p:nvPicPr>
          <p:cNvPr id="11" name="Imagen 10"/>
          <p:cNvPicPr>
            <a:picLocks noChangeAspect="1"/>
          </p:cNvPicPr>
          <p:nvPr/>
        </p:nvPicPr>
        <p:blipFill rotWithShape="1">
          <a:blip r:embed="rId4"/>
          <a:srcRect b="41383"/>
          <a:stretch/>
        </p:blipFill>
        <p:spPr bwMode="auto">
          <a:xfrm>
            <a:off x="974621" y="3282953"/>
            <a:ext cx="10224117" cy="2412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01045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5278"/>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Listas.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14</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1477328"/>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Otras operaciones que se pueden realizar sobre las listas </a:t>
            </a:r>
            <a:r>
              <a:rPr lang="es-MX" dirty="0" smtClean="0">
                <a:latin typeface="Roboto" panose="02000000000000000000" pitchFamily="2" charset="0"/>
                <a:ea typeface="Roboto" panose="02000000000000000000" pitchFamily="2" charset="0"/>
              </a:rPr>
              <a:t>son: </a:t>
            </a: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Concatenación  </a:t>
            </a:r>
            <a:r>
              <a:rPr lang="es-MX" dirty="0">
                <a:latin typeface="Roboto" panose="02000000000000000000" pitchFamily="2" charset="0"/>
                <a:ea typeface="Roboto" panose="02000000000000000000" pitchFamily="2" charset="0"/>
              </a:rPr>
              <a:t>usando el operado +, </a:t>
            </a:r>
            <a:endParaRPr lang="es-MX" dirty="0" smtClean="0">
              <a:latin typeface="Roboto" panose="02000000000000000000" pitchFamily="2" charset="0"/>
              <a:ea typeface="Roboto" panose="02000000000000000000" pitchFamily="2" charset="0"/>
            </a:endParaRP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Reemplazar </a:t>
            </a:r>
            <a:r>
              <a:rPr lang="es-MX" dirty="0">
                <a:latin typeface="Roboto" panose="02000000000000000000" pitchFamily="2" charset="0"/>
                <a:ea typeface="Roboto" panose="02000000000000000000" pitchFamily="2" charset="0"/>
              </a:rPr>
              <a:t>un valor en específico lista[3]=valor,   </a:t>
            </a:r>
            <a:endParaRPr lang="es-MX" dirty="0" smtClean="0">
              <a:latin typeface="Roboto" panose="02000000000000000000" pitchFamily="2" charset="0"/>
              <a:ea typeface="Roboto" panose="02000000000000000000" pitchFamily="2" charset="0"/>
            </a:endParaRP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Agregando </a:t>
            </a:r>
            <a:r>
              <a:rPr lang="es-MX" dirty="0">
                <a:latin typeface="Roboto" panose="02000000000000000000" pitchFamily="2" charset="0"/>
                <a:ea typeface="Roboto" panose="02000000000000000000" pitchFamily="2" charset="0"/>
              </a:rPr>
              <a:t>valores con el método </a:t>
            </a:r>
            <a:r>
              <a:rPr lang="es-MX" dirty="0" err="1">
                <a:latin typeface="Roboto" panose="02000000000000000000" pitchFamily="2" charset="0"/>
                <a:ea typeface="Roboto" panose="02000000000000000000" pitchFamily="2" charset="0"/>
              </a:rPr>
              <a:t>append</a:t>
            </a:r>
            <a:r>
              <a:rPr lang="es-MX" dirty="0">
                <a:latin typeface="Roboto" panose="02000000000000000000" pitchFamily="2" charset="0"/>
                <a:ea typeface="Roboto" panose="02000000000000000000" pitchFamily="2" charset="0"/>
              </a:rPr>
              <a:t>(), </a:t>
            </a:r>
            <a:endParaRPr lang="es-MX" dirty="0" smtClean="0">
              <a:latin typeface="Roboto" panose="02000000000000000000" pitchFamily="2" charset="0"/>
              <a:ea typeface="Roboto" panose="02000000000000000000" pitchFamily="2" charset="0"/>
            </a:endParaRP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Vaciar </a:t>
            </a:r>
            <a:r>
              <a:rPr lang="es-MX" dirty="0">
                <a:latin typeface="Roboto" panose="02000000000000000000" pitchFamily="2" charset="0"/>
                <a:ea typeface="Roboto" panose="02000000000000000000" pitchFamily="2" charset="0"/>
              </a:rPr>
              <a:t>la lista lista[:]=[], entre otras.</a:t>
            </a:r>
          </a:p>
        </p:txBody>
      </p:sp>
      <p:pic>
        <p:nvPicPr>
          <p:cNvPr id="14" name="Imagen 13"/>
          <p:cNvPicPr>
            <a:picLocks noChangeAspect="1"/>
          </p:cNvPicPr>
          <p:nvPr/>
        </p:nvPicPr>
        <p:blipFill rotWithShape="1">
          <a:blip r:embed="rId4"/>
          <a:srcRect b="39275"/>
          <a:stretch/>
        </p:blipFill>
        <p:spPr bwMode="auto">
          <a:xfrm>
            <a:off x="1081056" y="3237131"/>
            <a:ext cx="10016400" cy="2448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994060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Sentencia </a:t>
            </a:r>
            <a:r>
              <a:rPr lang="es-MX" sz="3200" dirty="0" err="1">
                <a:solidFill>
                  <a:srgbClr val="C51A40"/>
                </a:solidFill>
                <a:latin typeface="Roboto Slab" pitchFamily="2" charset="0"/>
                <a:ea typeface="Roboto Slab" pitchFamily="2" charset="0"/>
              </a:rPr>
              <a:t>if</a:t>
            </a:r>
            <a:r>
              <a:rPr lang="es-MX" sz="3200" dirty="0">
                <a:solidFill>
                  <a:srgbClr val="C51A40"/>
                </a:solidFill>
                <a:latin typeface="Roboto Slab" pitchFamily="2" charset="0"/>
                <a:ea typeface="Roboto Slab" pitchFamily="2" charset="0"/>
              </a:rPr>
              <a:t>.</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15</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Ejecuta una serie de instrucciones de dependiendo si cierta condición se cumple o no.</a:t>
            </a:r>
          </a:p>
        </p:txBody>
      </p:sp>
      <p:pic>
        <p:nvPicPr>
          <p:cNvPr id="11" name="Imagen 10"/>
          <p:cNvPicPr>
            <a:picLocks noChangeAspect="1"/>
          </p:cNvPicPr>
          <p:nvPr/>
        </p:nvPicPr>
        <p:blipFill rotWithShape="1">
          <a:blip r:embed="rId4"/>
          <a:srcRect b="41471"/>
          <a:stretch/>
        </p:blipFill>
        <p:spPr bwMode="auto">
          <a:xfrm>
            <a:off x="657235" y="2274843"/>
            <a:ext cx="10877530" cy="288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436253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Sentencia </a:t>
            </a:r>
            <a:r>
              <a:rPr lang="es-MX" sz="3200" dirty="0" err="1">
                <a:solidFill>
                  <a:srgbClr val="C51A40"/>
                </a:solidFill>
                <a:latin typeface="Roboto Slab" pitchFamily="2" charset="0"/>
                <a:ea typeface="Roboto Slab" pitchFamily="2" charset="0"/>
              </a:rPr>
              <a:t>for</a:t>
            </a:r>
            <a:r>
              <a:rPr lang="es-MX" sz="3200" dirty="0" smtClean="0">
                <a:solidFill>
                  <a:srgbClr val="C51A40"/>
                </a:solidFill>
                <a:latin typeface="Roboto Slab" pitchFamily="2" charset="0"/>
                <a:ea typeface="Roboto Slab" pitchFamily="2" charset="0"/>
              </a:rPr>
              <a:t>.</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16</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5" name="CuadroTexto 4"/>
          <p:cNvSpPr txBox="1"/>
          <p:nvPr/>
        </p:nvSpPr>
        <p:spPr>
          <a:xfrm>
            <a:off x="273465" y="1738648"/>
            <a:ext cx="11781160" cy="923330"/>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La sentencia </a:t>
            </a:r>
            <a:r>
              <a:rPr lang="es-MX" dirty="0" err="1">
                <a:latin typeface="Roboto" panose="02000000000000000000" pitchFamily="2" charset="0"/>
                <a:ea typeface="Roboto" panose="02000000000000000000" pitchFamily="2" charset="0"/>
              </a:rPr>
              <a:t>for</a:t>
            </a:r>
            <a:r>
              <a:rPr lang="es-MX" dirty="0">
                <a:latin typeface="Roboto" panose="02000000000000000000" pitchFamily="2" charset="0"/>
                <a:ea typeface="Roboto" panose="02000000000000000000" pitchFamily="2" charset="0"/>
              </a:rPr>
              <a:t> permite iterar sobre una progresión aritmética de números, permite definir al usuario tanto el paso de la iteración como la condición de fin, también permite iterar sobre cualquier secuencia (lista, cadenas de caracteres).</a:t>
            </a:r>
          </a:p>
        </p:txBody>
      </p:sp>
      <p:pic>
        <p:nvPicPr>
          <p:cNvPr id="14" name="Imagen 13"/>
          <p:cNvPicPr>
            <a:picLocks noChangeAspect="1"/>
          </p:cNvPicPr>
          <p:nvPr/>
        </p:nvPicPr>
        <p:blipFill rotWithShape="1">
          <a:blip r:embed="rId4"/>
          <a:srcRect b="45178"/>
          <a:stretch/>
        </p:blipFill>
        <p:spPr bwMode="auto">
          <a:xfrm>
            <a:off x="793201" y="2901198"/>
            <a:ext cx="10605598" cy="234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233319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Sentencia </a:t>
            </a:r>
            <a:r>
              <a:rPr lang="es-MX" sz="3200" dirty="0" err="1">
                <a:solidFill>
                  <a:srgbClr val="C51A40"/>
                </a:solidFill>
                <a:latin typeface="Roboto Slab" pitchFamily="2" charset="0"/>
                <a:ea typeface="Roboto Slab" pitchFamily="2" charset="0"/>
              </a:rPr>
              <a:t>for</a:t>
            </a:r>
            <a:r>
              <a:rPr lang="es-MX" sz="3200" dirty="0" smtClean="0">
                <a:solidFill>
                  <a:srgbClr val="C51A40"/>
                </a:solidFill>
                <a:latin typeface="Roboto Slab" pitchFamily="2" charset="0"/>
                <a:ea typeface="Roboto Slab" pitchFamily="2" charset="0"/>
              </a:rPr>
              <a:t>.</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17</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pic>
        <p:nvPicPr>
          <p:cNvPr id="11" name="Imagen 10"/>
          <p:cNvPicPr>
            <a:picLocks noChangeAspect="1"/>
          </p:cNvPicPr>
          <p:nvPr/>
        </p:nvPicPr>
        <p:blipFill rotWithShape="1">
          <a:blip r:embed="rId4"/>
          <a:srcRect b="55721"/>
          <a:stretch/>
        </p:blipFill>
        <p:spPr bwMode="auto">
          <a:xfrm>
            <a:off x="428666" y="2348241"/>
            <a:ext cx="11110617" cy="1980000"/>
          </a:xfrm>
          <a:prstGeom prst="rect">
            <a:avLst/>
          </a:prstGeom>
          <a:ln>
            <a:noFill/>
          </a:ln>
          <a:extLst>
            <a:ext uri="{53640926-AAD7-44D8-BBD7-CCE9431645EC}">
              <a14:shadowObscured xmlns:a14="http://schemas.microsoft.com/office/drawing/2010/main"/>
            </a:ext>
          </a:extLst>
        </p:spPr>
      </p:pic>
      <p:sp>
        <p:nvSpPr>
          <p:cNvPr id="15" name="CuadroTexto 1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A continuación se  muestra una serie de ejemplos básico del </a:t>
            </a:r>
            <a:r>
              <a:rPr lang="es-MX" dirty="0" smtClean="0">
                <a:latin typeface="Roboto" panose="02000000000000000000" pitchFamily="2" charset="0"/>
                <a:ea typeface="Roboto" panose="02000000000000000000" pitchFamily="2" charset="0"/>
              </a:rPr>
              <a:t>uso de la sentencia </a:t>
            </a:r>
            <a:r>
              <a:rPr lang="es-MX" dirty="0" err="1" smtClean="0">
                <a:latin typeface="Roboto" panose="02000000000000000000" pitchFamily="2" charset="0"/>
                <a:ea typeface="Roboto" panose="02000000000000000000" pitchFamily="2" charset="0"/>
              </a:rPr>
              <a:t>for</a:t>
            </a:r>
            <a:r>
              <a:rPr lang="es-MX" dirty="0" smtClean="0">
                <a:latin typeface="Roboto" panose="02000000000000000000" pitchFamily="2" charset="0"/>
                <a:ea typeface="Roboto" panose="02000000000000000000" pitchFamily="2" charset="0"/>
              </a:rPr>
              <a:t>.</a:t>
            </a:r>
          </a:p>
        </p:txBody>
      </p:sp>
    </p:spTree>
    <p:extLst>
      <p:ext uri="{BB962C8B-B14F-4D97-AF65-F5344CB8AC3E}">
        <p14:creationId xmlns:p14="http://schemas.microsoft.com/office/powerpoint/2010/main" val="23241236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Sentencia </a:t>
            </a:r>
            <a:r>
              <a:rPr lang="es-MX" sz="3200" dirty="0" err="1">
                <a:solidFill>
                  <a:srgbClr val="C51A40"/>
                </a:solidFill>
                <a:latin typeface="Roboto Slab" pitchFamily="2" charset="0"/>
                <a:ea typeface="Roboto Slab" pitchFamily="2" charset="0"/>
              </a:rPr>
              <a:t>for</a:t>
            </a:r>
            <a:r>
              <a:rPr lang="es-MX" sz="3200" dirty="0" smtClean="0">
                <a:solidFill>
                  <a:srgbClr val="C51A40"/>
                </a:solidFill>
                <a:latin typeface="Roboto Slab" pitchFamily="2" charset="0"/>
                <a:ea typeface="Roboto Slab" pitchFamily="2" charset="0"/>
              </a:rPr>
              <a:t>.</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18</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A continuación se  muestra una serie de ejemplos básico del </a:t>
            </a:r>
            <a:r>
              <a:rPr lang="es-MX" dirty="0" smtClean="0">
                <a:latin typeface="Roboto" panose="02000000000000000000" pitchFamily="2" charset="0"/>
                <a:ea typeface="Roboto" panose="02000000000000000000" pitchFamily="2" charset="0"/>
              </a:rPr>
              <a:t>uso de la sentencia </a:t>
            </a:r>
            <a:r>
              <a:rPr lang="es-MX" dirty="0" err="1" smtClean="0">
                <a:latin typeface="Roboto" panose="02000000000000000000" pitchFamily="2" charset="0"/>
                <a:ea typeface="Roboto" panose="02000000000000000000" pitchFamily="2" charset="0"/>
              </a:rPr>
              <a:t>for</a:t>
            </a:r>
            <a:r>
              <a:rPr lang="es-MX" dirty="0" smtClean="0">
                <a:latin typeface="Roboto" panose="02000000000000000000" pitchFamily="2" charset="0"/>
                <a:ea typeface="Roboto" panose="02000000000000000000" pitchFamily="2" charset="0"/>
              </a:rPr>
              <a:t>.</a:t>
            </a:r>
          </a:p>
        </p:txBody>
      </p:sp>
      <p:pic>
        <p:nvPicPr>
          <p:cNvPr id="14" name="Imagen 13"/>
          <p:cNvPicPr>
            <a:picLocks noChangeAspect="1"/>
          </p:cNvPicPr>
          <p:nvPr/>
        </p:nvPicPr>
        <p:blipFill rotWithShape="1">
          <a:blip r:embed="rId4"/>
          <a:srcRect b="29154"/>
          <a:stretch/>
        </p:blipFill>
        <p:spPr bwMode="auto">
          <a:xfrm>
            <a:off x="856331" y="2414297"/>
            <a:ext cx="10479337" cy="2988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82275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Sentencia </a:t>
            </a:r>
            <a:r>
              <a:rPr lang="es-MX" sz="3200" dirty="0" err="1">
                <a:solidFill>
                  <a:srgbClr val="C51A40"/>
                </a:solidFill>
                <a:latin typeface="Roboto Slab" pitchFamily="2" charset="0"/>
                <a:ea typeface="Roboto Slab" pitchFamily="2" charset="0"/>
              </a:rPr>
              <a:t>while</a:t>
            </a:r>
            <a:r>
              <a:rPr lang="es-MX" sz="3200" dirty="0">
                <a:solidFill>
                  <a:srgbClr val="C51A40"/>
                </a:solidFill>
                <a:latin typeface="Roboto Slab" pitchFamily="2" charset="0"/>
                <a:ea typeface="Roboto Slab" pitchFamily="2" charset="0"/>
              </a:rPr>
              <a:t>.</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19</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Esta sentencia repite una serie de instrucciones mientras se cumple una condición determinada.</a:t>
            </a:r>
            <a:endParaRPr lang="es-MX" dirty="0" smtClean="0">
              <a:latin typeface="Roboto" panose="02000000000000000000" pitchFamily="2" charset="0"/>
              <a:ea typeface="Roboto" panose="02000000000000000000" pitchFamily="2" charset="0"/>
            </a:endParaRPr>
          </a:p>
        </p:txBody>
      </p:sp>
      <p:pic>
        <p:nvPicPr>
          <p:cNvPr id="11" name="Imagen 10"/>
          <p:cNvPicPr>
            <a:picLocks noChangeAspect="1"/>
          </p:cNvPicPr>
          <p:nvPr/>
        </p:nvPicPr>
        <p:blipFill rotWithShape="1">
          <a:blip r:embed="rId4"/>
          <a:srcRect b="49817"/>
          <a:stretch/>
        </p:blipFill>
        <p:spPr bwMode="auto">
          <a:xfrm>
            <a:off x="748644" y="2532217"/>
            <a:ext cx="10694712" cy="216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969603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Sentencias break y </a:t>
            </a:r>
            <a:r>
              <a:rPr lang="es-MX" sz="3200" dirty="0" err="1">
                <a:solidFill>
                  <a:srgbClr val="C51A40"/>
                </a:solidFill>
                <a:latin typeface="Roboto Slab" pitchFamily="2" charset="0"/>
                <a:ea typeface="Roboto Slab" pitchFamily="2" charset="0"/>
              </a:rPr>
              <a:t>continue</a:t>
            </a:r>
            <a:r>
              <a:rPr lang="es-MX" sz="3200" dirty="0" smtClean="0">
                <a:solidFill>
                  <a:srgbClr val="C51A40"/>
                </a:solidFill>
                <a:latin typeface="Roboto Slab" pitchFamily="2" charset="0"/>
                <a:ea typeface="Roboto Slab" pitchFamily="2" charset="0"/>
              </a:rPr>
              <a:t>.</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20</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646331"/>
          </a:xfrm>
          <a:prstGeom prst="rect">
            <a:avLst/>
          </a:prstGeom>
          <a:noFill/>
        </p:spPr>
        <p:txBody>
          <a:bodyPr wrap="square" rtlCol="0">
            <a:spAutoFit/>
          </a:bodyPr>
          <a:lstStyle/>
          <a:p>
            <a:pPr algn="just"/>
            <a:r>
              <a:rPr lang="es-MX">
                <a:latin typeface="Roboto" panose="02000000000000000000" pitchFamily="2" charset="0"/>
                <a:ea typeface="Roboto" panose="02000000000000000000" pitchFamily="2" charset="0"/>
              </a:rPr>
              <a:t>Break se utiliza para salir de un ciclo for o un ciclo while, mientras que continue se utiliza para salir del bloque actual y volver al for o while.</a:t>
            </a:r>
            <a:endParaRPr lang="es-MX" dirty="0" smtClean="0">
              <a:latin typeface="Roboto" panose="02000000000000000000" pitchFamily="2" charset="0"/>
              <a:ea typeface="Roboto" panose="02000000000000000000" pitchFamily="2" charset="0"/>
            </a:endParaRPr>
          </a:p>
        </p:txBody>
      </p:sp>
      <p:pic>
        <p:nvPicPr>
          <p:cNvPr id="14" name="Imagen 13"/>
          <p:cNvPicPr>
            <a:picLocks noChangeAspect="1"/>
          </p:cNvPicPr>
          <p:nvPr/>
        </p:nvPicPr>
        <p:blipFill rotWithShape="1">
          <a:blip r:embed="rId4"/>
          <a:srcRect b="14029"/>
          <a:stretch/>
        </p:blipFill>
        <p:spPr bwMode="auto">
          <a:xfrm>
            <a:off x="1836006" y="2449374"/>
            <a:ext cx="8519987" cy="3456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450274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Sentencia </a:t>
            </a:r>
            <a:r>
              <a:rPr lang="es-MX" sz="3200" dirty="0" err="1">
                <a:solidFill>
                  <a:srgbClr val="C51A40"/>
                </a:solidFill>
                <a:latin typeface="Roboto Slab" pitchFamily="2" charset="0"/>
                <a:ea typeface="Roboto Slab" pitchFamily="2" charset="0"/>
              </a:rPr>
              <a:t>else</a:t>
            </a:r>
            <a:r>
              <a:rPr lang="es-MX" sz="3200" dirty="0">
                <a:solidFill>
                  <a:srgbClr val="C51A40"/>
                </a:solidFill>
                <a:latin typeface="Roboto Slab" pitchFamily="2" charset="0"/>
                <a:ea typeface="Roboto Slab" pitchFamily="2" charset="0"/>
              </a:rPr>
              <a:t> en ciclos </a:t>
            </a:r>
            <a:r>
              <a:rPr lang="es-MX" sz="3200" dirty="0" err="1">
                <a:solidFill>
                  <a:srgbClr val="C51A40"/>
                </a:solidFill>
                <a:latin typeface="Roboto Slab" pitchFamily="2" charset="0"/>
                <a:ea typeface="Roboto Slab" pitchFamily="2" charset="0"/>
              </a:rPr>
              <a:t>for</a:t>
            </a:r>
            <a:r>
              <a:rPr lang="es-MX" sz="3200" dirty="0">
                <a:solidFill>
                  <a:srgbClr val="C51A40"/>
                </a:solidFill>
                <a:latin typeface="Roboto Slab" pitchFamily="2" charset="0"/>
                <a:ea typeface="Roboto Slab" pitchFamily="2" charset="0"/>
              </a:rPr>
              <a:t> y </a:t>
            </a:r>
            <a:r>
              <a:rPr lang="es-MX" sz="3200" dirty="0" err="1">
                <a:solidFill>
                  <a:srgbClr val="C51A40"/>
                </a:solidFill>
                <a:latin typeface="Roboto Slab" pitchFamily="2" charset="0"/>
                <a:ea typeface="Roboto Slab" pitchFamily="2" charset="0"/>
              </a:rPr>
              <a:t>while</a:t>
            </a:r>
            <a:r>
              <a:rPr lang="es-MX" sz="3200" dirty="0">
                <a:solidFill>
                  <a:srgbClr val="C51A40"/>
                </a:solidFill>
                <a:latin typeface="Roboto Slab" pitchFamily="2" charset="0"/>
                <a:ea typeface="Roboto Slab" pitchFamily="2" charset="0"/>
              </a:rPr>
              <a:t>.</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21</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923330"/>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A diferencia de otros lenguajes, en Python se puede utilizar la sentencia </a:t>
            </a:r>
            <a:r>
              <a:rPr lang="es-MX" dirty="0" err="1">
                <a:latin typeface="Roboto" panose="02000000000000000000" pitchFamily="2" charset="0"/>
                <a:ea typeface="Roboto" panose="02000000000000000000" pitchFamily="2" charset="0"/>
              </a:rPr>
              <a:t>else</a:t>
            </a:r>
            <a:r>
              <a:rPr lang="es-MX" dirty="0">
                <a:latin typeface="Roboto" panose="02000000000000000000" pitchFamily="2" charset="0"/>
                <a:ea typeface="Roboto" panose="02000000000000000000" pitchFamily="2" charset="0"/>
              </a:rPr>
              <a:t> en los ciclos </a:t>
            </a:r>
            <a:r>
              <a:rPr lang="es-MX" dirty="0" err="1">
                <a:latin typeface="Roboto" panose="02000000000000000000" pitchFamily="2" charset="0"/>
                <a:ea typeface="Roboto" panose="02000000000000000000" pitchFamily="2" charset="0"/>
              </a:rPr>
              <a:t>for</a:t>
            </a:r>
            <a:r>
              <a:rPr lang="es-MX" dirty="0">
                <a:latin typeface="Roboto" panose="02000000000000000000" pitchFamily="2" charset="0"/>
                <a:ea typeface="Roboto" panose="02000000000000000000" pitchFamily="2" charset="0"/>
              </a:rPr>
              <a:t> y </a:t>
            </a:r>
            <a:r>
              <a:rPr lang="es-MX" dirty="0" err="1">
                <a:latin typeface="Roboto" panose="02000000000000000000" pitchFamily="2" charset="0"/>
                <a:ea typeface="Roboto" panose="02000000000000000000" pitchFamily="2" charset="0"/>
              </a:rPr>
              <a:t>while</a:t>
            </a:r>
            <a:r>
              <a:rPr lang="es-MX" dirty="0">
                <a:latin typeface="Roboto" panose="02000000000000000000" pitchFamily="2" charset="0"/>
                <a:ea typeface="Roboto" panose="02000000000000000000" pitchFamily="2" charset="0"/>
              </a:rPr>
              <a:t>, cuando la condición de dichos ciclo falla se ejecuta la instrucción </a:t>
            </a:r>
            <a:r>
              <a:rPr lang="es-MX" dirty="0" err="1">
                <a:latin typeface="Roboto" panose="02000000000000000000" pitchFamily="2" charset="0"/>
                <a:ea typeface="Roboto" panose="02000000000000000000" pitchFamily="2" charset="0"/>
              </a:rPr>
              <a:t>else</a:t>
            </a:r>
            <a:r>
              <a:rPr lang="es-MX" dirty="0">
                <a:latin typeface="Roboto" panose="02000000000000000000" pitchFamily="2" charset="0"/>
                <a:ea typeface="Roboto" panose="02000000000000000000" pitchFamily="2" charset="0"/>
              </a:rPr>
              <a:t>. Si la instrucción break se ejecuta dentro del ciclo, la instrucción </a:t>
            </a:r>
            <a:r>
              <a:rPr lang="es-MX" dirty="0" err="1">
                <a:latin typeface="Roboto" panose="02000000000000000000" pitchFamily="2" charset="0"/>
                <a:ea typeface="Roboto" panose="02000000000000000000" pitchFamily="2" charset="0"/>
              </a:rPr>
              <a:t>else</a:t>
            </a:r>
            <a:r>
              <a:rPr lang="es-MX" dirty="0">
                <a:latin typeface="Roboto" panose="02000000000000000000" pitchFamily="2" charset="0"/>
                <a:ea typeface="Roboto" panose="02000000000000000000" pitchFamily="2" charset="0"/>
              </a:rPr>
              <a:t> no se ejecuta, la sentencia </a:t>
            </a:r>
            <a:r>
              <a:rPr lang="es-MX" dirty="0" err="1">
                <a:latin typeface="Roboto" panose="02000000000000000000" pitchFamily="2" charset="0"/>
                <a:ea typeface="Roboto" panose="02000000000000000000" pitchFamily="2" charset="0"/>
              </a:rPr>
              <a:t>else</a:t>
            </a:r>
            <a:r>
              <a:rPr lang="es-MX" dirty="0">
                <a:latin typeface="Roboto" panose="02000000000000000000" pitchFamily="2" charset="0"/>
                <a:ea typeface="Roboto" panose="02000000000000000000" pitchFamily="2" charset="0"/>
              </a:rPr>
              <a:t> se ejecuta inclusive si se ejecuta la instrucción </a:t>
            </a:r>
            <a:r>
              <a:rPr lang="es-MX" dirty="0" err="1">
                <a:latin typeface="Roboto" panose="02000000000000000000" pitchFamily="2" charset="0"/>
                <a:ea typeface="Roboto" panose="02000000000000000000" pitchFamily="2" charset="0"/>
              </a:rPr>
              <a:t>continue</a:t>
            </a:r>
            <a:r>
              <a:rPr lang="es-MX" dirty="0">
                <a:latin typeface="Roboto" panose="02000000000000000000" pitchFamily="2" charset="0"/>
                <a:ea typeface="Roboto" panose="02000000000000000000" pitchFamily="2" charset="0"/>
              </a:rPr>
              <a:t>.</a:t>
            </a:r>
            <a:endParaRPr lang="es-MX" dirty="0" smtClean="0">
              <a:latin typeface="Roboto" panose="02000000000000000000" pitchFamily="2" charset="0"/>
              <a:ea typeface="Roboto" panose="02000000000000000000" pitchFamily="2" charset="0"/>
            </a:endParaRPr>
          </a:p>
        </p:txBody>
      </p:sp>
      <p:pic>
        <p:nvPicPr>
          <p:cNvPr id="11" name="Imagen 10"/>
          <p:cNvPicPr>
            <a:picLocks noChangeAspect="1"/>
          </p:cNvPicPr>
          <p:nvPr/>
        </p:nvPicPr>
        <p:blipFill rotWithShape="1">
          <a:blip r:embed="rId4"/>
          <a:srcRect b="9343"/>
          <a:stretch/>
        </p:blipFill>
        <p:spPr bwMode="auto">
          <a:xfrm>
            <a:off x="2109580" y="2741834"/>
            <a:ext cx="7954200" cy="324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605774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Funciones</a:t>
            </a:r>
            <a:r>
              <a:rPr lang="es-MX" sz="3200" dirty="0" smtClean="0">
                <a:solidFill>
                  <a:srgbClr val="C51A40"/>
                </a:solidFill>
                <a:latin typeface="Roboto Slab" pitchFamily="2" charset="0"/>
                <a:ea typeface="Roboto Slab" pitchFamily="2" charset="0"/>
              </a:rPr>
              <a:t>.</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22</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369332"/>
          </a:xfrm>
          <a:prstGeom prst="rect">
            <a:avLst/>
          </a:prstGeom>
          <a:noFill/>
        </p:spPr>
        <p:txBody>
          <a:bodyPr wrap="square" rtlCol="0">
            <a:spAutoFit/>
          </a:bodyPr>
          <a:lstStyle/>
          <a:p>
            <a:pPr algn="just"/>
            <a:r>
              <a:rPr lang="es-MX" dirty="0" smtClean="0">
                <a:latin typeface="Roboto" panose="02000000000000000000" pitchFamily="2" charset="0"/>
                <a:ea typeface="Roboto" panose="02000000000000000000" pitchFamily="2" charset="0"/>
              </a:rPr>
              <a:t>Las </a:t>
            </a:r>
            <a:r>
              <a:rPr lang="es-MX" dirty="0">
                <a:latin typeface="Roboto" panose="02000000000000000000" pitchFamily="2" charset="0"/>
                <a:ea typeface="Roboto" panose="02000000000000000000" pitchFamily="2" charset="0"/>
              </a:rPr>
              <a:t>funciones en </a:t>
            </a:r>
            <a:r>
              <a:rPr lang="es-MX" dirty="0" err="1">
                <a:latin typeface="Roboto" panose="02000000000000000000" pitchFamily="2" charset="0"/>
                <a:ea typeface="Roboto" panose="02000000000000000000" pitchFamily="2" charset="0"/>
              </a:rPr>
              <a:t>python</a:t>
            </a:r>
            <a:r>
              <a:rPr lang="es-MX" dirty="0">
                <a:latin typeface="Roboto" panose="02000000000000000000" pitchFamily="2" charset="0"/>
                <a:ea typeface="Roboto" panose="02000000000000000000" pitchFamily="2" charset="0"/>
              </a:rPr>
              <a:t> se definen mediante la palabra clave "</a:t>
            </a:r>
            <a:r>
              <a:rPr lang="es-MX" dirty="0" err="1">
                <a:latin typeface="Roboto" panose="02000000000000000000" pitchFamily="2" charset="0"/>
                <a:ea typeface="Roboto" panose="02000000000000000000" pitchFamily="2" charset="0"/>
              </a:rPr>
              <a:t>def</a:t>
            </a:r>
            <a:r>
              <a:rPr lang="es-MX" dirty="0">
                <a:latin typeface="Roboto" panose="02000000000000000000" pitchFamily="2" charset="0"/>
                <a:ea typeface="Roboto" panose="02000000000000000000" pitchFamily="2" charset="0"/>
              </a:rPr>
              <a:t>", seguida del nombre de la función</a:t>
            </a:r>
          </a:p>
        </p:txBody>
      </p:sp>
      <p:pic>
        <p:nvPicPr>
          <p:cNvPr id="14" name="Imagen 13"/>
          <p:cNvPicPr>
            <a:picLocks noChangeAspect="1"/>
          </p:cNvPicPr>
          <p:nvPr/>
        </p:nvPicPr>
        <p:blipFill rotWithShape="1">
          <a:blip r:embed="rId4"/>
          <a:srcRect b="64998"/>
          <a:stretch/>
        </p:blipFill>
        <p:spPr bwMode="auto">
          <a:xfrm>
            <a:off x="975544" y="2435971"/>
            <a:ext cx="10222272" cy="144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75426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Funciones</a:t>
            </a:r>
            <a:r>
              <a:rPr lang="es-MX" sz="3200" dirty="0" smtClean="0">
                <a:solidFill>
                  <a:srgbClr val="C51A40"/>
                </a:solidFill>
                <a:latin typeface="Roboto Slab" pitchFamily="2" charset="0"/>
                <a:ea typeface="Roboto Slab" pitchFamily="2" charset="0"/>
              </a:rPr>
              <a:t>.</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23</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Las funciones también pueden recibir argumentos (variables  pasadas desde donde se llama la función), ejemplo:</a:t>
            </a:r>
          </a:p>
        </p:txBody>
      </p:sp>
      <p:pic>
        <p:nvPicPr>
          <p:cNvPr id="11" name="Imagen 10"/>
          <p:cNvPicPr>
            <a:picLocks noChangeAspect="1"/>
          </p:cNvPicPr>
          <p:nvPr/>
        </p:nvPicPr>
        <p:blipFill rotWithShape="1">
          <a:blip r:embed="rId4"/>
          <a:srcRect b="65320"/>
          <a:stretch/>
        </p:blipFill>
        <p:spPr bwMode="auto">
          <a:xfrm>
            <a:off x="860735" y="2430114"/>
            <a:ext cx="10477829" cy="1476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871616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Funciones</a:t>
            </a:r>
            <a:r>
              <a:rPr lang="es-MX" sz="3200" dirty="0" smtClean="0">
                <a:solidFill>
                  <a:srgbClr val="C51A40"/>
                </a:solidFill>
                <a:latin typeface="Roboto Slab" pitchFamily="2" charset="0"/>
                <a:ea typeface="Roboto Slab" pitchFamily="2" charset="0"/>
              </a:rPr>
              <a:t>.</a:t>
            </a:r>
            <a:endParaRPr lang="es-MX" sz="3200" dirty="0">
              <a:solidFill>
                <a:srgbClr val="C51A40"/>
              </a:solidFill>
              <a:latin typeface="Roboto Slab" pitchFamily="2" charset="0"/>
              <a:ea typeface="Roboto Slab" pitchFamily="2" charset="0"/>
            </a:endParaRP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24</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Las funciones pueden retornar un valor, utilizando la sentencia </a:t>
            </a:r>
            <a:r>
              <a:rPr lang="es-MX" dirty="0" err="1">
                <a:latin typeface="Roboto" panose="02000000000000000000" pitchFamily="2" charset="0"/>
                <a:ea typeface="Roboto" panose="02000000000000000000" pitchFamily="2" charset="0"/>
              </a:rPr>
              <a:t>return</a:t>
            </a:r>
            <a:r>
              <a:rPr lang="es-MX" dirty="0">
                <a:latin typeface="Roboto" panose="02000000000000000000" pitchFamily="2" charset="0"/>
                <a:ea typeface="Roboto" panose="02000000000000000000" pitchFamily="2" charset="0"/>
              </a:rPr>
              <a:t>.</a:t>
            </a:r>
          </a:p>
        </p:txBody>
      </p:sp>
      <p:pic>
        <p:nvPicPr>
          <p:cNvPr id="14" name="Imagen 13"/>
          <p:cNvPicPr>
            <a:picLocks noChangeAspect="1"/>
          </p:cNvPicPr>
          <p:nvPr/>
        </p:nvPicPr>
        <p:blipFill rotWithShape="1">
          <a:blip r:embed="rId4"/>
          <a:srcRect b="63094"/>
          <a:stretch/>
        </p:blipFill>
        <p:spPr bwMode="auto">
          <a:xfrm>
            <a:off x="557520" y="2385834"/>
            <a:ext cx="11076960" cy="1692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044976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Manejo de Excepciones.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25</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2862322"/>
          </a:xfrm>
          <a:prstGeom prst="rect">
            <a:avLst/>
          </a:prstGeom>
          <a:noFill/>
        </p:spPr>
        <p:txBody>
          <a:bodyPr wrap="square" rtlCol="0">
            <a:spAutoFit/>
          </a:bodyPr>
          <a:lstStyle/>
          <a:p>
            <a:pPr algn="just"/>
            <a:r>
              <a:rPr lang="es-MX" dirty="0" smtClean="0">
                <a:latin typeface="Roboto" panose="02000000000000000000" pitchFamily="2" charset="0"/>
                <a:ea typeface="Roboto" panose="02000000000000000000" pitchFamily="2" charset="0"/>
              </a:rPr>
              <a:t>La </a:t>
            </a:r>
            <a:r>
              <a:rPr lang="es-MX" dirty="0">
                <a:latin typeface="Roboto" panose="02000000000000000000" pitchFamily="2" charset="0"/>
                <a:ea typeface="Roboto" panose="02000000000000000000" pitchFamily="2" charset="0"/>
              </a:rPr>
              <a:t>solución de Python a los errores son excepciones. Pero a veces no quieres que las excepciones detengan completamente el programa. Es posible que desee hacer algo especial cuando se plantea una excepción. Esto se hace en un bloque try / </a:t>
            </a:r>
            <a:r>
              <a:rPr lang="es-MX" dirty="0" err="1">
                <a:latin typeface="Roboto" panose="02000000000000000000" pitchFamily="2" charset="0"/>
                <a:ea typeface="Roboto" panose="02000000000000000000" pitchFamily="2" charset="0"/>
              </a:rPr>
              <a:t>except</a:t>
            </a:r>
            <a:r>
              <a:rPr lang="es-MX" dirty="0" smtClean="0">
                <a:latin typeface="Roboto" panose="02000000000000000000" pitchFamily="2" charset="0"/>
                <a:ea typeface="Roboto" panose="02000000000000000000" pitchFamily="2" charset="0"/>
              </a:rPr>
              <a:t>.</a:t>
            </a:r>
          </a:p>
          <a:p>
            <a:pPr algn="just"/>
            <a:endParaRPr lang="es-MX" dirty="0" smtClean="0">
              <a:latin typeface="Roboto" panose="02000000000000000000" pitchFamily="2" charset="0"/>
              <a:ea typeface="Roboto" panose="02000000000000000000" pitchFamily="2" charset="0"/>
            </a:endParaRPr>
          </a:p>
          <a:p>
            <a:pPr marL="285750" indent="-285750" algn="just">
              <a:buFont typeface="Arial" panose="020B0604020202020204" pitchFamily="34" charset="0"/>
              <a:buChar char="•"/>
            </a:pPr>
            <a:r>
              <a:rPr lang="es-MX" dirty="0" smtClean="0">
                <a:latin typeface="Roboto" panose="02000000000000000000" pitchFamily="2" charset="0"/>
                <a:ea typeface="Roboto" panose="02000000000000000000" pitchFamily="2" charset="0"/>
              </a:rPr>
              <a:t>try</a:t>
            </a:r>
            <a:r>
              <a:rPr lang="es-MX" dirty="0">
                <a:latin typeface="Roboto" panose="02000000000000000000" pitchFamily="2" charset="0"/>
                <a:ea typeface="Roboto" panose="02000000000000000000" pitchFamily="2" charset="0"/>
              </a:rPr>
              <a:t>, dentro de este bloque se colocan la instrucciones que se “intentan ejecutar”.</a:t>
            </a:r>
          </a:p>
          <a:p>
            <a:pPr marL="285750" indent="-285750" algn="just">
              <a:buFont typeface="Arial" panose="020B0604020202020204" pitchFamily="34" charset="0"/>
              <a:buChar char="•"/>
            </a:pPr>
            <a:r>
              <a:rPr lang="es-MX" dirty="0" err="1" smtClean="0">
                <a:latin typeface="Roboto" panose="02000000000000000000" pitchFamily="2" charset="0"/>
                <a:ea typeface="Roboto" panose="02000000000000000000" pitchFamily="2" charset="0"/>
              </a:rPr>
              <a:t>except</a:t>
            </a:r>
            <a:r>
              <a:rPr lang="es-MX" dirty="0">
                <a:latin typeface="Roboto" panose="02000000000000000000" pitchFamily="2" charset="0"/>
                <a:ea typeface="Roboto" panose="02000000000000000000" pitchFamily="2" charset="0"/>
              </a:rPr>
              <a:t>, estas instrucciones se ejecutan siempre y cuando suceda un error en el bloque try, </a:t>
            </a:r>
            <a:r>
              <a:rPr lang="es-MX" dirty="0" err="1">
                <a:latin typeface="Roboto" panose="02000000000000000000" pitchFamily="2" charset="0"/>
                <a:ea typeface="Roboto" panose="02000000000000000000" pitchFamily="2" charset="0"/>
              </a:rPr>
              <a:t>except</a:t>
            </a:r>
            <a:r>
              <a:rPr lang="es-MX" dirty="0">
                <a:latin typeface="Roboto" panose="02000000000000000000" pitchFamily="2" charset="0"/>
                <a:ea typeface="Roboto" panose="02000000000000000000" pitchFamily="2" charset="0"/>
              </a:rPr>
              <a:t> puede recibir o no argumentos, los argumentos que puede recibir es algún tipo de error en específico.</a:t>
            </a:r>
          </a:p>
          <a:p>
            <a:pPr marL="285750" indent="-285750" algn="just">
              <a:buFont typeface="Arial" panose="020B0604020202020204" pitchFamily="34" charset="0"/>
              <a:buChar char="•"/>
            </a:pPr>
            <a:r>
              <a:rPr lang="es-MX" dirty="0" err="1" smtClean="0">
                <a:latin typeface="Roboto" panose="02000000000000000000" pitchFamily="2" charset="0"/>
                <a:ea typeface="Roboto" panose="02000000000000000000" pitchFamily="2" charset="0"/>
              </a:rPr>
              <a:t>else</a:t>
            </a:r>
            <a:r>
              <a:rPr lang="es-MX" dirty="0">
                <a:latin typeface="Roboto" panose="02000000000000000000" pitchFamily="2" charset="0"/>
                <a:ea typeface="Roboto" panose="02000000000000000000" pitchFamily="2" charset="0"/>
              </a:rPr>
              <a:t>, las instrucciones contenidas en este bloque se ejecutan si todo sale bien en el bloque try.</a:t>
            </a:r>
          </a:p>
          <a:p>
            <a:pPr marL="285750" indent="-285750" algn="just">
              <a:buFont typeface="Arial" panose="020B0604020202020204" pitchFamily="34" charset="0"/>
              <a:buChar char="•"/>
            </a:pPr>
            <a:r>
              <a:rPr lang="es-MX" dirty="0" err="1" smtClean="0">
                <a:latin typeface="Roboto" panose="02000000000000000000" pitchFamily="2" charset="0"/>
                <a:ea typeface="Roboto" panose="02000000000000000000" pitchFamily="2" charset="0"/>
              </a:rPr>
              <a:t>finally</a:t>
            </a:r>
            <a:r>
              <a:rPr lang="es-MX" dirty="0">
                <a:latin typeface="Roboto" panose="02000000000000000000" pitchFamily="2" charset="0"/>
                <a:ea typeface="Roboto" panose="02000000000000000000" pitchFamily="2" charset="0"/>
              </a:rPr>
              <a:t>,  este bloque se ejecuta sin importar que haya sucedido un error o no, </a:t>
            </a:r>
          </a:p>
          <a:p>
            <a:pPr algn="just"/>
            <a:endParaRPr lang="es-MX"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5986992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Manejo de Excepciones.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26</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A continuación se  muestra una serie de ejemplos básico del </a:t>
            </a:r>
            <a:r>
              <a:rPr lang="es-MX" dirty="0" smtClean="0">
                <a:latin typeface="Roboto" panose="02000000000000000000" pitchFamily="2" charset="0"/>
                <a:ea typeface="Roboto" panose="02000000000000000000" pitchFamily="2" charset="0"/>
              </a:rPr>
              <a:t>manejo de excepciones</a:t>
            </a:r>
            <a:endParaRPr lang="es-MX" dirty="0">
              <a:latin typeface="Roboto" panose="02000000000000000000" pitchFamily="2" charset="0"/>
              <a:ea typeface="Roboto" panose="02000000000000000000" pitchFamily="2" charset="0"/>
            </a:endParaRPr>
          </a:p>
        </p:txBody>
      </p:sp>
      <p:pic>
        <p:nvPicPr>
          <p:cNvPr id="9" name="Imagen 8"/>
          <p:cNvPicPr>
            <a:picLocks noChangeAspect="1"/>
          </p:cNvPicPr>
          <p:nvPr/>
        </p:nvPicPr>
        <p:blipFill rotWithShape="1">
          <a:blip r:embed="rId4"/>
          <a:srcRect b="41849"/>
          <a:stretch/>
        </p:blipFill>
        <p:spPr bwMode="auto">
          <a:xfrm>
            <a:off x="1853760" y="2339239"/>
            <a:ext cx="8484480" cy="288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376784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Manejo de Excepciones.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27</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646331"/>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En este otro ejemplo se puede observar que se puede tener más de un bloque </a:t>
            </a:r>
            <a:r>
              <a:rPr lang="es-MX" dirty="0" err="1">
                <a:latin typeface="Roboto" panose="02000000000000000000" pitchFamily="2" charset="0"/>
                <a:ea typeface="Roboto" panose="02000000000000000000" pitchFamily="2" charset="0"/>
              </a:rPr>
              <a:t>except</a:t>
            </a:r>
            <a:r>
              <a:rPr lang="es-MX" dirty="0">
                <a:latin typeface="Roboto" panose="02000000000000000000" pitchFamily="2" charset="0"/>
                <a:ea typeface="Roboto" panose="02000000000000000000" pitchFamily="2" charset="0"/>
              </a:rPr>
              <a:t>, y esto permite que se puedan capturar distintos tipos de errores.</a:t>
            </a:r>
          </a:p>
        </p:txBody>
      </p:sp>
      <p:pic>
        <p:nvPicPr>
          <p:cNvPr id="11" name="Imagen 10"/>
          <p:cNvPicPr>
            <a:picLocks noChangeAspect="1"/>
          </p:cNvPicPr>
          <p:nvPr/>
        </p:nvPicPr>
        <p:blipFill rotWithShape="1">
          <a:blip r:embed="rId4"/>
          <a:srcRect b="33792"/>
          <a:stretch/>
        </p:blipFill>
        <p:spPr bwMode="auto">
          <a:xfrm>
            <a:off x="962082" y="2456785"/>
            <a:ext cx="10267836" cy="2736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305717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613800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
          <p:cNvSpPr txBox="1"/>
          <p:nvPr/>
        </p:nvSpPr>
        <p:spPr>
          <a:xfrm>
            <a:off x="273465" y="212168"/>
            <a:ext cx="7598535" cy="830997"/>
          </a:xfrm>
          <a:prstGeom prst="rect">
            <a:avLst/>
          </a:prstGeom>
          <a:noFill/>
        </p:spPr>
        <p:txBody>
          <a:bodyPr wrap="square" rtlCol="0">
            <a:spAutoFit/>
          </a:bodyPr>
          <a:lstStyle/>
          <a:p>
            <a:r>
              <a:rPr lang="es-MX" sz="4800" b="1" dirty="0" smtClean="0">
                <a:latin typeface="Roboto" panose="02000000000000000000" pitchFamily="2" charset="0"/>
                <a:ea typeface="Roboto" panose="02000000000000000000" pitchFamily="2" charset="0"/>
              </a:rPr>
              <a:t>Introducción a Python</a:t>
            </a:r>
            <a:endParaRPr lang="es-MX" sz="4800" b="1" dirty="0">
              <a:latin typeface="Roboto" panose="02000000000000000000" pitchFamily="2" charset="0"/>
              <a:ea typeface="Roboto" panose="02000000000000000000" pitchFamily="2" charset="0"/>
            </a:endParaRPr>
          </a:p>
        </p:txBody>
      </p:sp>
      <p:sp>
        <p:nvSpPr>
          <p:cNvPr id="10" name="CuadroTexto 9"/>
          <p:cNvSpPr txBox="1"/>
          <p:nvPr/>
        </p:nvSpPr>
        <p:spPr>
          <a:xfrm>
            <a:off x="273465" y="1051611"/>
            <a:ext cx="11265818" cy="584775"/>
          </a:xfrm>
          <a:prstGeom prst="rect">
            <a:avLst/>
          </a:prstGeom>
          <a:noFill/>
        </p:spPr>
        <p:txBody>
          <a:bodyPr wrap="square" rtlCol="0">
            <a:spAutoFit/>
          </a:bodyPr>
          <a:lstStyle/>
          <a:p>
            <a:r>
              <a:rPr lang="es-MX" sz="3200" dirty="0">
                <a:solidFill>
                  <a:srgbClr val="C51A40"/>
                </a:solidFill>
                <a:latin typeface="Roboto Slab" pitchFamily="2" charset="0"/>
                <a:ea typeface="Roboto Slab" pitchFamily="2" charset="0"/>
              </a:rPr>
              <a:t>Manejo de Excepciones.</a:t>
            </a:r>
          </a:p>
        </p:txBody>
      </p:sp>
      <p:sp>
        <p:nvSpPr>
          <p:cNvPr id="12" name="Rectángulo 11"/>
          <p:cNvSpPr/>
          <p:nvPr/>
        </p:nvSpPr>
        <p:spPr>
          <a:xfrm>
            <a:off x="7872000" y="0"/>
            <a:ext cx="4320000" cy="720000"/>
          </a:xfrm>
          <a:prstGeom prst="rect">
            <a:avLst/>
          </a:prstGeom>
          <a:solidFill>
            <a:srgbClr val="C5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5990E14E-10C1-4AA8-B2C7-C55C8C3B1C4A}" type="slidenum">
              <a:rPr lang="es-MX" smtClean="0">
                <a:latin typeface="Roboto" panose="02000000000000000000" pitchFamily="2" charset="0"/>
                <a:ea typeface="Roboto" panose="02000000000000000000" pitchFamily="2" charset="0"/>
              </a:rPr>
              <a:t>28</a:t>
            </a:fld>
            <a:endParaRPr lang="es-MX" dirty="0">
              <a:latin typeface="Roboto" panose="02000000000000000000" pitchFamily="2" charset="0"/>
              <a:ea typeface="Roboto" panose="02000000000000000000" pitchFamily="2" charset="0"/>
            </a:endParaRPr>
          </a:p>
        </p:txBody>
      </p:sp>
      <p:pic>
        <p:nvPicPr>
          <p:cNvPr id="13" name="Imagen 12"/>
          <p:cNvPicPr>
            <a:picLocks noChangeAspect="1"/>
          </p:cNvPicPr>
          <p:nvPr/>
        </p:nvPicPr>
        <p:blipFill rotWithShape="1">
          <a:blip r:embed="rId2" cstate="print">
            <a:extLst>
              <a:ext uri="{28A0092B-C50C-407E-A947-70E740481C1C}">
                <a14:useLocalDpi xmlns:a14="http://schemas.microsoft.com/office/drawing/2010/main" val="0"/>
              </a:ext>
            </a:extLst>
          </a:blip>
          <a:srcRect t="20646" b="25555"/>
          <a:stretch/>
        </p:blipFill>
        <p:spPr>
          <a:xfrm>
            <a:off x="4320000" y="6228312"/>
            <a:ext cx="2262389" cy="527426"/>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89" y="6226538"/>
            <a:ext cx="3175200" cy="529200"/>
          </a:xfrm>
          <a:prstGeom prst="rect">
            <a:avLst/>
          </a:prstGeom>
        </p:spPr>
      </p:pic>
      <p:sp>
        <p:nvSpPr>
          <p:cNvPr id="15" name="CuadroTexto 14"/>
          <p:cNvSpPr txBox="1"/>
          <p:nvPr/>
        </p:nvSpPr>
        <p:spPr>
          <a:xfrm>
            <a:off x="273465" y="1738648"/>
            <a:ext cx="11781160" cy="369332"/>
          </a:xfrm>
          <a:prstGeom prst="rect">
            <a:avLst/>
          </a:prstGeom>
          <a:noFill/>
        </p:spPr>
        <p:txBody>
          <a:bodyPr wrap="square" rtlCol="0">
            <a:spAutoFit/>
          </a:bodyPr>
          <a:lstStyle/>
          <a:p>
            <a:pPr algn="just"/>
            <a:r>
              <a:rPr lang="es-MX" dirty="0">
                <a:latin typeface="Roboto" panose="02000000000000000000" pitchFamily="2" charset="0"/>
                <a:ea typeface="Roboto" panose="02000000000000000000" pitchFamily="2" charset="0"/>
              </a:rPr>
              <a:t>En el </a:t>
            </a:r>
            <a:r>
              <a:rPr lang="es-MX" dirty="0" smtClean="0">
                <a:latin typeface="Roboto" panose="02000000000000000000" pitchFamily="2" charset="0"/>
                <a:ea typeface="Roboto" panose="02000000000000000000" pitchFamily="2" charset="0"/>
              </a:rPr>
              <a:t>siguiente ejemplo </a:t>
            </a:r>
            <a:r>
              <a:rPr lang="es-MX" dirty="0">
                <a:latin typeface="Roboto" panose="02000000000000000000" pitchFamily="2" charset="0"/>
                <a:ea typeface="Roboto" panose="02000000000000000000" pitchFamily="2" charset="0"/>
              </a:rPr>
              <a:t>podemos capturar varios tipos de excepciones en un solo bloque </a:t>
            </a:r>
            <a:r>
              <a:rPr lang="es-MX" dirty="0" err="1">
                <a:latin typeface="Roboto" panose="02000000000000000000" pitchFamily="2" charset="0"/>
                <a:ea typeface="Roboto" panose="02000000000000000000" pitchFamily="2" charset="0"/>
              </a:rPr>
              <a:t>except</a:t>
            </a:r>
            <a:r>
              <a:rPr lang="es-MX" dirty="0">
                <a:latin typeface="Roboto" panose="02000000000000000000" pitchFamily="2" charset="0"/>
                <a:ea typeface="Roboto" panose="02000000000000000000" pitchFamily="2" charset="0"/>
              </a:rPr>
              <a:t>..</a:t>
            </a:r>
          </a:p>
        </p:txBody>
      </p:sp>
      <p:pic>
        <p:nvPicPr>
          <p:cNvPr id="14" name="Imagen 13"/>
          <p:cNvPicPr>
            <a:picLocks noChangeAspect="1"/>
          </p:cNvPicPr>
          <p:nvPr/>
        </p:nvPicPr>
        <p:blipFill rotWithShape="1">
          <a:blip r:embed="rId4"/>
          <a:srcRect b="40961"/>
          <a:stretch/>
        </p:blipFill>
        <p:spPr bwMode="auto">
          <a:xfrm>
            <a:off x="866235" y="2421863"/>
            <a:ext cx="10454105" cy="2484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81143349"/>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TotalTime>
  <Words>1323</Words>
  <Application>Microsoft Office PowerPoint</Application>
  <PresentationFormat>Panorámica</PresentationFormat>
  <Paragraphs>179</Paragraphs>
  <Slides>28</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28</vt:i4>
      </vt:variant>
    </vt:vector>
  </HeadingPairs>
  <TitlesOfParts>
    <vt:vector size="35" baseType="lpstr">
      <vt:lpstr>Arial</vt:lpstr>
      <vt:lpstr>Calibri</vt:lpstr>
      <vt:lpstr>Calibri Light</vt:lpstr>
      <vt:lpstr>Roboto</vt:lpstr>
      <vt:lpstr>Roboto Slab</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Eder Carmona Armijo</dc:creator>
  <cp:lastModifiedBy>Eder Carmona Armijo</cp:lastModifiedBy>
  <cp:revision>72</cp:revision>
  <dcterms:created xsi:type="dcterms:W3CDTF">2017-09-11T16:28:37Z</dcterms:created>
  <dcterms:modified xsi:type="dcterms:W3CDTF">2017-09-27T15:29:58Z</dcterms:modified>
</cp:coreProperties>
</file>